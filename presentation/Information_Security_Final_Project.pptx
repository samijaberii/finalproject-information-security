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p:cViewPr varScale="1">
        <p:scale>
          <a:sx n="119" d="100"/>
          <a:sy n="119" d="100"/>
        </p:scale>
        <p:origin x="216"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1607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Farid and this is my partner Sami. Today we are defending our final project for the Information Security course. Our project contains two Python-based cybersecurity tools. The first one is a Simple Intrusion Detection System, and the second one is a File Integrity Monitoring System. In the next slides we will explain the problem we wanted to solve, our objectives, how each tool works in code, what we will demonstrate, our results, and the limitations of our project. The whole presentation will take about seven to ten minutes. We will be happy to answer your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contains two tools. The first tool is a Simple Intrusion Detection System. It looks at the system and tries to find signs of attack, for example a user trying many wrong passwords, or a strange process running in the background. The second tool is a File Integrity Monitoring System. Its job is to detect file tampering. It uses hashing to make sure important files were not changed, deleted, or replaced. Both tools are written in Python, both focus on detecting different kinds of security risks, and both save their results in log files so we can review them later. In short, the IDS detects suspicious activity, and the file integrity checker detects file tampering.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talking about our tools, we want to explain the problems we are solving. First, failed or unauthorized login attempts. When somebody tries many wrong passwords, it usually means a brute-force attack. Second, suspicious running processes. Malware often hides as a normal background process so the user does not notice it. Third, unauthorized file changes. Attackers often modify important configuration files to give themselves access later. And fourth, deleted or newly added files. Ransomware deletes or encrypts files, and attackers often drop new files like backdoors or scripts. All four problems can be signs of intrusion, malware, ransomware, or a full system compromise. This is why we built two tools to detect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 was simple — to build practical tools that detect security problems on a real system, and then record everything in logs. We had six clear goals. One, detect failed login attempts by reading the authentication log. Two, monitor running processes on the system. Three, detect suspicious process activity by comparing the current state with a saved baseline. Four, monitor important files we want to protect. Five, detect when those files are modified, deleted, or when new files appear. And six, save all alerts and logs so a system administrator can review what happened. These six goals shaped both tools.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tool is the Simple Intrusion Detection System. It does two main jobs. The first one is detecting failed login attempts inside the authentication log file. On the right side of the slide you can see how it works in code. We defined a list called FAILED_LOGIN_PATTERNS. Each item in this list is a regular expression that matches a known failed login message on Linux systems. For example, the message 'Failed password' appears when somebody enters a wrong password by SSH. 'Authentication failure' is also a Linux PAM message. 'Invalid user' appears when someone tries to log in with a username that does not exist. And 'Login incorrect' is used by some other services. The function detect_failed_logins opens the log file, reads it line by line, and for each line it checks whether any of the patterns matches. If a pattern matches, the line is saved as an alert. The second job of the IDS is process monitoring, but we will show that code on a different slide. Finally, all alerts are written into a file called ids_alerts.log for later review.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second part of the IDS — process monitoring. The workflow at the top is simple. We run the program, list the processes, save them as a baseline, and later we run again and compare the new list with the saved one. On the left of the slide you can see the actual code we wrote. The function build_process_baseline uses Python's subprocess module to run the command 'ps -eo comm'. This command lists all processes by their command name. We split the output by lines, remove the first line, which is just the header, and return a sorted set of unique process names. The first time we run the IDS, this list is saved into a file called process_baseline.json. The function compare_processes takes the baseline and the current list, converts both to sets, and then uses set subtraction. current_set minus baseline_set gives us new processes that appeared after the baseline was saved. baseline_set minus current_set gives us processes that disappeared. Both lists are then written to ids_alerts.log so we can review them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tool is the File Integrity Monitoring System. Its job is to make sure important files have not been changed. It works by computing a SHA-256 hash for each file we want to protect. On the right of the slide you can see how the hashing works in code. The function compute_sha256 opens the file in binary mode and reads it in chunks of 4096 bytes. We use chunks because some files can be very large, and we don't want to load the entire file into memory. Each chunk is added to the SHA-256 object using update, and at the end we return the final hexadecimal hash string. The function save_hashes loops over a list of file paths, computes a hash for each one, and saves the result as a JSON dictionary in a file called hashes.json. This file becomes our reference. Later, when we run the tool again, we compute the hashes one more time and compare them to this file.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function of our second tool. It is called verify_files. First we open the saved hashes file, which is the JSON file we created earlier, and load it into a dictionary called 'saved'. Then we prepare a results dictionary with three keys: modified, deleted, and new. After that we loop through every path inside the saved dictionary. If a path is not in the list of current files, the file was deleted. If the path still exists but its current hash is different from the saved hash, the file was modified. Finally we check for files that are in the current list but were not in the saved hashes — those are new files. On the right of the slide we summarize the three outcomes. Modified means a hash mismatch. Deleted means the file is missing. And new means a file appeared that we did not have before. All three results are then written to integrity_logs.txt.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was developed entirely in Python 3 using only standard libraries, so no extra installation is needed. Hashlib is used for SHA-256 hashing in the file integrity tool. Json is used to save and load the process baseline and the hashes dictionary. Argparse is used to handle command-line arguments cleanly. Pathlib makes file paths easier to work with across operating systems. Datetime gives us timestamps for every alert. Re is the regular expression module, which is essential for matching failed login lines. Subprocess is used to run the ps command and get the list of running processes. And os is used for general system operations. On the right side of the slide you can see the folder structure of the project. There is one folder for each tool, a screenshots folder, a presentation folder, and a README file that explains how to run everything.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will explain what we will demonstrate live during the defense. First, we will run the IDS menu. Second, we will create a sample authentication log with several failed login lines so we can test detection safely. Third, we will run the failed-login detection and show the matches. Fourth, we will create a process baseline of our system. Fifth, we will start a new process on purpose, then run the IDS again, and the new process should appear in ids_alerts.log. Sixth, we move to the second tool — the file integrity checker. Seventh, we will modify one of the protected files on purpose to simulate tampering. And eighth, we will run the integrity check and show the result in integrity_logs.txt. On the right of the slide we summarize our results. Suspicious login attempts were detected correctly. Process changes were monitored. File modifications were detected immediately after we changed a file. And all security logs were saved successfully.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the limitations of our project. First, this is a simple educational IDS. It is not designed to replace professional tools like Snort or Suricata. Second, it does not block attacks automatically — it only detects and reports them. Third, it depends on available log files. If the system does not generate an authentication log, the IDS cannot detect failed logins. And fourth, the process monitoring is basic — we only compare process names, not behavior or network connections. For the future, we have several ideas. We could add real-time monitoring so the tool watches the system constantly instead of being run manually. We could add email alerts so an administrator gets notified immediately. We could add a GUI interface to make the tool more user friendly. We could add network traffic monitoring to detect remote attacks. And finally, we could add automatic response actions, like blocking an IP address after too many failed logins. These are good directions if we continue working on this project.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project demonstrates several important Information Security concepts. We covered intrusion detection by building our own simple IDS. We worked with authentication log analysis using regular expressions to find failed login attempts. We practiced process monitoring by comparing a baseline of processes to the current state of the system using sets in Python. We used SHA-256 hashing to create digital fingerprints of files. We implemented file integrity verification, which is a key part of any real security solution. And we also worked with security logging, because detection is only useful if the results are recorded for review. We learned a lot during this project, especially how detection and prevention work together in real systems. Thank you very much for your attention. We are now happy to answer any questions you may have.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4.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1.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D"/>
        </a:solidFill>
        <a:effectLst/>
      </p:bgPr>
    </p:bg>
    <p:spTree>
      <p:nvGrpSpPr>
        <p:cNvPr id="1" name=""/>
        <p:cNvGrpSpPr/>
        <p:nvPr/>
      </p:nvGrpSpPr>
      <p:grpSpPr>
        <a:xfrm>
          <a:off x="0" y="0"/>
          <a:ext cx="0" cy="0"/>
          <a:chOff x="0" y="0"/>
          <a:chExt cx="0" cy="0"/>
        </a:xfrm>
      </p:grpSpPr>
      <p:sp>
        <p:nvSpPr>
          <p:cNvPr id="2" name="Shape 0"/>
          <p:cNvSpPr/>
          <p:nvPr/>
        </p:nvSpPr>
        <p:spPr>
          <a:xfrm>
            <a:off x="182880" y="182880"/>
            <a:ext cx="36576" cy="36576"/>
          </a:xfrm>
          <a:prstGeom prst="ellipse">
            <a:avLst/>
          </a:prstGeom>
          <a:solidFill>
            <a:srgbClr val="00A8E8">
              <a:alpha val="30000"/>
            </a:srgbClr>
          </a:solidFill>
          <a:ln w="12700">
            <a:solidFill>
              <a:srgbClr val="00A8E8">
                <a:alpha val="30000"/>
              </a:srgbClr>
            </a:solidFill>
            <a:prstDash val="solid"/>
          </a:ln>
        </p:spPr>
      </p:sp>
      <p:sp>
        <p:nvSpPr>
          <p:cNvPr id="3" name="Shape 1"/>
          <p:cNvSpPr/>
          <p:nvPr/>
        </p:nvSpPr>
        <p:spPr>
          <a:xfrm>
            <a:off x="1371600" y="182880"/>
            <a:ext cx="36576" cy="36576"/>
          </a:xfrm>
          <a:prstGeom prst="ellipse">
            <a:avLst/>
          </a:prstGeom>
          <a:solidFill>
            <a:srgbClr val="00A8E8">
              <a:alpha val="30000"/>
            </a:srgbClr>
          </a:solidFill>
          <a:ln w="12700">
            <a:solidFill>
              <a:srgbClr val="00A8E8">
                <a:alpha val="30000"/>
              </a:srgbClr>
            </a:solidFill>
            <a:prstDash val="solid"/>
          </a:ln>
        </p:spPr>
      </p:sp>
      <p:sp>
        <p:nvSpPr>
          <p:cNvPr id="4" name="Shape 2"/>
          <p:cNvSpPr/>
          <p:nvPr/>
        </p:nvSpPr>
        <p:spPr>
          <a:xfrm>
            <a:off x="2560320" y="182880"/>
            <a:ext cx="36576" cy="36576"/>
          </a:xfrm>
          <a:prstGeom prst="ellipse">
            <a:avLst/>
          </a:prstGeom>
          <a:solidFill>
            <a:srgbClr val="00A8E8">
              <a:alpha val="30000"/>
            </a:srgbClr>
          </a:solidFill>
          <a:ln w="12700">
            <a:solidFill>
              <a:srgbClr val="00A8E8">
                <a:alpha val="30000"/>
              </a:srgbClr>
            </a:solidFill>
            <a:prstDash val="solid"/>
          </a:ln>
        </p:spPr>
      </p:sp>
      <p:sp>
        <p:nvSpPr>
          <p:cNvPr id="5" name="Shape 3"/>
          <p:cNvSpPr/>
          <p:nvPr/>
        </p:nvSpPr>
        <p:spPr>
          <a:xfrm>
            <a:off x="3749040" y="182880"/>
            <a:ext cx="36576" cy="36576"/>
          </a:xfrm>
          <a:prstGeom prst="ellipse">
            <a:avLst/>
          </a:prstGeom>
          <a:solidFill>
            <a:srgbClr val="00A8E8">
              <a:alpha val="30000"/>
            </a:srgbClr>
          </a:solidFill>
          <a:ln w="12700">
            <a:solidFill>
              <a:srgbClr val="00A8E8">
                <a:alpha val="30000"/>
              </a:srgbClr>
            </a:solidFill>
            <a:prstDash val="solid"/>
          </a:ln>
        </p:spPr>
      </p:sp>
      <p:sp>
        <p:nvSpPr>
          <p:cNvPr id="6" name="Shape 4"/>
          <p:cNvSpPr/>
          <p:nvPr/>
        </p:nvSpPr>
        <p:spPr>
          <a:xfrm>
            <a:off x="4937760" y="182880"/>
            <a:ext cx="36576" cy="36576"/>
          </a:xfrm>
          <a:prstGeom prst="ellipse">
            <a:avLst/>
          </a:prstGeom>
          <a:solidFill>
            <a:srgbClr val="00A8E8">
              <a:alpha val="30000"/>
            </a:srgbClr>
          </a:solidFill>
          <a:ln w="12700">
            <a:solidFill>
              <a:srgbClr val="00A8E8">
                <a:alpha val="30000"/>
              </a:srgbClr>
            </a:solidFill>
            <a:prstDash val="solid"/>
          </a:ln>
        </p:spPr>
      </p:sp>
      <p:sp>
        <p:nvSpPr>
          <p:cNvPr id="7" name="Shape 5"/>
          <p:cNvSpPr/>
          <p:nvPr/>
        </p:nvSpPr>
        <p:spPr>
          <a:xfrm>
            <a:off x="6126480" y="182880"/>
            <a:ext cx="36576" cy="36576"/>
          </a:xfrm>
          <a:prstGeom prst="ellipse">
            <a:avLst/>
          </a:prstGeom>
          <a:solidFill>
            <a:srgbClr val="00A8E8">
              <a:alpha val="30000"/>
            </a:srgbClr>
          </a:solidFill>
          <a:ln w="12700">
            <a:solidFill>
              <a:srgbClr val="00A8E8">
                <a:alpha val="30000"/>
              </a:srgbClr>
            </a:solidFill>
            <a:prstDash val="solid"/>
          </a:ln>
        </p:spPr>
      </p:sp>
      <p:sp>
        <p:nvSpPr>
          <p:cNvPr id="8" name="Shape 6"/>
          <p:cNvSpPr/>
          <p:nvPr/>
        </p:nvSpPr>
        <p:spPr>
          <a:xfrm>
            <a:off x="7315200" y="182880"/>
            <a:ext cx="36576" cy="36576"/>
          </a:xfrm>
          <a:prstGeom prst="ellipse">
            <a:avLst/>
          </a:prstGeom>
          <a:solidFill>
            <a:srgbClr val="00A8E8">
              <a:alpha val="30000"/>
            </a:srgbClr>
          </a:solidFill>
          <a:ln w="12700">
            <a:solidFill>
              <a:srgbClr val="00A8E8">
                <a:alpha val="30000"/>
              </a:srgbClr>
            </a:solidFill>
            <a:prstDash val="solid"/>
          </a:ln>
        </p:spPr>
      </p:sp>
      <p:sp>
        <p:nvSpPr>
          <p:cNvPr id="9" name="Shape 7"/>
          <p:cNvSpPr/>
          <p:nvPr/>
        </p:nvSpPr>
        <p:spPr>
          <a:xfrm>
            <a:off x="8503920" y="182880"/>
            <a:ext cx="36576" cy="36576"/>
          </a:xfrm>
          <a:prstGeom prst="ellipse">
            <a:avLst/>
          </a:prstGeom>
          <a:solidFill>
            <a:srgbClr val="00A8E8">
              <a:alpha val="30000"/>
            </a:srgbClr>
          </a:solidFill>
          <a:ln w="12700">
            <a:solidFill>
              <a:srgbClr val="00A8E8">
                <a:alpha val="30000"/>
              </a:srgbClr>
            </a:solidFill>
            <a:prstDash val="solid"/>
          </a:ln>
        </p:spPr>
      </p:sp>
      <p:sp>
        <p:nvSpPr>
          <p:cNvPr id="10" name="Shape 8"/>
          <p:cNvSpPr/>
          <p:nvPr/>
        </p:nvSpPr>
        <p:spPr>
          <a:xfrm>
            <a:off x="9692640" y="182880"/>
            <a:ext cx="36576" cy="36576"/>
          </a:xfrm>
          <a:prstGeom prst="ellipse">
            <a:avLst/>
          </a:prstGeom>
          <a:solidFill>
            <a:srgbClr val="00A8E8">
              <a:alpha val="30000"/>
            </a:srgbClr>
          </a:solidFill>
          <a:ln w="12700">
            <a:solidFill>
              <a:srgbClr val="00A8E8">
                <a:alpha val="30000"/>
              </a:srgbClr>
            </a:solidFill>
            <a:prstDash val="solid"/>
          </a:ln>
        </p:spPr>
      </p:sp>
      <p:sp>
        <p:nvSpPr>
          <p:cNvPr id="11" name="Shape 9"/>
          <p:cNvSpPr/>
          <p:nvPr/>
        </p:nvSpPr>
        <p:spPr>
          <a:xfrm>
            <a:off x="10881360" y="182880"/>
            <a:ext cx="36576" cy="36576"/>
          </a:xfrm>
          <a:prstGeom prst="ellipse">
            <a:avLst/>
          </a:prstGeom>
          <a:solidFill>
            <a:srgbClr val="00A8E8">
              <a:alpha val="30000"/>
            </a:srgbClr>
          </a:solidFill>
          <a:ln w="12700">
            <a:solidFill>
              <a:srgbClr val="00A8E8">
                <a:alpha val="30000"/>
              </a:srgbClr>
            </a:solidFill>
            <a:prstDash val="solid"/>
          </a:ln>
        </p:spPr>
      </p:sp>
      <p:sp>
        <p:nvSpPr>
          <p:cNvPr id="12" name="Shape 10"/>
          <p:cNvSpPr/>
          <p:nvPr/>
        </p:nvSpPr>
        <p:spPr>
          <a:xfrm>
            <a:off x="182880" y="548640"/>
            <a:ext cx="36576" cy="36576"/>
          </a:xfrm>
          <a:prstGeom prst="ellipse">
            <a:avLst/>
          </a:prstGeom>
          <a:solidFill>
            <a:srgbClr val="00A8E8">
              <a:alpha val="30000"/>
            </a:srgbClr>
          </a:solidFill>
          <a:ln w="12700">
            <a:solidFill>
              <a:srgbClr val="00A8E8">
                <a:alpha val="30000"/>
              </a:srgbClr>
            </a:solidFill>
            <a:prstDash val="solid"/>
          </a:ln>
        </p:spPr>
      </p:sp>
      <p:sp>
        <p:nvSpPr>
          <p:cNvPr id="13" name="Shape 11"/>
          <p:cNvSpPr/>
          <p:nvPr/>
        </p:nvSpPr>
        <p:spPr>
          <a:xfrm>
            <a:off x="1371600" y="548640"/>
            <a:ext cx="36576" cy="36576"/>
          </a:xfrm>
          <a:prstGeom prst="ellipse">
            <a:avLst/>
          </a:prstGeom>
          <a:solidFill>
            <a:srgbClr val="00A8E8">
              <a:alpha val="30000"/>
            </a:srgbClr>
          </a:solidFill>
          <a:ln w="12700">
            <a:solidFill>
              <a:srgbClr val="00A8E8">
                <a:alpha val="30000"/>
              </a:srgbClr>
            </a:solidFill>
            <a:prstDash val="solid"/>
          </a:ln>
        </p:spPr>
      </p:sp>
      <p:sp>
        <p:nvSpPr>
          <p:cNvPr id="14" name="Shape 12"/>
          <p:cNvSpPr/>
          <p:nvPr/>
        </p:nvSpPr>
        <p:spPr>
          <a:xfrm>
            <a:off x="2560320" y="548640"/>
            <a:ext cx="36576" cy="36576"/>
          </a:xfrm>
          <a:prstGeom prst="ellipse">
            <a:avLst/>
          </a:prstGeom>
          <a:solidFill>
            <a:srgbClr val="00A8E8">
              <a:alpha val="30000"/>
            </a:srgbClr>
          </a:solidFill>
          <a:ln w="12700">
            <a:solidFill>
              <a:srgbClr val="00A8E8">
                <a:alpha val="30000"/>
              </a:srgbClr>
            </a:solidFill>
            <a:prstDash val="solid"/>
          </a:ln>
        </p:spPr>
      </p:sp>
      <p:sp>
        <p:nvSpPr>
          <p:cNvPr id="15" name="Shape 13"/>
          <p:cNvSpPr/>
          <p:nvPr/>
        </p:nvSpPr>
        <p:spPr>
          <a:xfrm>
            <a:off x="3749040" y="548640"/>
            <a:ext cx="36576" cy="36576"/>
          </a:xfrm>
          <a:prstGeom prst="ellipse">
            <a:avLst/>
          </a:prstGeom>
          <a:solidFill>
            <a:srgbClr val="00A8E8">
              <a:alpha val="30000"/>
            </a:srgbClr>
          </a:solidFill>
          <a:ln w="12700">
            <a:solidFill>
              <a:srgbClr val="00A8E8">
                <a:alpha val="30000"/>
              </a:srgbClr>
            </a:solidFill>
            <a:prstDash val="solid"/>
          </a:ln>
        </p:spPr>
      </p:sp>
      <p:sp>
        <p:nvSpPr>
          <p:cNvPr id="16" name="Shape 14"/>
          <p:cNvSpPr/>
          <p:nvPr/>
        </p:nvSpPr>
        <p:spPr>
          <a:xfrm>
            <a:off x="4937760" y="548640"/>
            <a:ext cx="36576" cy="36576"/>
          </a:xfrm>
          <a:prstGeom prst="ellipse">
            <a:avLst/>
          </a:prstGeom>
          <a:solidFill>
            <a:srgbClr val="00A8E8">
              <a:alpha val="30000"/>
            </a:srgbClr>
          </a:solidFill>
          <a:ln w="12700">
            <a:solidFill>
              <a:srgbClr val="00A8E8">
                <a:alpha val="30000"/>
              </a:srgbClr>
            </a:solidFill>
            <a:prstDash val="solid"/>
          </a:ln>
        </p:spPr>
      </p:sp>
      <p:sp>
        <p:nvSpPr>
          <p:cNvPr id="17" name="Shape 15"/>
          <p:cNvSpPr/>
          <p:nvPr/>
        </p:nvSpPr>
        <p:spPr>
          <a:xfrm>
            <a:off x="6126480" y="548640"/>
            <a:ext cx="36576" cy="36576"/>
          </a:xfrm>
          <a:prstGeom prst="ellipse">
            <a:avLst/>
          </a:prstGeom>
          <a:solidFill>
            <a:srgbClr val="00A8E8">
              <a:alpha val="30000"/>
            </a:srgbClr>
          </a:solidFill>
          <a:ln w="12700">
            <a:solidFill>
              <a:srgbClr val="00A8E8">
                <a:alpha val="30000"/>
              </a:srgbClr>
            </a:solidFill>
            <a:prstDash val="solid"/>
          </a:ln>
        </p:spPr>
      </p:sp>
      <p:sp>
        <p:nvSpPr>
          <p:cNvPr id="18" name="Shape 16"/>
          <p:cNvSpPr/>
          <p:nvPr/>
        </p:nvSpPr>
        <p:spPr>
          <a:xfrm>
            <a:off x="7315200" y="548640"/>
            <a:ext cx="36576" cy="36576"/>
          </a:xfrm>
          <a:prstGeom prst="ellipse">
            <a:avLst/>
          </a:prstGeom>
          <a:solidFill>
            <a:srgbClr val="00A8E8">
              <a:alpha val="30000"/>
            </a:srgbClr>
          </a:solidFill>
          <a:ln w="12700">
            <a:solidFill>
              <a:srgbClr val="00A8E8">
                <a:alpha val="30000"/>
              </a:srgbClr>
            </a:solidFill>
            <a:prstDash val="solid"/>
          </a:ln>
        </p:spPr>
      </p:sp>
      <p:sp>
        <p:nvSpPr>
          <p:cNvPr id="19" name="Shape 17"/>
          <p:cNvSpPr/>
          <p:nvPr/>
        </p:nvSpPr>
        <p:spPr>
          <a:xfrm>
            <a:off x="8503920" y="548640"/>
            <a:ext cx="36576" cy="36576"/>
          </a:xfrm>
          <a:prstGeom prst="ellipse">
            <a:avLst/>
          </a:prstGeom>
          <a:solidFill>
            <a:srgbClr val="00A8E8">
              <a:alpha val="30000"/>
            </a:srgbClr>
          </a:solidFill>
          <a:ln w="12700">
            <a:solidFill>
              <a:srgbClr val="00A8E8">
                <a:alpha val="30000"/>
              </a:srgbClr>
            </a:solidFill>
            <a:prstDash val="solid"/>
          </a:ln>
        </p:spPr>
      </p:sp>
      <p:sp>
        <p:nvSpPr>
          <p:cNvPr id="20" name="Shape 18"/>
          <p:cNvSpPr/>
          <p:nvPr/>
        </p:nvSpPr>
        <p:spPr>
          <a:xfrm>
            <a:off x="9692640" y="548640"/>
            <a:ext cx="36576" cy="36576"/>
          </a:xfrm>
          <a:prstGeom prst="ellipse">
            <a:avLst/>
          </a:prstGeom>
          <a:solidFill>
            <a:srgbClr val="00A8E8">
              <a:alpha val="30000"/>
            </a:srgbClr>
          </a:solidFill>
          <a:ln w="12700">
            <a:solidFill>
              <a:srgbClr val="00A8E8">
                <a:alpha val="30000"/>
              </a:srgbClr>
            </a:solidFill>
            <a:prstDash val="solid"/>
          </a:ln>
        </p:spPr>
      </p:sp>
      <p:sp>
        <p:nvSpPr>
          <p:cNvPr id="21" name="Shape 19"/>
          <p:cNvSpPr/>
          <p:nvPr/>
        </p:nvSpPr>
        <p:spPr>
          <a:xfrm>
            <a:off x="10881360" y="548640"/>
            <a:ext cx="36576" cy="36576"/>
          </a:xfrm>
          <a:prstGeom prst="ellipse">
            <a:avLst/>
          </a:prstGeom>
          <a:solidFill>
            <a:srgbClr val="00A8E8">
              <a:alpha val="30000"/>
            </a:srgbClr>
          </a:solidFill>
          <a:ln w="12700">
            <a:solidFill>
              <a:srgbClr val="00A8E8">
                <a:alpha val="30000"/>
              </a:srgbClr>
            </a:solidFill>
            <a:prstDash val="solid"/>
          </a:ln>
        </p:spPr>
      </p:sp>
      <p:sp>
        <p:nvSpPr>
          <p:cNvPr id="22" name="Shape 20"/>
          <p:cNvSpPr/>
          <p:nvPr/>
        </p:nvSpPr>
        <p:spPr>
          <a:xfrm>
            <a:off x="182880" y="914400"/>
            <a:ext cx="36576" cy="36576"/>
          </a:xfrm>
          <a:prstGeom prst="ellipse">
            <a:avLst/>
          </a:prstGeom>
          <a:solidFill>
            <a:srgbClr val="00A8E8">
              <a:alpha val="30000"/>
            </a:srgbClr>
          </a:solidFill>
          <a:ln w="12700">
            <a:solidFill>
              <a:srgbClr val="00A8E8">
                <a:alpha val="30000"/>
              </a:srgbClr>
            </a:solidFill>
            <a:prstDash val="solid"/>
          </a:ln>
        </p:spPr>
      </p:sp>
      <p:sp>
        <p:nvSpPr>
          <p:cNvPr id="23" name="Shape 21"/>
          <p:cNvSpPr/>
          <p:nvPr/>
        </p:nvSpPr>
        <p:spPr>
          <a:xfrm>
            <a:off x="1371600" y="914400"/>
            <a:ext cx="36576" cy="36576"/>
          </a:xfrm>
          <a:prstGeom prst="ellipse">
            <a:avLst/>
          </a:prstGeom>
          <a:solidFill>
            <a:srgbClr val="00A8E8">
              <a:alpha val="30000"/>
            </a:srgbClr>
          </a:solidFill>
          <a:ln w="12700">
            <a:solidFill>
              <a:srgbClr val="00A8E8">
                <a:alpha val="30000"/>
              </a:srgbClr>
            </a:solidFill>
            <a:prstDash val="solid"/>
          </a:ln>
        </p:spPr>
      </p:sp>
      <p:sp>
        <p:nvSpPr>
          <p:cNvPr id="24" name="Shape 22"/>
          <p:cNvSpPr/>
          <p:nvPr/>
        </p:nvSpPr>
        <p:spPr>
          <a:xfrm>
            <a:off x="2560320" y="914400"/>
            <a:ext cx="36576" cy="36576"/>
          </a:xfrm>
          <a:prstGeom prst="ellipse">
            <a:avLst/>
          </a:prstGeom>
          <a:solidFill>
            <a:srgbClr val="00A8E8">
              <a:alpha val="30000"/>
            </a:srgbClr>
          </a:solidFill>
          <a:ln w="12700">
            <a:solidFill>
              <a:srgbClr val="00A8E8">
                <a:alpha val="30000"/>
              </a:srgbClr>
            </a:solidFill>
            <a:prstDash val="solid"/>
          </a:ln>
        </p:spPr>
      </p:sp>
      <p:sp>
        <p:nvSpPr>
          <p:cNvPr id="25" name="Shape 23"/>
          <p:cNvSpPr/>
          <p:nvPr/>
        </p:nvSpPr>
        <p:spPr>
          <a:xfrm>
            <a:off x="3749040" y="914400"/>
            <a:ext cx="36576" cy="36576"/>
          </a:xfrm>
          <a:prstGeom prst="ellipse">
            <a:avLst/>
          </a:prstGeom>
          <a:solidFill>
            <a:srgbClr val="00A8E8">
              <a:alpha val="30000"/>
            </a:srgbClr>
          </a:solidFill>
          <a:ln w="12700">
            <a:solidFill>
              <a:srgbClr val="00A8E8">
                <a:alpha val="30000"/>
              </a:srgbClr>
            </a:solidFill>
            <a:prstDash val="solid"/>
          </a:ln>
        </p:spPr>
      </p:sp>
      <p:sp>
        <p:nvSpPr>
          <p:cNvPr id="26" name="Shape 24"/>
          <p:cNvSpPr/>
          <p:nvPr/>
        </p:nvSpPr>
        <p:spPr>
          <a:xfrm>
            <a:off x="4937760" y="914400"/>
            <a:ext cx="36576" cy="36576"/>
          </a:xfrm>
          <a:prstGeom prst="ellipse">
            <a:avLst/>
          </a:prstGeom>
          <a:solidFill>
            <a:srgbClr val="00A8E8">
              <a:alpha val="30000"/>
            </a:srgbClr>
          </a:solidFill>
          <a:ln w="12700">
            <a:solidFill>
              <a:srgbClr val="00A8E8">
                <a:alpha val="30000"/>
              </a:srgbClr>
            </a:solidFill>
            <a:prstDash val="solid"/>
          </a:ln>
        </p:spPr>
      </p:sp>
      <p:sp>
        <p:nvSpPr>
          <p:cNvPr id="27" name="Shape 25"/>
          <p:cNvSpPr/>
          <p:nvPr/>
        </p:nvSpPr>
        <p:spPr>
          <a:xfrm>
            <a:off x="6126480" y="914400"/>
            <a:ext cx="36576" cy="36576"/>
          </a:xfrm>
          <a:prstGeom prst="ellipse">
            <a:avLst/>
          </a:prstGeom>
          <a:solidFill>
            <a:srgbClr val="00A8E8">
              <a:alpha val="30000"/>
            </a:srgbClr>
          </a:solidFill>
          <a:ln w="12700">
            <a:solidFill>
              <a:srgbClr val="00A8E8">
                <a:alpha val="30000"/>
              </a:srgbClr>
            </a:solidFill>
            <a:prstDash val="solid"/>
          </a:ln>
        </p:spPr>
      </p:sp>
      <p:sp>
        <p:nvSpPr>
          <p:cNvPr id="28" name="Shape 26"/>
          <p:cNvSpPr/>
          <p:nvPr/>
        </p:nvSpPr>
        <p:spPr>
          <a:xfrm>
            <a:off x="7315200" y="914400"/>
            <a:ext cx="36576" cy="36576"/>
          </a:xfrm>
          <a:prstGeom prst="ellipse">
            <a:avLst/>
          </a:prstGeom>
          <a:solidFill>
            <a:srgbClr val="00A8E8">
              <a:alpha val="30000"/>
            </a:srgbClr>
          </a:solidFill>
          <a:ln w="12700">
            <a:solidFill>
              <a:srgbClr val="00A8E8">
                <a:alpha val="30000"/>
              </a:srgbClr>
            </a:solidFill>
            <a:prstDash val="solid"/>
          </a:ln>
        </p:spPr>
      </p:sp>
      <p:sp>
        <p:nvSpPr>
          <p:cNvPr id="29" name="Shape 27"/>
          <p:cNvSpPr/>
          <p:nvPr/>
        </p:nvSpPr>
        <p:spPr>
          <a:xfrm>
            <a:off x="8503920" y="914400"/>
            <a:ext cx="36576" cy="36576"/>
          </a:xfrm>
          <a:prstGeom prst="ellipse">
            <a:avLst/>
          </a:prstGeom>
          <a:solidFill>
            <a:srgbClr val="00A8E8">
              <a:alpha val="30000"/>
            </a:srgbClr>
          </a:solidFill>
          <a:ln w="12700">
            <a:solidFill>
              <a:srgbClr val="00A8E8">
                <a:alpha val="30000"/>
              </a:srgbClr>
            </a:solidFill>
            <a:prstDash val="solid"/>
          </a:ln>
        </p:spPr>
      </p:sp>
      <p:sp>
        <p:nvSpPr>
          <p:cNvPr id="30" name="Shape 28"/>
          <p:cNvSpPr/>
          <p:nvPr/>
        </p:nvSpPr>
        <p:spPr>
          <a:xfrm>
            <a:off x="9692640" y="914400"/>
            <a:ext cx="36576" cy="36576"/>
          </a:xfrm>
          <a:prstGeom prst="ellipse">
            <a:avLst/>
          </a:prstGeom>
          <a:solidFill>
            <a:srgbClr val="00A8E8">
              <a:alpha val="30000"/>
            </a:srgbClr>
          </a:solidFill>
          <a:ln w="12700">
            <a:solidFill>
              <a:srgbClr val="00A8E8">
                <a:alpha val="30000"/>
              </a:srgbClr>
            </a:solidFill>
            <a:prstDash val="solid"/>
          </a:ln>
        </p:spPr>
      </p:sp>
      <p:sp>
        <p:nvSpPr>
          <p:cNvPr id="31" name="Shape 29"/>
          <p:cNvSpPr/>
          <p:nvPr/>
        </p:nvSpPr>
        <p:spPr>
          <a:xfrm>
            <a:off x="10881360" y="914400"/>
            <a:ext cx="36576" cy="36576"/>
          </a:xfrm>
          <a:prstGeom prst="ellipse">
            <a:avLst/>
          </a:prstGeom>
          <a:solidFill>
            <a:srgbClr val="00A8E8">
              <a:alpha val="30000"/>
            </a:srgbClr>
          </a:solidFill>
          <a:ln w="12700">
            <a:solidFill>
              <a:srgbClr val="00A8E8">
                <a:alpha val="30000"/>
              </a:srgbClr>
            </a:solidFill>
            <a:prstDash val="solid"/>
          </a:ln>
        </p:spPr>
      </p:sp>
      <p:pic>
        <p:nvPicPr>
          <p:cNvPr id="32" name="Image 0" descr="preencoded.png"/>
          <p:cNvPicPr>
            <a:picLocks noChangeAspect="1"/>
          </p:cNvPicPr>
          <p:nvPr/>
        </p:nvPicPr>
        <p:blipFill>
          <a:blip r:embed="rId3"/>
          <a:stretch>
            <a:fillRect/>
          </a:stretch>
        </p:blipFill>
        <p:spPr>
          <a:xfrm>
            <a:off x="914400" y="2103120"/>
            <a:ext cx="1463040" cy="1463040"/>
          </a:xfrm>
          <a:prstGeom prst="rect">
            <a:avLst/>
          </a:prstGeom>
        </p:spPr>
      </p:pic>
      <p:sp>
        <p:nvSpPr>
          <p:cNvPr id="33" name="Shape 30"/>
          <p:cNvSpPr/>
          <p:nvPr/>
        </p:nvSpPr>
        <p:spPr>
          <a:xfrm>
            <a:off x="2743200" y="2240280"/>
            <a:ext cx="2194560" cy="365760"/>
          </a:xfrm>
          <a:prstGeom prst="rect">
            <a:avLst/>
          </a:prstGeom>
          <a:solidFill>
            <a:srgbClr val="00A8E8"/>
          </a:solidFill>
          <a:ln w="12700">
            <a:solidFill>
              <a:srgbClr val="00A8E8"/>
            </a:solidFill>
            <a:prstDash val="solid"/>
          </a:ln>
        </p:spPr>
      </p:sp>
      <p:sp>
        <p:nvSpPr>
          <p:cNvPr id="34" name="Text 31"/>
          <p:cNvSpPr/>
          <p:nvPr/>
        </p:nvSpPr>
        <p:spPr>
          <a:xfrm>
            <a:off x="2743200" y="2240280"/>
            <a:ext cx="2194560" cy="365760"/>
          </a:xfrm>
          <a:prstGeom prst="rect">
            <a:avLst/>
          </a:prstGeom>
          <a:noFill/>
          <a:ln/>
        </p:spPr>
        <p:txBody>
          <a:bodyPr wrap="square" lIns="0" tIns="0" rIns="0" bIns="0" rtlCol="0" anchor="ctr"/>
          <a:lstStyle/>
          <a:p>
            <a:pPr marL="0" indent="0" algn="ctr">
              <a:buNone/>
            </a:pPr>
            <a:r>
              <a:rPr lang="en-US" sz="1100" b="1" kern="0" spc="400" dirty="0">
                <a:solidFill>
                  <a:srgbClr val="0F1E3D"/>
                </a:solidFill>
                <a:latin typeface="Calibri" pitchFamily="34" charset="0"/>
                <a:ea typeface="Calibri" pitchFamily="34" charset="-122"/>
                <a:cs typeface="Calibri" pitchFamily="34" charset="-120"/>
              </a:rPr>
              <a:t>COURSE PROJECT</a:t>
            </a:r>
            <a:endParaRPr lang="en-US" sz="1100" dirty="0"/>
          </a:p>
        </p:txBody>
      </p:sp>
      <p:sp>
        <p:nvSpPr>
          <p:cNvPr id="35" name="Text 32"/>
          <p:cNvSpPr/>
          <p:nvPr/>
        </p:nvSpPr>
        <p:spPr>
          <a:xfrm>
            <a:off x="2743200" y="2697480"/>
            <a:ext cx="8686800" cy="777240"/>
          </a:xfrm>
          <a:prstGeom prst="rect">
            <a:avLst/>
          </a:prstGeom>
          <a:noFill/>
          <a:ln/>
        </p:spPr>
        <p:txBody>
          <a:bodyPr wrap="square" lIns="0" tIns="0" rIns="0" bIns="0" rtlCol="0" anchor="ctr"/>
          <a:lstStyle/>
          <a:p>
            <a:pPr marL="0" indent="0" algn="l">
              <a:buNone/>
            </a:pPr>
            <a:r>
              <a:rPr lang="en-US" sz="4800" b="1" dirty="0">
                <a:solidFill>
                  <a:srgbClr val="FFFFFF"/>
                </a:solidFill>
                <a:latin typeface="Calibri" pitchFamily="34" charset="0"/>
                <a:ea typeface="Calibri" pitchFamily="34" charset="-122"/>
                <a:cs typeface="Calibri" pitchFamily="34" charset="-120"/>
              </a:rPr>
              <a:t>Information Security</a:t>
            </a:r>
            <a:endParaRPr lang="en-US" sz="4800" dirty="0"/>
          </a:p>
        </p:txBody>
      </p:sp>
      <p:sp>
        <p:nvSpPr>
          <p:cNvPr id="36" name="Text 33"/>
          <p:cNvSpPr/>
          <p:nvPr/>
        </p:nvSpPr>
        <p:spPr>
          <a:xfrm>
            <a:off x="2743200" y="3474720"/>
            <a:ext cx="8686800" cy="640080"/>
          </a:xfrm>
          <a:prstGeom prst="rect">
            <a:avLst/>
          </a:prstGeom>
          <a:noFill/>
          <a:ln/>
        </p:spPr>
        <p:txBody>
          <a:bodyPr wrap="square" lIns="0" tIns="0" rIns="0" bIns="0" rtlCol="0" anchor="ctr"/>
          <a:lstStyle/>
          <a:p>
            <a:pPr marL="0" indent="0" algn="l">
              <a:buNone/>
            </a:pPr>
            <a:r>
              <a:rPr lang="en-US" sz="3600" dirty="0">
                <a:solidFill>
                  <a:srgbClr val="00A8E8"/>
                </a:solidFill>
                <a:latin typeface="Calibri" pitchFamily="34" charset="0"/>
                <a:ea typeface="Calibri" pitchFamily="34" charset="-122"/>
                <a:cs typeface="Calibri" pitchFamily="34" charset="-120"/>
              </a:rPr>
              <a:t>Final Project</a:t>
            </a:r>
            <a:endParaRPr lang="en-US" sz="3600" dirty="0"/>
          </a:p>
        </p:txBody>
      </p:sp>
      <p:sp>
        <p:nvSpPr>
          <p:cNvPr id="37" name="Text 34"/>
          <p:cNvSpPr/>
          <p:nvPr/>
        </p:nvSpPr>
        <p:spPr>
          <a:xfrm>
            <a:off x="2743200" y="4206240"/>
            <a:ext cx="8686800" cy="548640"/>
          </a:xfrm>
          <a:prstGeom prst="rect">
            <a:avLst/>
          </a:prstGeom>
          <a:noFill/>
          <a:ln/>
        </p:spPr>
        <p:txBody>
          <a:bodyPr wrap="square" lIns="0" tIns="0" rIns="0" bIns="0" rtlCol="0" anchor="ctr"/>
          <a:lstStyle/>
          <a:p>
            <a:pPr marL="0" indent="0" algn="l">
              <a:buNone/>
            </a:pPr>
            <a:r>
              <a:rPr lang="en-US" sz="1600" i="1" dirty="0">
                <a:solidFill>
                  <a:srgbClr val="CADCFC"/>
                </a:solidFill>
                <a:latin typeface="Calibri" pitchFamily="34" charset="0"/>
                <a:ea typeface="Calibri" pitchFamily="34" charset="-122"/>
                <a:cs typeface="Calibri" pitchFamily="34" charset="-120"/>
              </a:rPr>
              <a:t>Cybersecurity tools for detecting suspicious activity and protecting file integrity</a:t>
            </a:r>
            <a:endParaRPr lang="en-US" sz="1600" dirty="0"/>
          </a:p>
        </p:txBody>
      </p:sp>
      <p:sp>
        <p:nvSpPr>
          <p:cNvPr id="38" name="Shape 35"/>
          <p:cNvSpPr/>
          <p:nvPr/>
        </p:nvSpPr>
        <p:spPr>
          <a:xfrm>
            <a:off x="2743200" y="4937760"/>
            <a:ext cx="8229600" cy="0"/>
          </a:xfrm>
          <a:prstGeom prst="line">
            <a:avLst/>
          </a:prstGeom>
          <a:noFill/>
          <a:ln w="25400">
            <a:solidFill>
              <a:srgbClr val="00A8E8"/>
            </a:solidFill>
            <a:prstDash val="solid"/>
          </a:ln>
        </p:spPr>
      </p:sp>
      <p:sp>
        <p:nvSpPr>
          <p:cNvPr id="39" name="Text 36"/>
          <p:cNvSpPr/>
          <p:nvPr/>
        </p:nvSpPr>
        <p:spPr>
          <a:xfrm>
            <a:off x="2743200" y="5120640"/>
            <a:ext cx="4114800" cy="914400"/>
          </a:xfrm>
          <a:prstGeom prst="rect">
            <a:avLst/>
          </a:prstGeom>
          <a:noFill/>
          <a:ln/>
        </p:spPr>
        <p:txBody>
          <a:bodyPr wrap="square" lIns="0" tIns="0" rIns="0" bIns="0" rtlCol="0" anchor="t"/>
          <a:lstStyle/>
          <a:p>
            <a:pPr marL="0" indent="0" algn="l">
              <a:buNone/>
            </a:pPr>
            <a:r>
              <a:rPr lang="en-US" sz="1000" b="1" kern="0" spc="300" dirty="0">
                <a:solidFill>
                  <a:srgbClr val="8DA0C8"/>
                </a:solidFill>
                <a:latin typeface="Calibri" pitchFamily="34" charset="0"/>
                <a:ea typeface="Calibri" pitchFamily="34" charset="-122"/>
                <a:cs typeface="Calibri" pitchFamily="34" charset="-120"/>
              </a:rPr>
              <a:t>STUDENTS
</a:t>
            </a:r>
            <a:endParaRPr lang="en-US" sz="1000" dirty="0"/>
          </a:p>
          <a:p>
            <a:pPr marL="0" indent="0" algn="l">
              <a:buNone/>
            </a:pPr>
            <a:r>
              <a:rPr lang="en-US" sz="1800" b="1" dirty="0">
                <a:solidFill>
                  <a:srgbClr val="FFFFFF"/>
                </a:solidFill>
                <a:latin typeface="Calibri" pitchFamily="34" charset="0"/>
                <a:ea typeface="Calibri" pitchFamily="34" charset="-122"/>
                <a:cs typeface="Calibri" pitchFamily="34" charset="-120"/>
              </a:rPr>
              <a:t>Farid </a:t>
            </a:r>
            <a:r>
              <a:rPr lang="en-US" sz="1800" b="1" dirty="0" err="1">
                <a:solidFill>
                  <a:srgbClr val="FFFFFF"/>
                </a:solidFill>
                <a:latin typeface="Calibri" pitchFamily="34" charset="0"/>
                <a:ea typeface="Calibri" pitchFamily="34" charset="-122"/>
                <a:cs typeface="Calibri" pitchFamily="34" charset="-120"/>
              </a:rPr>
              <a:t>Hassani</a:t>
            </a:r>
            <a:r>
              <a:rPr lang="en-US" sz="1800" b="1" dirty="0">
                <a:solidFill>
                  <a:srgbClr val="FFFFFF"/>
                </a:solidFill>
                <a:latin typeface="Calibri" pitchFamily="34" charset="0"/>
                <a:ea typeface="Calibri" pitchFamily="34" charset="-122"/>
                <a:cs typeface="Calibri" pitchFamily="34" charset="-120"/>
              </a:rPr>
              <a:t>  and Sami </a:t>
            </a:r>
            <a:r>
              <a:rPr lang="en-US" sz="1800" b="1" dirty="0" err="1">
                <a:solidFill>
                  <a:srgbClr val="FFFFFF"/>
                </a:solidFill>
                <a:latin typeface="Calibri" pitchFamily="34" charset="0"/>
                <a:ea typeface="Calibri" pitchFamily="34" charset="-122"/>
                <a:cs typeface="Calibri" pitchFamily="34" charset="-120"/>
              </a:rPr>
              <a:t>Jaberi</a:t>
            </a:r>
            <a:endParaRPr lang="en-US" sz="1000" dirty="0"/>
          </a:p>
        </p:txBody>
      </p:sp>
      <p:sp>
        <p:nvSpPr>
          <p:cNvPr id="40" name="Text 37"/>
          <p:cNvSpPr/>
          <p:nvPr/>
        </p:nvSpPr>
        <p:spPr>
          <a:xfrm>
            <a:off x="7132320" y="5120640"/>
            <a:ext cx="4297680" cy="914400"/>
          </a:xfrm>
          <a:prstGeom prst="rect">
            <a:avLst/>
          </a:prstGeom>
          <a:noFill/>
          <a:ln/>
        </p:spPr>
        <p:txBody>
          <a:bodyPr wrap="square" lIns="0" tIns="0" rIns="0" bIns="0" rtlCol="0" anchor="t"/>
          <a:lstStyle/>
          <a:p>
            <a:pPr marL="0" indent="0" algn="l">
              <a:buNone/>
            </a:pPr>
            <a:r>
              <a:rPr lang="en-US" sz="1000" b="1" kern="0" spc="300" dirty="0">
                <a:solidFill>
                  <a:srgbClr val="8DA0C8"/>
                </a:solidFill>
                <a:latin typeface="Calibri" pitchFamily="34" charset="0"/>
                <a:ea typeface="Calibri" pitchFamily="34" charset="-122"/>
                <a:cs typeface="Calibri" pitchFamily="34" charset="-120"/>
              </a:rPr>
              <a:t>COURSE
</a:t>
            </a:r>
            <a:endParaRPr lang="en-US" sz="1000" dirty="0"/>
          </a:p>
          <a:p>
            <a:pPr marL="0" indent="0" algn="l">
              <a:buNone/>
            </a:pPr>
            <a:r>
              <a:rPr lang="en-US" sz="1800" b="1" dirty="0">
                <a:solidFill>
                  <a:srgbClr val="FFFFFF"/>
                </a:solidFill>
                <a:latin typeface="Calibri" pitchFamily="34" charset="0"/>
                <a:ea typeface="Calibri" pitchFamily="34" charset="-122"/>
                <a:cs typeface="Calibri" pitchFamily="34" charset="-120"/>
              </a:rPr>
              <a:t>Information Security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640080"/>
          </a:xfrm>
          <a:prstGeom prst="rect">
            <a:avLst/>
          </a:prstGeom>
          <a:noFill/>
          <a:ln/>
        </p:spPr>
        <p:txBody>
          <a:bodyPr wrap="square" lIns="0" tIns="0" rIns="0" bIns="0" rtlCol="0" anchor="ctr"/>
          <a:lstStyle/>
          <a:p>
            <a:pPr marL="0" indent="0" algn="l">
              <a:buNone/>
            </a:pPr>
            <a:r>
              <a:rPr lang="en-US" sz="2800" b="1" dirty="0">
                <a:solidFill>
                  <a:srgbClr val="0F1E3D"/>
                </a:solidFill>
                <a:latin typeface="Calibri" pitchFamily="34" charset="0"/>
                <a:ea typeface="Calibri" pitchFamily="34" charset="-122"/>
                <a:cs typeface="Calibri" pitchFamily="34" charset="-120"/>
              </a:rPr>
              <a:t>Project Overview</a:t>
            </a:r>
            <a:endParaRPr lang="en-US" sz="2800" dirty="0"/>
          </a:p>
        </p:txBody>
      </p:sp>
      <p:sp>
        <p:nvSpPr>
          <p:cNvPr id="3" name="Text 1"/>
          <p:cNvSpPr/>
          <p:nvPr/>
        </p:nvSpPr>
        <p:spPr>
          <a:xfrm>
            <a:off x="548640" y="868680"/>
            <a:ext cx="11094415" cy="320040"/>
          </a:xfrm>
          <a:prstGeom prst="rect">
            <a:avLst/>
          </a:prstGeom>
          <a:noFill/>
          <a:ln/>
        </p:spPr>
        <p:txBody>
          <a:bodyPr wrap="square" lIns="0" tIns="0" rIns="0" bIns="0" rtlCol="0" anchor="ctr"/>
          <a:lstStyle/>
          <a:p>
            <a:pPr marL="0" indent="0" algn="l">
              <a:buNone/>
            </a:pPr>
            <a:r>
              <a:rPr lang="en-US" sz="1300" i="1" dirty="0">
                <a:solidFill>
                  <a:srgbClr val="5B6B85"/>
                </a:solidFill>
                <a:latin typeface="Calibri" pitchFamily="34" charset="0"/>
                <a:ea typeface="Calibri" pitchFamily="34" charset="-122"/>
                <a:cs typeface="Calibri" pitchFamily="34" charset="-120"/>
              </a:rPr>
              <a:t>Two Python tools that work together to improve security</a:t>
            </a:r>
            <a:endParaRPr lang="en-US" sz="1300" dirty="0"/>
          </a:p>
        </p:txBody>
      </p:sp>
      <p:sp>
        <p:nvSpPr>
          <p:cNvPr id="4" name="Shape 2"/>
          <p:cNvSpPr/>
          <p:nvPr/>
        </p:nvSpPr>
        <p:spPr>
          <a:xfrm>
            <a:off x="274320" y="457200"/>
            <a:ext cx="109728" cy="365760"/>
          </a:xfrm>
          <a:prstGeom prst="rect">
            <a:avLst/>
          </a:prstGeom>
          <a:solidFill>
            <a:srgbClr val="00A8E8"/>
          </a:solidFill>
          <a:ln w="12700">
            <a:solidFill>
              <a:srgbClr val="00A8E8"/>
            </a:solidFill>
            <a:prstDash val="solid"/>
          </a:ln>
        </p:spPr>
      </p:sp>
      <p:sp>
        <p:nvSpPr>
          <p:cNvPr id="5" name="Text 3"/>
          <p:cNvSpPr/>
          <p:nvPr/>
        </p:nvSpPr>
        <p:spPr>
          <a:xfrm>
            <a:off x="548640" y="1417320"/>
            <a:ext cx="4754880" cy="1645920"/>
          </a:xfrm>
          <a:prstGeom prst="rect">
            <a:avLst/>
          </a:prstGeom>
          <a:noFill/>
          <a:ln/>
        </p:spPr>
        <p:txBody>
          <a:bodyPr wrap="square" lIns="0" tIns="0" rIns="0" bIns="0" rtlCol="0" anchor="t"/>
          <a:lstStyle/>
          <a:p>
            <a:pPr marL="0" indent="0" algn="l">
              <a:buNone/>
            </a:pPr>
            <a:r>
              <a:rPr lang="en-US" sz="1400" dirty="0">
                <a:solidFill>
                  <a:srgbClr val="1A2138"/>
                </a:solidFill>
                <a:latin typeface="Calibri" pitchFamily="34" charset="0"/>
                <a:ea typeface="Calibri" pitchFamily="34" charset="-122"/>
                <a:cs typeface="Calibri" pitchFamily="34" charset="-120"/>
              </a:rPr>
              <a:t>Our project contains two cybersecurity tools. Both are written in Python, both detect different kinds of security risks, and both save their results in log files for later review.</a:t>
            </a:r>
            <a:endParaRPr lang="en-US" sz="1400" dirty="0"/>
          </a:p>
        </p:txBody>
      </p:sp>
      <p:sp>
        <p:nvSpPr>
          <p:cNvPr id="6" name="Shape 4"/>
          <p:cNvSpPr/>
          <p:nvPr/>
        </p:nvSpPr>
        <p:spPr>
          <a:xfrm>
            <a:off x="640080" y="3108960"/>
            <a:ext cx="502920" cy="502920"/>
          </a:xfrm>
          <a:prstGeom prst="ellipse">
            <a:avLst/>
          </a:prstGeom>
          <a:solidFill>
            <a:srgbClr val="0F1E3D"/>
          </a:solidFill>
          <a:ln w="12700">
            <a:solidFill>
              <a:srgbClr val="0F1E3D"/>
            </a:solidFill>
            <a:prstDash val="solid"/>
          </a:ln>
        </p:spPr>
      </p:sp>
      <p:pic>
        <p:nvPicPr>
          <p:cNvPr id="7" name="Image 0" descr="preencoded.png"/>
          <p:cNvPicPr>
            <a:picLocks noChangeAspect="1"/>
          </p:cNvPicPr>
          <p:nvPr/>
        </p:nvPicPr>
        <p:blipFill>
          <a:blip r:embed="rId3"/>
          <a:stretch>
            <a:fillRect/>
          </a:stretch>
        </p:blipFill>
        <p:spPr>
          <a:xfrm>
            <a:off x="758952" y="3227832"/>
            <a:ext cx="274320" cy="274320"/>
          </a:xfrm>
          <a:prstGeom prst="rect">
            <a:avLst/>
          </a:prstGeom>
        </p:spPr>
      </p:pic>
      <p:sp>
        <p:nvSpPr>
          <p:cNvPr id="8" name="Text 5"/>
          <p:cNvSpPr/>
          <p:nvPr/>
        </p:nvSpPr>
        <p:spPr>
          <a:xfrm>
            <a:off x="1280160" y="3108960"/>
            <a:ext cx="4114800" cy="502920"/>
          </a:xfrm>
          <a:prstGeom prst="rect">
            <a:avLst/>
          </a:prstGeom>
          <a:noFill/>
          <a:ln/>
        </p:spPr>
        <p:txBody>
          <a:bodyPr wrap="square" lIns="0" tIns="0" rIns="0" bIns="0" rtlCol="0" anchor="ctr"/>
          <a:lstStyle/>
          <a:p>
            <a:pPr marL="0" indent="0" algn="l">
              <a:buNone/>
            </a:pPr>
            <a:r>
              <a:rPr lang="en-US" sz="1400" b="1" dirty="0">
                <a:solidFill>
                  <a:srgbClr val="0F1E3D"/>
                </a:solidFill>
                <a:latin typeface="Calibri" pitchFamily="34" charset="0"/>
                <a:ea typeface="Calibri" pitchFamily="34" charset="-122"/>
                <a:cs typeface="Calibri" pitchFamily="34" charset="-120"/>
              </a:rPr>
              <a:t>Written in Python 3</a:t>
            </a:r>
            <a:endParaRPr lang="en-US" sz="1400" dirty="0"/>
          </a:p>
        </p:txBody>
      </p:sp>
      <p:sp>
        <p:nvSpPr>
          <p:cNvPr id="9" name="Shape 6"/>
          <p:cNvSpPr/>
          <p:nvPr/>
        </p:nvSpPr>
        <p:spPr>
          <a:xfrm>
            <a:off x="640080" y="3886200"/>
            <a:ext cx="502920" cy="502920"/>
          </a:xfrm>
          <a:prstGeom prst="ellipse">
            <a:avLst/>
          </a:prstGeom>
          <a:solidFill>
            <a:srgbClr val="0F1E3D"/>
          </a:solidFill>
          <a:ln w="12700">
            <a:solidFill>
              <a:srgbClr val="0F1E3D"/>
            </a:solidFill>
            <a:prstDash val="solid"/>
          </a:ln>
        </p:spPr>
      </p:sp>
      <p:pic>
        <p:nvPicPr>
          <p:cNvPr id="10" name="Image 1" descr="preencoded.png"/>
          <p:cNvPicPr>
            <a:picLocks noChangeAspect="1"/>
          </p:cNvPicPr>
          <p:nvPr/>
        </p:nvPicPr>
        <p:blipFill>
          <a:blip r:embed="rId4"/>
          <a:stretch>
            <a:fillRect/>
          </a:stretch>
        </p:blipFill>
        <p:spPr>
          <a:xfrm>
            <a:off x="758952" y="4005072"/>
            <a:ext cx="274320" cy="274320"/>
          </a:xfrm>
          <a:prstGeom prst="rect">
            <a:avLst/>
          </a:prstGeom>
        </p:spPr>
      </p:pic>
      <p:sp>
        <p:nvSpPr>
          <p:cNvPr id="11" name="Text 7"/>
          <p:cNvSpPr/>
          <p:nvPr/>
        </p:nvSpPr>
        <p:spPr>
          <a:xfrm>
            <a:off x="1280160" y="3886200"/>
            <a:ext cx="4114800" cy="502920"/>
          </a:xfrm>
          <a:prstGeom prst="rect">
            <a:avLst/>
          </a:prstGeom>
          <a:noFill/>
          <a:ln/>
        </p:spPr>
        <p:txBody>
          <a:bodyPr wrap="square" lIns="0" tIns="0" rIns="0" bIns="0" rtlCol="0" anchor="ctr"/>
          <a:lstStyle/>
          <a:p>
            <a:pPr marL="0" indent="0" algn="l">
              <a:buNone/>
            </a:pPr>
            <a:r>
              <a:rPr lang="en-US" sz="1400" b="1" dirty="0">
                <a:solidFill>
                  <a:srgbClr val="0F1E3D"/>
                </a:solidFill>
                <a:latin typeface="Calibri" pitchFamily="34" charset="0"/>
                <a:ea typeface="Calibri" pitchFamily="34" charset="-122"/>
                <a:cs typeface="Calibri" pitchFamily="34" charset="-120"/>
              </a:rPr>
              <a:t>Detect security risks</a:t>
            </a:r>
            <a:endParaRPr lang="en-US" sz="1400" dirty="0"/>
          </a:p>
        </p:txBody>
      </p:sp>
      <p:sp>
        <p:nvSpPr>
          <p:cNvPr id="12" name="Shape 8"/>
          <p:cNvSpPr/>
          <p:nvPr/>
        </p:nvSpPr>
        <p:spPr>
          <a:xfrm>
            <a:off x="640080" y="4663440"/>
            <a:ext cx="502920" cy="502920"/>
          </a:xfrm>
          <a:prstGeom prst="ellipse">
            <a:avLst/>
          </a:prstGeom>
          <a:solidFill>
            <a:srgbClr val="0F1E3D"/>
          </a:solidFill>
          <a:ln w="12700">
            <a:solidFill>
              <a:srgbClr val="0F1E3D"/>
            </a:solidFill>
            <a:prstDash val="solid"/>
          </a:ln>
        </p:spPr>
      </p:sp>
      <p:pic>
        <p:nvPicPr>
          <p:cNvPr id="13" name="Image 2" descr="preencoded.png"/>
          <p:cNvPicPr>
            <a:picLocks noChangeAspect="1"/>
          </p:cNvPicPr>
          <p:nvPr/>
        </p:nvPicPr>
        <p:blipFill>
          <a:blip r:embed="rId5"/>
          <a:stretch>
            <a:fillRect/>
          </a:stretch>
        </p:blipFill>
        <p:spPr>
          <a:xfrm>
            <a:off x="758952" y="4782312"/>
            <a:ext cx="274320" cy="274320"/>
          </a:xfrm>
          <a:prstGeom prst="rect">
            <a:avLst/>
          </a:prstGeom>
        </p:spPr>
      </p:pic>
      <p:sp>
        <p:nvSpPr>
          <p:cNvPr id="14" name="Text 9"/>
          <p:cNvSpPr/>
          <p:nvPr/>
        </p:nvSpPr>
        <p:spPr>
          <a:xfrm>
            <a:off x="1280160" y="4663440"/>
            <a:ext cx="4114800" cy="502920"/>
          </a:xfrm>
          <a:prstGeom prst="rect">
            <a:avLst/>
          </a:prstGeom>
          <a:noFill/>
          <a:ln/>
        </p:spPr>
        <p:txBody>
          <a:bodyPr wrap="square" lIns="0" tIns="0" rIns="0" bIns="0" rtlCol="0" anchor="ctr"/>
          <a:lstStyle/>
          <a:p>
            <a:pPr marL="0" indent="0" algn="l">
              <a:buNone/>
            </a:pPr>
            <a:r>
              <a:rPr lang="en-US" sz="1400" b="1" dirty="0">
                <a:solidFill>
                  <a:srgbClr val="0F1E3D"/>
                </a:solidFill>
                <a:latin typeface="Calibri" pitchFamily="34" charset="0"/>
                <a:ea typeface="Calibri" pitchFamily="34" charset="-122"/>
                <a:cs typeface="Calibri" pitchFamily="34" charset="-120"/>
              </a:rPr>
              <a:t>Save logs for review</a:t>
            </a:r>
            <a:endParaRPr lang="en-US" sz="1400" dirty="0"/>
          </a:p>
        </p:txBody>
      </p:sp>
      <p:sp>
        <p:nvSpPr>
          <p:cNvPr id="15" name="Shape 10"/>
          <p:cNvSpPr/>
          <p:nvPr/>
        </p:nvSpPr>
        <p:spPr>
          <a:xfrm>
            <a:off x="5852160" y="1417320"/>
            <a:ext cx="3017520" cy="4846320"/>
          </a:xfrm>
          <a:prstGeom prst="rect">
            <a:avLst/>
          </a:prstGeom>
          <a:solidFill>
            <a:srgbClr val="FFFFFF"/>
          </a:solidFill>
          <a:ln w="12700">
            <a:solidFill>
              <a:srgbClr val="D6DBE5"/>
            </a:solidFill>
            <a:prstDash val="solid"/>
          </a:ln>
          <a:effectLst>
            <a:outerShdw blurRad="127000" dist="38100" dir="5400000" algn="bl" rotWithShape="0">
              <a:srgbClr val="000000">
                <a:alpha val="8000"/>
              </a:srgbClr>
            </a:outerShdw>
          </a:effectLst>
        </p:spPr>
      </p:sp>
      <p:sp>
        <p:nvSpPr>
          <p:cNvPr id="16" name="Shape 11"/>
          <p:cNvSpPr/>
          <p:nvPr/>
        </p:nvSpPr>
        <p:spPr>
          <a:xfrm>
            <a:off x="5852160" y="1417320"/>
            <a:ext cx="3017520" cy="1371600"/>
          </a:xfrm>
          <a:prstGeom prst="rect">
            <a:avLst/>
          </a:prstGeom>
          <a:solidFill>
            <a:srgbClr val="1E2761"/>
          </a:solidFill>
          <a:ln w="12700">
            <a:solidFill>
              <a:srgbClr val="1E2761"/>
            </a:solidFill>
            <a:prstDash val="solid"/>
          </a:ln>
        </p:spPr>
      </p:sp>
      <p:pic>
        <p:nvPicPr>
          <p:cNvPr id="17" name="Image 3" descr="preencoded.png"/>
          <p:cNvPicPr>
            <a:picLocks noChangeAspect="1"/>
          </p:cNvPicPr>
          <p:nvPr/>
        </p:nvPicPr>
        <p:blipFill>
          <a:blip r:embed="rId4"/>
          <a:stretch>
            <a:fillRect/>
          </a:stretch>
        </p:blipFill>
        <p:spPr>
          <a:xfrm>
            <a:off x="7040880" y="1645920"/>
            <a:ext cx="640080" cy="640080"/>
          </a:xfrm>
          <a:prstGeom prst="rect">
            <a:avLst/>
          </a:prstGeom>
        </p:spPr>
      </p:pic>
      <p:sp>
        <p:nvSpPr>
          <p:cNvPr id="18" name="Text 12"/>
          <p:cNvSpPr/>
          <p:nvPr/>
        </p:nvSpPr>
        <p:spPr>
          <a:xfrm>
            <a:off x="5852160" y="2286000"/>
            <a:ext cx="3017520" cy="320040"/>
          </a:xfrm>
          <a:prstGeom prst="rect">
            <a:avLst/>
          </a:prstGeom>
          <a:noFill/>
          <a:ln/>
        </p:spPr>
        <p:txBody>
          <a:bodyPr wrap="square" lIns="0" tIns="0" rIns="0" bIns="0" rtlCol="0" anchor="ctr"/>
          <a:lstStyle/>
          <a:p>
            <a:pPr marL="0" indent="0" algn="ctr">
              <a:buNone/>
            </a:pPr>
            <a:r>
              <a:rPr lang="en-US" sz="1100" b="1" kern="0" spc="400" dirty="0">
                <a:solidFill>
                  <a:srgbClr val="00A8E8"/>
                </a:solidFill>
                <a:latin typeface="Calibri" pitchFamily="34" charset="0"/>
                <a:ea typeface="Calibri" pitchFamily="34" charset="-122"/>
                <a:cs typeface="Calibri" pitchFamily="34" charset="-120"/>
              </a:rPr>
              <a:t>Tool 1</a:t>
            </a:r>
            <a:endParaRPr lang="en-US" sz="1100" dirty="0"/>
          </a:p>
        </p:txBody>
      </p:sp>
      <p:sp>
        <p:nvSpPr>
          <p:cNvPr id="19" name="Text 13"/>
          <p:cNvSpPr/>
          <p:nvPr/>
        </p:nvSpPr>
        <p:spPr>
          <a:xfrm>
            <a:off x="6035040" y="2926080"/>
            <a:ext cx="2651760" cy="1188720"/>
          </a:xfrm>
          <a:prstGeom prst="rect">
            <a:avLst/>
          </a:prstGeom>
          <a:noFill/>
          <a:ln/>
        </p:spPr>
        <p:txBody>
          <a:bodyPr wrap="square" lIns="0" tIns="0" rIns="0" bIns="0" rtlCol="0" anchor="t"/>
          <a:lstStyle/>
          <a:p>
            <a:pPr marL="0" indent="0" algn="ctr">
              <a:buNone/>
            </a:pPr>
            <a:r>
              <a:rPr lang="en-US" sz="1800" b="1" dirty="0">
                <a:solidFill>
                  <a:srgbClr val="0F1E3D"/>
                </a:solidFill>
                <a:latin typeface="Calibri" pitchFamily="34" charset="0"/>
                <a:ea typeface="Calibri" pitchFamily="34" charset="-122"/>
                <a:cs typeface="Calibri" pitchFamily="34" charset="-120"/>
              </a:rPr>
              <a:t>Simple Intrusion</a:t>
            </a:r>
            <a:endParaRPr lang="en-US" sz="1800" dirty="0"/>
          </a:p>
          <a:p>
            <a:pPr marL="0" indent="0" algn="ctr">
              <a:buNone/>
            </a:pPr>
            <a:r>
              <a:rPr lang="en-US" sz="1800" b="1" dirty="0">
                <a:solidFill>
                  <a:srgbClr val="0F1E3D"/>
                </a:solidFill>
                <a:latin typeface="Calibri" pitchFamily="34" charset="0"/>
                <a:ea typeface="Calibri" pitchFamily="34" charset="-122"/>
                <a:cs typeface="Calibri" pitchFamily="34" charset="-120"/>
              </a:rPr>
              <a:t>Detection System</a:t>
            </a:r>
            <a:endParaRPr lang="en-US" sz="1800" dirty="0"/>
          </a:p>
        </p:txBody>
      </p:sp>
      <p:sp>
        <p:nvSpPr>
          <p:cNvPr id="20" name="Text 14"/>
          <p:cNvSpPr/>
          <p:nvPr/>
        </p:nvSpPr>
        <p:spPr>
          <a:xfrm>
            <a:off x="6126480" y="4206240"/>
            <a:ext cx="2468880" cy="1828800"/>
          </a:xfrm>
          <a:prstGeom prst="rect">
            <a:avLst/>
          </a:prstGeom>
          <a:noFill/>
          <a:ln/>
        </p:spPr>
        <p:txBody>
          <a:bodyPr wrap="square" lIns="0" tIns="0" rIns="0" bIns="0" rtlCol="0" anchor="t"/>
          <a:lstStyle/>
          <a:p>
            <a:pPr marL="0" indent="0" algn="ctr">
              <a:buNone/>
            </a:pPr>
            <a:r>
              <a:rPr lang="en-US" sz="1300" dirty="0">
                <a:solidFill>
                  <a:srgbClr val="1A2138"/>
                </a:solidFill>
                <a:latin typeface="Calibri" pitchFamily="34" charset="0"/>
                <a:ea typeface="Calibri" pitchFamily="34" charset="-122"/>
                <a:cs typeface="Calibri" pitchFamily="34" charset="-120"/>
              </a:rPr>
              <a:t>Detects failed logins and suspicious process activity.</a:t>
            </a:r>
            <a:endParaRPr lang="en-US" sz="1300" dirty="0"/>
          </a:p>
        </p:txBody>
      </p:sp>
      <p:sp>
        <p:nvSpPr>
          <p:cNvPr id="21" name="Shape 15"/>
          <p:cNvSpPr/>
          <p:nvPr/>
        </p:nvSpPr>
        <p:spPr>
          <a:xfrm>
            <a:off x="9189720" y="1417320"/>
            <a:ext cx="3017520" cy="4846320"/>
          </a:xfrm>
          <a:prstGeom prst="rect">
            <a:avLst/>
          </a:prstGeom>
          <a:solidFill>
            <a:srgbClr val="FFFFFF"/>
          </a:solidFill>
          <a:ln w="12700">
            <a:solidFill>
              <a:srgbClr val="D6DBE5"/>
            </a:solidFill>
            <a:prstDash val="solid"/>
          </a:ln>
          <a:effectLst>
            <a:outerShdw blurRad="127000" dist="38100" dir="5400000" algn="bl" rotWithShape="0">
              <a:srgbClr val="000000">
                <a:alpha val="8000"/>
              </a:srgbClr>
            </a:outerShdw>
          </a:effectLst>
        </p:spPr>
      </p:sp>
      <p:sp>
        <p:nvSpPr>
          <p:cNvPr id="22" name="Shape 16"/>
          <p:cNvSpPr/>
          <p:nvPr/>
        </p:nvSpPr>
        <p:spPr>
          <a:xfrm>
            <a:off x="9189720" y="1417320"/>
            <a:ext cx="3017520" cy="1371600"/>
          </a:xfrm>
          <a:prstGeom prst="rect">
            <a:avLst/>
          </a:prstGeom>
          <a:solidFill>
            <a:srgbClr val="2C3E5C"/>
          </a:solidFill>
          <a:ln w="12700">
            <a:solidFill>
              <a:srgbClr val="2C3E5C"/>
            </a:solidFill>
            <a:prstDash val="solid"/>
          </a:ln>
        </p:spPr>
      </p:sp>
      <p:pic>
        <p:nvPicPr>
          <p:cNvPr id="23" name="Image 4" descr="preencoded.png"/>
          <p:cNvPicPr>
            <a:picLocks noChangeAspect="1"/>
          </p:cNvPicPr>
          <p:nvPr/>
        </p:nvPicPr>
        <p:blipFill>
          <a:blip r:embed="rId6"/>
          <a:stretch>
            <a:fillRect/>
          </a:stretch>
        </p:blipFill>
        <p:spPr>
          <a:xfrm>
            <a:off x="10378440" y="1645920"/>
            <a:ext cx="640080" cy="640080"/>
          </a:xfrm>
          <a:prstGeom prst="rect">
            <a:avLst/>
          </a:prstGeom>
        </p:spPr>
      </p:pic>
      <p:sp>
        <p:nvSpPr>
          <p:cNvPr id="24" name="Text 17"/>
          <p:cNvSpPr/>
          <p:nvPr/>
        </p:nvSpPr>
        <p:spPr>
          <a:xfrm>
            <a:off x="9189720" y="2286000"/>
            <a:ext cx="3017520" cy="320040"/>
          </a:xfrm>
          <a:prstGeom prst="rect">
            <a:avLst/>
          </a:prstGeom>
          <a:noFill/>
          <a:ln/>
        </p:spPr>
        <p:txBody>
          <a:bodyPr wrap="square" lIns="0" tIns="0" rIns="0" bIns="0" rtlCol="0" anchor="ctr"/>
          <a:lstStyle/>
          <a:p>
            <a:pPr marL="0" indent="0" algn="ctr">
              <a:buNone/>
            </a:pPr>
            <a:r>
              <a:rPr lang="en-US" sz="1100" b="1" kern="0" spc="400" dirty="0">
                <a:solidFill>
                  <a:srgbClr val="00A8E8"/>
                </a:solidFill>
                <a:latin typeface="Calibri" pitchFamily="34" charset="0"/>
                <a:ea typeface="Calibri" pitchFamily="34" charset="-122"/>
                <a:cs typeface="Calibri" pitchFamily="34" charset="-120"/>
              </a:rPr>
              <a:t>Tool 2</a:t>
            </a:r>
            <a:endParaRPr lang="en-US" sz="1100" dirty="0"/>
          </a:p>
        </p:txBody>
      </p:sp>
      <p:sp>
        <p:nvSpPr>
          <p:cNvPr id="25" name="Text 18"/>
          <p:cNvSpPr/>
          <p:nvPr/>
        </p:nvSpPr>
        <p:spPr>
          <a:xfrm>
            <a:off x="9372600" y="2926080"/>
            <a:ext cx="2651760" cy="1188720"/>
          </a:xfrm>
          <a:prstGeom prst="rect">
            <a:avLst/>
          </a:prstGeom>
          <a:noFill/>
          <a:ln/>
        </p:spPr>
        <p:txBody>
          <a:bodyPr wrap="square" lIns="0" tIns="0" rIns="0" bIns="0" rtlCol="0" anchor="t"/>
          <a:lstStyle/>
          <a:p>
            <a:pPr marL="0" indent="0" algn="ctr">
              <a:buNone/>
            </a:pPr>
            <a:r>
              <a:rPr lang="en-US" sz="1800" b="1" dirty="0">
                <a:solidFill>
                  <a:srgbClr val="0F1E3D"/>
                </a:solidFill>
                <a:latin typeface="Calibri" pitchFamily="34" charset="0"/>
                <a:ea typeface="Calibri" pitchFamily="34" charset="-122"/>
                <a:cs typeface="Calibri" pitchFamily="34" charset="-120"/>
              </a:rPr>
              <a:t>File Integrity</a:t>
            </a:r>
            <a:endParaRPr lang="en-US" sz="1800" dirty="0"/>
          </a:p>
          <a:p>
            <a:pPr marL="0" indent="0" algn="ctr">
              <a:buNone/>
            </a:pPr>
            <a:r>
              <a:rPr lang="en-US" sz="1800" b="1" dirty="0">
                <a:solidFill>
                  <a:srgbClr val="0F1E3D"/>
                </a:solidFill>
                <a:latin typeface="Calibri" pitchFamily="34" charset="0"/>
                <a:ea typeface="Calibri" pitchFamily="34" charset="-122"/>
                <a:cs typeface="Calibri" pitchFamily="34" charset="-120"/>
              </a:rPr>
              <a:t>Monitoring System</a:t>
            </a:r>
            <a:endParaRPr lang="en-US" sz="1800" dirty="0"/>
          </a:p>
        </p:txBody>
      </p:sp>
      <p:sp>
        <p:nvSpPr>
          <p:cNvPr id="26" name="Text 19"/>
          <p:cNvSpPr/>
          <p:nvPr/>
        </p:nvSpPr>
        <p:spPr>
          <a:xfrm>
            <a:off x="9464040" y="4206240"/>
            <a:ext cx="2468880" cy="1828800"/>
          </a:xfrm>
          <a:prstGeom prst="rect">
            <a:avLst/>
          </a:prstGeom>
          <a:noFill/>
          <a:ln/>
        </p:spPr>
        <p:txBody>
          <a:bodyPr wrap="square" lIns="0" tIns="0" rIns="0" bIns="0" rtlCol="0" anchor="t"/>
          <a:lstStyle/>
          <a:p>
            <a:pPr marL="0" indent="0" algn="ctr">
              <a:buNone/>
            </a:pPr>
            <a:r>
              <a:rPr lang="en-US" sz="1300" dirty="0">
                <a:solidFill>
                  <a:srgbClr val="1A2138"/>
                </a:solidFill>
                <a:latin typeface="Calibri" pitchFamily="34" charset="0"/>
                <a:ea typeface="Calibri" pitchFamily="34" charset="-122"/>
                <a:cs typeface="Calibri" pitchFamily="34" charset="-120"/>
              </a:rPr>
              <a:t>Uses SHA-256 hashing to detect file tampering, deletion, and new files.</a:t>
            </a:r>
            <a:endParaRPr lang="en-US" sz="1300" dirty="0"/>
          </a:p>
        </p:txBody>
      </p:sp>
      <p:sp>
        <p:nvSpPr>
          <p:cNvPr id="27" name="Shape 20"/>
          <p:cNvSpPr/>
          <p:nvPr/>
        </p:nvSpPr>
        <p:spPr>
          <a:xfrm>
            <a:off x="0" y="6537960"/>
            <a:ext cx="12191695" cy="320040"/>
          </a:xfrm>
          <a:prstGeom prst="rect">
            <a:avLst/>
          </a:prstGeom>
          <a:solidFill>
            <a:srgbClr val="0F1E3D"/>
          </a:solidFill>
          <a:ln w="12700">
            <a:solidFill>
              <a:srgbClr val="0F1E3D"/>
            </a:solidFill>
            <a:prstDash val="solid"/>
          </a:ln>
        </p:spPr>
      </p:sp>
      <p:sp>
        <p:nvSpPr>
          <p:cNvPr id="28" name="Text 21"/>
          <p:cNvSpPr/>
          <p:nvPr/>
        </p:nvSpPr>
        <p:spPr>
          <a:xfrm>
            <a:off x="457200" y="6547104"/>
            <a:ext cx="7315200" cy="30175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Information Security Final Project  |  Farid &amp; Sami</a:t>
            </a:r>
            <a:endParaRPr lang="en-US" sz="900" dirty="0"/>
          </a:p>
        </p:txBody>
      </p:sp>
      <p:sp>
        <p:nvSpPr>
          <p:cNvPr id="29" name="Text 22"/>
          <p:cNvSpPr/>
          <p:nvPr/>
        </p:nvSpPr>
        <p:spPr>
          <a:xfrm>
            <a:off x="10820095" y="6547104"/>
            <a:ext cx="914400" cy="30175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640080"/>
          </a:xfrm>
          <a:prstGeom prst="rect">
            <a:avLst/>
          </a:prstGeom>
          <a:noFill/>
          <a:ln/>
        </p:spPr>
        <p:txBody>
          <a:bodyPr wrap="square" lIns="0" tIns="0" rIns="0" bIns="0" rtlCol="0" anchor="ctr"/>
          <a:lstStyle/>
          <a:p>
            <a:pPr marL="0" indent="0" algn="l">
              <a:buNone/>
            </a:pPr>
            <a:r>
              <a:rPr lang="en-US" sz="2800" b="1" dirty="0">
                <a:solidFill>
                  <a:srgbClr val="0F1E3D"/>
                </a:solidFill>
                <a:latin typeface="Calibri" pitchFamily="34" charset="0"/>
                <a:ea typeface="Calibri" pitchFamily="34" charset="-122"/>
                <a:cs typeface="Calibri" pitchFamily="34" charset="-120"/>
              </a:rPr>
              <a:t>Problem Statement</a:t>
            </a:r>
            <a:endParaRPr lang="en-US" sz="2800" dirty="0"/>
          </a:p>
        </p:txBody>
      </p:sp>
      <p:sp>
        <p:nvSpPr>
          <p:cNvPr id="3" name="Text 1"/>
          <p:cNvSpPr/>
          <p:nvPr/>
        </p:nvSpPr>
        <p:spPr>
          <a:xfrm>
            <a:off x="548640" y="868680"/>
            <a:ext cx="11094415" cy="320040"/>
          </a:xfrm>
          <a:prstGeom prst="rect">
            <a:avLst/>
          </a:prstGeom>
          <a:noFill/>
          <a:ln/>
        </p:spPr>
        <p:txBody>
          <a:bodyPr wrap="square" lIns="0" tIns="0" rIns="0" bIns="0" rtlCol="0" anchor="ctr"/>
          <a:lstStyle/>
          <a:p>
            <a:pPr marL="0" indent="0" algn="l">
              <a:buNone/>
            </a:pPr>
            <a:r>
              <a:rPr lang="en-US" sz="1300" i="1" dirty="0">
                <a:solidFill>
                  <a:srgbClr val="5B6B85"/>
                </a:solidFill>
                <a:latin typeface="Calibri" pitchFamily="34" charset="0"/>
                <a:ea typeface="Calibri" pitchFamily="34" charset="-122"/>
                <a:cs typeface="Calibri" pitchFamily="34" charset="-120"/>
              </a:rPr>
              <a:t>The security problems we want to detect</a:t>
            </a:r>
            <a:endParaRPr lang="en-US" sz="1300" dirty="0"/>
          </a:p>
        </p:txBody>
      </p:sp>
      <p:sp>
        <p:nvSpPr>
          <p:cNvPr id="4" name="Shape 2"/>
          <p:cNvSpPr/>
          <p:nvPr/>
        </p:nvSpPr>
        <p:spPr>
          <a:xfrm>
            <a:off x="274320" y="457200"/>
            <a:ext cx="109728" cy="365760"/>
          </a:xfrm>
          <a:prstGeom prst="rect">
            <a:avLst/>
          </a:prstGeom>
          <a:solidFill>
            <a:srgbClr val="00A8E8"/>
          </a:solidFill>
          <a:ln w="12700">
            <a:solidFill>
              <a:srgbClr val="00A8E8"/>
            </a:solidFill>
            <a:prstDash val="solid"/>
          </a:ln>
        </p:spPr>
      </p:sp>
      <p:sp>
        <p:nvSpPr>
          <p:cNvPr id="5" name="Text 3"/>
          <p:cNvSpPr/>
          <p:nvPr/>
        </p:nvSpPr>
        <p:spPr>
          <a:xfrm>
            <a:off x="548640" y="1371600"/>
            <a:ext cx="1106424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Modern systems face many threats. These four problems are common signs of intrusion, malware, ransomware, or full system compromise.</a:t>
            </a:r>
            <a:endParaRPr lang="en-US" sz="1300" dirty="0"/>
          </a:p>
        </p:txBody>
      </p:sp>
      <p:sp>
        <p:nvSpPr>
          <p:cNvPr id="6" name="Shape 4"/>
          <p:cNvSpPr/>
          <p:nvPr/>
        </p:nvSpPr>
        <p:spPr>
          <a:xfrm>
            <a:off x="548640" y="2103120"/>
            <a:ext cx="5349240" cy="1691640"/>
          </a:xfrm>
          <a:prstGeom prst="rect">
            <a:avLst/>
          </a:prstGeom>
          <a:solidFill>
            <a:srgbClr val="FFFFFF"/>
          </a:solidFill>
          <a:ln w="12700">
            <a:solidFill>
              <a:srgbClr val="D6DBE5"/>
            </a:solidFill>
            <a:prstDash val="solid"/>
          </a:ln>
          <a:effectLst>
            <a:outerShdw blurRad="101600" dist="25400" dir="5400000" algn="bl" rotWithShape="0">
              <a:srgbClr val="000000">
                <a:alpha val="6000"/>
              </a:srgbClr>
            </a:outerShdw>
          </a:effectLst>
        </p:spPr>
      </p:sp>
      <p:sp>
        <p:nvSpPr>
          <p:cNvPr id="7" name="Shape 5"/>
          <p:cNvSpPr/>
          <p:nvPr/>
        </p:nvSpPr>
        <p:spPr>
          <a:xfrm>
            <a:off x="548640" y="2103120"/>
            <a:ext cx="91440" cy="1691640"/>
          </a:xfrm>
          <a:prstGeom prst="rect">
            <a:avLst/>
          </a:prstGeom>
          <a:solidFill>
            <a:srgbClr val="D64545"/>
          </a:solidFill>
          <a:ln w="12700">
            <a:solidFill>
              <a:srgbClr val="D64545"/>
            </a:solidFill>
            <a:prstDash val="solid"/>
          </a:ln>
        </p:spPr>
      </p:sp>
      <p:sp>
        <p:nvSpPr>
          <p:cNvPr id="8" name="Shape 6"/>
          <p:cNvSpPr/>
          <p:nvPr/>
        </p:nvSpPr>
        <p:spPr>
          <a:xfrm>
            <a:off x="868680" y="2468880"/>
            <a:ext cx="960120" cy="960120"/>
          </a:xfrm>
          <a:prstGeom prst="ellipse">
            <a:avLst/>
          </a:prstGeom>
          <a:solidFill>
            <a:srgbClr val="0F1E3D"/>
          </a:solidFill>
          <a:ln w="12700">
            <a:solidFill>
              <a:srgbClr val="0F1E3D"/>
            </a:solidFill>
            <a:prstDash val="solid"/>
          </a:ln>
        </p:spPr>
      </p:sp>
      <p:pic>
        <p:nvPicPr>
          <p:cNvPr id="9" name="Image 0" descr="preencoded.png"/>
          <p:cNvPicPr>
            <a:picLocks noChangeAspect="1"/>
          </p:cNvPicPr>
          <p:nvPr/>
        </p:nvPicPr>
        <p:blipFill>
          <a:blip r:embed="rId3"/>
          <a:stretch>
            <a:fillRect/>
          </a:stretch>
        </p:blipFill>
        <p:spPr>
          <a:xfrm>
            <a:off x="1097280" y="2697480"/>
            <a:ext cx="502920" cy="502920"/>
          </a:xfrm>
          <a:prstGeom prst="rect">
            <a:avLst/>
          </a:prstGeom>
        </p:spPr>
      </p:pic>
      <p:sp>
        <p:nvSpPr>
          <p:cNvPr id="10" name="Text 7"/>
          <p:cNvSpPr/>
          <p:nvPr/>
        </p:nvSpPr>
        <p:spPr>
          <a:xfrm>
            <a:off x="2011680" y="2377440"/>
            <a:ext cx="3749040" cy="457200"/>
          </a:xfrm>
          <a:prstGeom prst="rect">
            <a:avLst/>
          </a:prstGeom>
          <a:noFill/>
          <a:ln/>
        </p:spPr>
        <p:txBody>
          <a:bodyPr wrap="square" lIns="0" tIns="0" rIns="0" bIns="0" rtlCol="0" anchor="ctr"/>
          <a:lstStyle/>
          <a:p>
            <a:pPr marL="0" indent="0" algn="l">
              <a:buNone/>
            </a:pPr>
            <a:r>
              <a:rPr lang="en-US" sz="1500" b="1" dirty="0">
                <a:solidFill>
                  <a:srgbClr val="0F1E3D"/>
                </a:solidFill>
                <a:latin typeface="Calibri" pitchFamily="34" charset="0"/>
                <a:ea typeface="Calibri" pitchFamily="34" charset="-122"/>
                <a:cs typeface="Calibri" pitchFamily="34" charset="-120"/>
              </a:rPr>
              <a:t>Failed or unauthorized logins</a:t>
            </a:r>
            <a:endParaRPr lang="en-US" sz="1500" dirty="0"/>
          </a:p>
        </p:txBody>
      </p:sp>
      <p:sp>
        <p:nvSpPr>
          <p:cNvPr id="11" name="Text 8"/>
          <p:cNvSpPr/>
          <p:nvPr/>
        </p:nvSpPr>
        <p:spPr>
          <a:xfrm>
            <a:off x="2011680" y="2880360"/>
            <a:ext cx="3749040" cy="822960"/>
          </a:xfrm>
          <a:prstGeom prst="rect">
            <a:avLst/>
          </a:prstGeom>
          <a:noFill/>
          <a:ln/>
        </p:spPr>
        <p:txBody>
          <a:bodyPr wrap="square" lIns="0" tIns="0" rIns="0" bIns="0" rtlCol="0" anchor="t"/>
          <a:lstStyle/>
          <a:p>
            <a:pPr marL="0" indent="0" algn="l">
              <a:buNone/>
            </a:pPr>
            <a:r>
              <a:rPr lang="en-US" sz="1200" dirty="0">
                <a:solidFill>
                  <a:srgbClr val="1A2138"/>
                </a:solidFill>
                <a:latin typeface="Calibri" pitchFamily="34" charset="0"/>
                <a:ea typeface="Calibri" pitchFamily="34" charset="-122"/>
                <a:cs typeface="Calibri" pitchFamily="34" charset="-120"/>
              </a:rPr>
              <a:t>Repeated wrong passwords often mean a brute-force attack.</a:t>
            </a:r>
            <a:endParaRPr lang="en-US" sz="1200" dirty="0"/>
          </a:p>
        </p:txBody>
      </p:sp>
      <p:sp>
        <p:nvSpPr>
          <p:cNvPr id="12" name="Shape 9"/>
          <p:cNvSpPr/>
          <p:nvPr/>
        </p:nvSpPr>
        <p:spPr>
          <a:xfrm>
            <a:off x="6263640" y="2103120"/>
            <a:ext cx="5349240" cy="1691640"/>
          </a:xfrm>
          <a:prstGeom prst="rect">
            <a:avLst/>
          </a:prstGeom>
          <a:solidFill>
            <a:srgbClr val="FFFFFF"/>
          </a:solidFill>
          <a:ln w="12700">
            <a:solidFill>
              <a:srgbClr val="D6DBE5"/>
            </a:solidFill>
            <a:prstDash val="solid"/>
          </a:ln>
          <a:effectLst>
            <a:outerShdw blurRad="101600" dist="25400" dir="5400000" algn="bl" rotWithShape="0">
              <a:srgbClr val="000000">
                <a:alpha val="6000"/>
              </a:srgbClr>
            </a:outerShdw>
          </a:effectLst>
        </p:spPr>
      </p:sp>
      <p:sp>
        <p:nvSpPr>
          <p:cNvPr id="13" name="Shape 10"/>
          <p:cNvSpPr/>
          <p:nvPr/>
        </p:nvSpPr>
        <p:spPr>
          <a:xfrm>
            <a:off x="6263640" y="2103120"/>
            <a:ext cx="91440" cy="1691640"/>
          </a:xfrm>
          <a:prstGeom prst="rect">
            <a:avLst/>
          </a:prstGeom>
          <a:solidFill>
            <a:srgbClr val="D64545"/>
          </a:solidFill>
          <a:ln w="12700">
            <a:solidFill>
              <a:srgbClr val="D64545"/>
            </a:solidFill>
            <a:prstDash val="solid"/>
          </a:ln>
        </p:spPr>
      </p:sp>
      <p:sp>
        <p:nvSpPr>
          <p:cNvPr id="14" name="Shape 11"/>
          <p:cNvSpPr/>
          <p:nvPr/>
        </p:nvSpPr>
        <p:spPr>
          <a:xfrm>
            <a:off x="6583680" y="2468880"/>
            <a:ext cx="960120" cy="960120"/>
          </a:xfrm>
          <a:prstGeom prst="ellipse">
            <a:avLst/>
          </a:prstGeom>
          <a:solidFill>
            <a:srgbClr val="0F1E3D"/>
          </a:solidFill>
          <a:ln w="12700">
            <a:solidFill>
              <a:srgbClr val="0F1E3D"/>
            </a:solidFill>
            <a:prstDash val="solid"/>
          </a:ln>
        </p:spPr>
      </p:sp>
      <p:pic>
        <p:nvPicPr>
          <p:cNvPr id="15" name="Image 1" descr="preencoded.png"/>
          <p:cNvPicPr>
            <a:picLocks noChangeAspect="1"/>
          </p:cNvPicPr>
          <p:nvPr/>
        </p:nvPicPr>
        <p:blipFill>
          <a:blip r:embed="rId4"/>
          <a:stretch>
            <a:fillRect/>
          </a:stretch>
        </p:blipFill>
        <p:spPr>
          <a:xfrm>
            <a:off x="6812280" y="2697480"/>
            <a:ext cx="502920" cy="502920"/>
          </a:xfrm>
          <a:prstGeom prst="rect">
            <a:avLst/>
          </a:prstGeom>
        </p:spPr>
      </p:pic>
      <p:sp>
        <p:nvSpPr>
          <p:cNvPr id="16" name="Text 12"/>
          <p:cNvSpPr/>
          <p:nvPr/>
        </p:nvSpPr>
        <p:spPr>
          <a:xfrm>
            <a:off x="7726680" y="2377440"/>
            <a:ext cx="3749040" cy="457200"/>
          </a:xfrm>
          <a:prstGeom prst="rect">
            <a:avLst/>
          </a:prstGeom>
          <a:noFill/>
          <a:ln/>
        </p:spPr>
        <p:txBody>
          <a:bodyPr wrap="square" lIns="0" tIns="0" rIns="0" bIns="0" rtlCol="0" anchor="ctr"/>
          <a:lstStyle/>
          <a:p>
            <a:pPr marL="0" indent="0" algn="l">
              <a:buNone/>
            </a:pPr>
            <a:r>
              <a:rPr lang="en-US" sz="1500" b="1" dirty="0">
                <a:solidFill>
                  <a:srgbClr val="0F1E3D"/>
                </a:solidFill>
                <a:latin typeface="Calibri" pitchFamily="34" charset="0"/>
                <a:ea typeface="Calibri" pitchFamily="34" charset="-122"/>
                <a:cs typeface="Calibri" pitchFamily="34" charset="-120"/>
              </a:rPr>
              <a:t>Suspicious running processes</a:t>
            </a:r>
            <a:endParaRPr lang="en-US" sz="1500" dirty="0"/>
          </a:p>
        </p:txBody>
      </p:sp>
      <p:sp>
        <p:nvSpPr>
          <p:cNvPr id="17" name="Text 13"/>
          <p:cNvSpPr/>
          <p:nvPr/>
        </p:nvSpPr>
        <p:spPr>
          <a:xfrm>
            <a:off x="7726680" y="2880360"/>
            <a:ext cx="3749040" cy="822960"/>
          </a:xfrm>
          <a:prstGeom prst="rect">
            <a:avLst/>
          </a:prstGeom>
          <a:noFill/>
          <a:ln/>
        </p:spPr>
        <p:txBody>
          <a:bodyPr wrap="square" lIns="0" tIns="0" rIns="0" bIns="0" rtlCol="0" anchor="t"/>
          <a:lstStyle/>
          <a:p>
            <a:pPr marL="0" indent="0" algn="l">
              <a:buNone/>
            </a:pPr>
            <a:r>
              <a:rPr lang="en-US" sz="1200" dirty="0">
                <a:solidFill>
                  <a:srgbClr val="1A2138"/>
                </a:solidFill>
                <a:latin typeface="Calibri" pitchFamily="34" charset="0"/>
                <a:ea typeface="Calibri" pitchFamily="34" charset="-122"/>
                <a:cs typeface="Calibri" pitchFamily="34" charset="-120"/>
              </a:rPr>
              <a:t>Malware often hides as background processes.</a:t>
            </a:r>
            <a:endParaRPr lang="en-US" sz="1200" dirty="0"/>
          </a:p>
        </p:txBody>
      </p:sp>
      <p:sp>
        <p:nvSpPr>
          <p:cNvPr id="18" name="Shape 14"/>
          <p:cNvSpPr/>
          <p:nvPr/>
        </p:nvSpPr>
        <p:spPr>
          <a:xfrm>
            <a:off x="548640" y="4023360"/>
            <a:ext cx="5349240" cy="1691640"/>
          </a:xfrm>
          <a:prstGeom prst="rect">
            <a:avLst/>
          </a:prstGeom>
          <a:solidFill>
            <a:srgbClr val="FFFFFF"/>
          </a:solidFill>
          <a:ln w="12700">
            <a:solidFill>
              <a:srgbClr val="D6DBE5"/>
            </a:solidFill>
            <a:prstDash val="solid"/>
          </a:ln>
          <a:effectLst>
            <a:outerShdw blurRad="101600" dist="25400" dir="5400000" algn="bl" rotWithShape="0">
              <a:srgbClr val="000000">
                <a:alpha val="6000"/>
              </a:srgbClr>
            </a:outerShdw>
          </a:effectLst>
        </p:spPr>
      </p:sp>
      <p:sp>
        <p:nvSpPr>
          <p:cNvPr id="19" name="Shape 15"/>
          <p:cNvSpPr/>
          <p:nvPr/>
        </p:nvSpPr>
        <p:spPr>
          <a:xfrm>
            <a:off x="548640" y="4023360"/>
            <a:ext cx="91440" cy="1691640"/>
          </a:xfrm>
          <a:prstGeom prst="rect">
            <a:avLst/>
          </a:prstGeom>
          <a:solidFill>
            <a:srgbClr val="D64545"/>
          </a:solidFill>
          <a:ln w="12700">
            <a:solidFill>
              <a:srgbClr val="D64545"/>
            </a:solidFill>
            <a:prstDash val="solid"/>
          </a:ln>
        </p:spPr>
      </p:sp>
      <p:sp>
        <p:nvSpPr>
          <p:cNvPr id="20" name="Shape 16"/>
          <p:cNvSpPr/>
          <p:nvPr/>
        </p:nvSpPr>
        <p:spPr>
          <a:xfrm>
            <a:off x="868680" y="4389120"/>
            <a:ext cx="960120" cy="960120"/>
          </a:xfrm>
          <a:prstGeom prst="ellipse">
            <a:avLst/>
          </a:prstGeom>
          <a:solidFill>
            <a:srgbClr val="0F1E3D"/>
          </a:solidFill>
          <a:ln w="12700">
            <a:solidFill>
              <a:srgbClr val="0F1E3D"/>
            </a:solidFill>
            <a:prstDash val="solid"/>
          </a:ln>
        </p:spPr>
      </p:sp>
      <p:pic>
        <p:nvPicPr>
          <p:cNvPr id="21" name="Image 2" descr="preencoded.png"/>
          <p:cNvPicPr>
            <a:picLocks noChangeAspect="1"/>
          </p:cNvPicPr>
          <p:nvPr/>
        </p:nvPicPr>
        <p:blipFill>
          <a:blip r:embed="rId5"/>
          <a:stretch>
            <a:fillRect/>
          </a:stretch>
        </p:blipFill>
        <p:spPr>
          <a:xfrm>
            <a:off x="1097280" y="4617720"/>
            <a:ext cx="502920" cy="502920"/>
          </a:xfrm>
          <a:prstGeom prst="rect">
            <a:avLst/>
          </a:prstGeom>
        </p:spPr>
      </p:pic>
      <p:sp>
        <p:nvSpPr>
          <p:cNvPr id="22" name="Text 17"/>
          <p:cNvSpPr/>
          <p:nvPr/>
        </p:nvSpPr>
        <p:spPr>
          <a:xfrm>
            <a:off x="2011680" y="4297680"/>
            <a:ext cx="3749040" cy="457200"/>
          </a:xfrm>
          <a:prstGeom prst="rect">
            <a:avLst/>
          </a:prstGeom>
          <a:noFill/>
          <a:ln/>
        </p:spPr>
        <p:txBody>
          <a:bodyPr wrap="square" lIns="0" tIns="0" rIns="0" bIns="0" rtlCol="0" anchor="ctr"/>
          <a:lstStyle/>
          <a:p>
            <a:pPr marL="0" indent="0" algn="l">
              <a:buNone/>
            </a:pPr>
            <a:r>
              <a:rPr lang="en-US" sz="1500" b="1" dirty="0">
                <a:solidFill>
                  <a:srgbClr val="0F1E3D"/>
                </a:solidFill>
                <a:latin typeface="Calibri" pitchFamily="34" charset="0"/>
                <a:ea typeface="Calibri" pitchFamily="34" charset="-122"/>
                <a:cs typeface="Calibri" pitchFamily="34" charset="-120"/>
              </a:rPr>
              <a:t>Unauthorized file changes</a:t>
            </a:r>
            <a:endParaRPr lang="en-US" sz="1500" dirty="0"/>
          </a:p>
        </p:txBody>
      </p:sp>
      <p:sp>
        <p:nvSpPr>
          <p:cNvPr id="23" name="Text 18"/>
          <p:cNvSpPr/>
          <p:nvPr/>
        </p:nvSpPr>
        <p:spPr>
          <a:xfrm>
            <a:off x="2011680" y="4800600"/>
            <a:ext cx="3749040" cy="822960"/>
          </a:xfrm>
          <a:prstGeom prst="rect">
            <a:avLst/>
          </a:prstGeom>
          <a:noFill/>
          <a:ln/>
        </p:spPr>
        <p:txBody>
          <a:bodyPr wrap="square" lIns="0" tIns="0" rIns="0" bIns="0" rtlCol="0" anchor="t"/>
          <a:lstStyle/>
          <a:p>
            <a:pPr marL="0" indent="0" algn="l">
              <a:buNone/>
            </a:pPr>
            <a:r>
              <a:rPr lang="en-US" sz="1200" dirty="0">
                <a:solidFill>
                  <a:srgbClr val="1A2138"/>
                </a:solidFill>
                <a:latin typeface="Calibri" pitchFamily="34" charset="0"/>
                <a:ea typeface="Calibri" pitchFamily="34" charset="-122"/>
                <a:cs typeface="Calibri" pitchFamily="34" charset="-120"/>
              </a:rPr>
              <a:t>Attackers may modify config or system files silently.</a:t>
            </a:r>
            <a:endParaRPr lang="en-US" sz="1200" dirty="0"/>
          </a:p>
        </p:txBody>
      </p:sp>
      <p:sp>
        <p:nvSpPr>
          <p:cNvPr id="24" name="Shape 19"/>
          <p:cNvSpPr/>
          <p:nvPr/>
        </p:nvSpPr>
        <p:spPr>
          <a:xfrm>
            <a:off x="6263640" y="4023360"/>
            <a:ext cx="5349240" cy="1691640"/>
          </a:xfrm>
          <a:prstGeom prst="rect">
            <a:avLst/>
          </a:prstGeom>
          <a:solidFill>
            <a:srgbClr val="FFFFFF"/>
          </a:solidFill>
          <a:ln w="12700">
            <a:solidFill>
              <a:srgbClr val="D6DBE5"/>
            </a:solidFill>
            <a:prstDash val="solid"/>
          </a:ln>
          <a:effectLst>
            <a:outerShdw blurRad="101600" dist="25400" dir="5400000" algn="bl" rotWithShape="0">
              <a:srgbClr val="000000">
                <a:alpha val="6000"/>
              </a:srgbClr>
            </a:outerShdw>
          </a:effectLst>
        </p:spPr>
      </p:sp>
      <p:sp>
        <p:nvSpPr>
          <p:cNvPr id="25" name="Shape 20"/>
          <p:cNvSpPr/>
          <p:nvPr/>
        </p:nvSpPr>
        <p:spPr>
          <a:xfrm>
            <a:off x="6263640" y="4023360"/>
            <a:ext cx="91440" cy="1691640"/>
          </a:xfrm>
          <a:prstGeom prst="rect">
            <a:avLst/>
          </a:prstGeom>
          <a:solidFill>
            <a:srgbClr val="D64545"/>
          </a:solidFill>
          <a:ln w="12700">
            <a:solidFill>
              <a:srgbClr val="D64545"/>
            </a:solidFill>
            <a:prstDash val="solid"/>
          </a:ln>
        </p:spPr>
      </p:sp>
      <p:sp>
        <p:nvSpPr>
          <p:cNvPr id="26" name="Shape 21"/>
          <p:cNvSpPr/>
          <p:nvPr/>
        </p:nvSpPr>
        <p:spPr>
          <a:xfrm>
            <a:off x="6583680" y="4389120"/>
            <a:ext cx="960120" cy="960120"/>
          </a:xfrm>
          <a:prstGeom prst="ellipse">
            <a:avLst/>
          </a:prstGeom>
          <a:solidFill>
            <a:srgbClr val="0F1E3D"/>
          </a:solidFill>
          <a:ln w="12700">
            <a:solidFill>
              <a:srgbClr val="0F1E3D"/>
            </a:solidFill>
            <a:prstDash val="solid"/>
          </a:ln>
        </p:spPr>
      </p:sp>
      <p:pic>
        <p:nvPicPr>
          <p:cNvPr id="27" name="Image 3" descr="preencoded.png"/>
          <p:cNvPicPr>
            <a:picLocks noChangeAspect="1"/>
          </p:cNvPicPr>
          <p:nvPr/>
        </p:nvPicPr>
        <p:blipFill>
          <a:blip r:embed="rId6"/>
          <a:stretch>
            <a:fillRect/>
          </a:stretch>
        </p:blipFill>
        <p:spPr>
          <a:xfrm>
            <a:off x="6812280" y="4617720"/>
            <a:ext cx="502920" cy="502920"/>
          </a:xfrm>
          <a:prstGeom prst="rect">
            <a:avLst/>
          </a:prstGeom>
        </p:spPr>
      </p:pic>
      <p:sp>
        <p:nvSpPr>
          <p:cNvPr id="28" name="Text 22"/>
          <p:cNvSpPr/>
          <p:nvPr/>
        </p:nvSpPr>
        <p:spPr>
          <a:xfrm>
            <a:off x="7726680" y="4297680"/>
            <a:ext cx="3749040" cy="457200"/>
          </a:xfrm>
          <a:prstGeom prst="rect">
            <a:avLst/>
          </a:prstGeom>
          <a:noFill/>
          <a:ln/>
        </p:spPr>
        <p:txBody>
          <a:bodyPr wrap="square" lIns="0" tIns="0" rIns="0" bIns="0" rtlCol="0" anchor="ctr"/>
          <a:lstStyle/>
          <a:p>
            <a:pPr marL="0" indent="0" algn="l">
              <a:buNone/>
            </a:pPr>
            <a:r>
              <a:rPr lang="en-US" sz="1500" b="1" dirty="0">
                <a:solidFill>
                  <a:srgbClr val="0F1E3D"/>
                </a:solidFill>
                <a:latin typeface="Calibri" pitchFamily="34" charset="0"/>
                <a:ea typeface="Calibri" pitchFamily="34" charset="-122"/>
                <a:cs typeface="Calibri" pitchFamily="34" charset="-120"/>
              </a:rPr>
              <a:t>Deleted or new files</a:t>
            </a:r>
            <a:endParaRPr lang="en-US" sz="1500" dirty="0"/>
          </a:p>
        </p:txBody>
      </p:sp>
      <p:sp>
        <p:nvSpPr>
          <p:cNvPr id="29" name="Text 23"/>
          <p:cNvSpPr/>
          <p:nvPr/>
        </p:nvSpPr>
        <p:spPr>
          <a:xfrm>
            <a:off x="7726680" y="4800600"/>
            <a:ext cx="3749040" cy="822960"/>
          </a:xfrm>
          <a:prstGeom prst="rect">
            <a:avLst/>
          </a:prstGeom>
          <a:noFill/>
          <a:ln/>
        </p:spPr>
        <p:txBody>
          <a:bodyPr wrap="square" lIns="0" tIns="0" rIns="0" bIns="0" rtlCol="0" anchor="t"/>
          <a:lstStyle/>
          <a:p>
            <a:pPr marL="0" indent="0" algn="l">
              <a:buNone/>
            </a:pPr>
            <a:r>
              <a:rPr lang="en-US" sz="1200" dirty="0">
                <a:solidFill>
                  <a:srgbClr val="1A2138"/>
                </a:solidFill>
                <a:latin typeface="Calibri" pitchFamily="34" charset="0"/>
                <a:ea typeface="Calibri" pitchFamily="34" charset="-122"/>
                <a:cs typeface="Calibri" pitchFamily="34" charset="-120"/>
              </a:rPr>
              <a:t>Sudden file changes can mean ransomware or planted tools.</a:t>
            </a:r>
            <a:endParaRPr lang="en-US" sz="1200" dirty="0"/>
          </a:p>
        </p:txBody>
      </p:sp>
      <p:sp>
        <p:nvSpPr>
          <p:cNvPr id="30" name="Shape 24"/>
          <p:cNvSpPr/>
          <p:nvPr/>
        </p:nvSpPr>
        <p:spPr>
          <a:xfrm>
            <a:off x="548640" y="6126480"/>
            <a:ext cx="11064240" cy="274320"/>
          </a:xfrm>
          <a:prstGeom prst="rect">
            <a:avLst/>
          </a:prstGeom>
          <a:solidFill>
            <a:srgbClr val="0F1E3D"/>
          </a:solidFill>
          <a:ln w="12700">
            <a:solidFill>
              <a:srgbClr val="0F1E3D"/>
            </a:solidFill>
            <a:prstDash val="solid"/>
          </a:ln>
        </p:spPr>
      </p:sp>
      <p:sp>
        <p:nvSpPr>
          <p:cNvPr id="31" name="Text 25"/>
          <p:cNvSpPr/>
          <p:nvPr/>
        </p:nvSpPr>
        <p:spPr>
          <a:xfrm>
            <a:off x="548640" y="6126480"/>
            <a:ext cx="11064240" cy="274320"/>
          </a:xfrm>
          <a:prstGeom prst="rect">
            <a:avLst/>
          </a:prstGeom>
          <a:noFill/>
          <a:ln/>
        </p:spPr>
        <p:txBody>
          <a:bodyPr wrap="square" lIns="0" tIns="0" rIns="0" bIns="0" rtlCol="0" anchor="ctr"/>
          <a:lstStyle/>
          <a:p>
            <a:pPr marL="0" indent="0" algn="ctr">
              <a:buNone/>
            </a:pPr>
            <a:r>
              <a:rPr lang="en-US" sz="1100" b="1" i="1" dirty="0">
                <a:solidFill>
                  <a:srgbClr val="FFFFFF"/>
                </a:solidFill>
                <a:latin typeface="Calibri" pitchFamily="34" charset="0"/>
                <a:ea typeface="Calibri" pitchFamily="34" charset="-122"/>
                <a:cs typeface="Calibri" pitchFamily="34" charset="-120"/>
              </a:rPr>
              <a:t>These issues are signs of intrusion, malware, ransomware, or system compromise.</a:t>
            </a:r>
            <a:endParaRPr lang="en-US" sz="1100" dirty="0"/>
          </a:p>
        </p:txBody>
      </p:sp>
      <p:sp>
        <p:nvSpPr>
          <p:cNvPr id="32" name="Shape 26"/>
          <p:cNvSpPr/>
          <p:nvPr/>
        </p:nvSpPr>
        <p:spPr>
          <a:xfrm>
            <a:off x="0" y="6537960"/>
            <a:ext cx="12191695" cy="320040"/>
          </a:xfrm>
          <a:prstGeom prst="rect">
            <a:avLst/>
          </a:prstGeom>
          <a:solidFill>
            <a:srgbClr val="0F1E3D"/>
          </a:solidFill>
          <a:ln w="12700">
            <a:solidFill>
              <a:srgbClr val="0F1E3D"/>
            </a:solidFill>
            <a:prstDash val="solid"/>
          </a:ln>
        </p:spPr>
      </p:sp>
      <p:sp>
        <p:nvSpPr>
          <p:cNvPr id="33" name="Text 27"/>
          <p:cNvSpPr/>
          <p:nvPr/>
        </p:nvSpPr>
        <p:spPr>
          <a:xfrm>
            <a:off x="457200" y="6547104"/>
            <a:ext cx="7315200" cy="30175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Information Security Final Project  |  Farid &amp; Sami</a:t>
            </a:r>
            <a:endParaRPr lang="en-US" sz="900" dirty="0"/>
          </a:p>
        </p:txBody>
      </p:sp>
      <p:sp>
        <p:nvSpPr>
          <p:cNvPr id="34" name="Text 28"/>
          <p:cNvSpPr/>
          <p:nvPr/>
        </p:nvSpPr>
        <p:spPr>
          <a:xfrm>
            <a:off x="10820095" y="6547104"/>
            <a:ext cx="914400" cy="30175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640080"/>
          </a:xfrm>
          <a:prstGeom prst="rect">
            <a:avLst/>
          </a:prstGeom>
          <a:noFill/>
          <a:ln/>
        </p:spPr>
        <p:txBody>
          <a:bodyPr wrap="square" lIns="0" tIns="0" rIns="0" bIns="0" rtlCol="0" anchor="ctr"/>
          <a:lstStyle/>
          <a:p>
            <a:pPr marL="0" indent="0" algn="l">
              <a:buNone/>
            </a:pPr>
            <a:r>
              <a:rPr lang="en-US" sz="2800" b="1" dirty="0">
                <a:solidFill>
                  <a:srgbClr val="0F1E3D"/>
                </a:solidFill>
                <a:latin typeface="Calibri" pitchFamily="34" charset="0"/>
                <a:ea typeface="Calibri" pitchFamily="34" charset="-122"/>
                <a:cs typeface="Calibri" pitchFamily="34" charset="-120"/>
              </a:rPr>
              <a:t>Project Objectives</a:t>
            </a:r>
            <a:endParaRPr lang="en-US" sz="2800" dirty="0"/>
          </a:p>
        </p:txBody>
      </p:sp>
      <p:sp>
        <p:nvSpPr>
          <p:cNvPr id="3" name="Text 1"/>
          <p:cNvSpPr/>
          <p:nvPr/>
        </p:nvSpPr>
        <p:spPr>
          <a:xfrm>
            <a:off x="548640" y="868680"/>
            <a:ext cx="11094415" cy="320040"/>
          </a:xfrm>
          <a:prstGeom prst="rect">
            <a:avLst/>
          </a:prstGeom>
          <a:noFill/>
          <a:ln/>
        </p:spPr>
        <p:txBody>
          <a:bodyPr wrap="square" lIns="0" tIns="0" rIns="0" bIns="0" rtlCol="0" anchor="ctr"/>
          <a:lstStyle/>
          <a:p>
            <a:pPr marL="0" indent="0" algn="l">
              <a:buNone/>
            </a:pPr>
            <a:r>
              <a:rPr lang="en-US" sz="1300" i="1" dirty="0">
                <a:solidFill>
                  <a:srgbClr val="5B6B85"/>
                </a:solidFill>
                <a:latin typeface="Calibri" pitchFamily="34" charset="0"/>
                <a:ea typeface="Calibri" pitchFamily="34" charset="-122"/>
                <a:cs typeface="Calibri" pitchFamily="34" charset="-120"/>
              </a:rPr>
              <a:t>Our six main goals for the project</a:t>
            </a:r>
            <a:endParaRPr lang="en-US" sz="1300" dirty="0"/>
          </a:p>
        </p:txBody>
      </p:sp>
      <p:sp>
        <p:nvSpPr>
          <p:cNvPr id="4" name="Shape 2"/>
          <p:cNvSpPr/>
          <p:nvPr/>
        </p:nvSpPr>
        <p:spPr>
          <a:xfrm>
            <a:off x="274320" y="457200"/>
            <a:ext cx="109728" cy="365760"/>
          </a:xfrm>
          <a:prstGeom prst="rect">
            <a:avLst/>
          </a:prstGeom>
          <a:solidFill>
            <a:srgbClr val="00A8E8"/>
          </a:solidFill>
          <a:ln w="12700">
            <a:solidFill>
              <a:srgbClr val="00A8E8"/>
            </a:solidFill>
            <a:prstDash val="solid"/>
          </a:ln>
        </p:spPr>
      </p:sp>
      <p:sp>
        <p:nvSpPr>
          <p:cNvPr id="5" name="Shape 3"/>
          <p:cNvSpPr/>
          <p:nvPr/>
        </p:nvSpPr>
        <p:spPr>
          <a:xfrm>
            <a:off x="548640" y="1737360"/>
            <a:ext cx="3520440" cy="1828800"/>
          </a:xfrm>
          <a:prstGeom prst="rect">
            <a:avLst/>
          </a:prstGeom>
          <a:solidFill>
            <a:srgbClr val="FFFFFF"/>
          </a:solidFill>
          <a:ln w="12700">
            <a:solidFill>
              <a:srgbClr val="D6DBE5"/>
            </a:solidFill>
            <a:prstDash val="solid"/>
          </a:ln>
          <a:effectLst>
            <a:outerShdw blurRad="101600" dist="25400" dir="5400000" algn="bl" rotWithShape="0">
              <a:srgbClr val="000000">
                <a:alpha val="6000"/>
              </a:srgbClr>
            </a:outerShdw>
          </a:effectLst>
        </p:spPr>
      </p:sp>
      <p:sp>
        <p:nvSpPr>
          <p:cNvPr id="6" name="Shape 4"/>
          <p:cNvSpPr/>
          <p:nvPr/>
        </p:nvSpPr>
        <p:spPr>
          <a:xfrm>
            <a:off x="548640" y="1737360"/>
            <a:ext cx="3520440" cy="73152"/>
          </a:xfrm>
          <a:prstGeom prst="rect">
            <a:avLst/>
          </a:prstGeom>
          <a:solidFill>
            <a:srgbClr val="00A8E8"/>
          </a:solidFill>
          <a:ln w="12700">
            <a:solidFill>
              <a:srgbClr val="00A8E8"/>
            </a:solidFill>
            <a:prstDash val="solid"/>
          </a:ln>
        </p:spPr>
      </p:sp>
      <p:sp>
        <p:nvSpPr>
          <p:cNvPr id="7" name="Shape 5"/>
          <p:cNvSpPr/>
          <p:nvPr/>
        </p:nvSpPr>
        <p:spPr>
          <a:xfrm>
            <a:off x="822960" y="2011680"/>
            <a:ext cx="502920" cy="502920"/>
          </a:xfrm>
          <a:prstGeom prst="ellipse">
            <a:avLst/>
          </a:prstGeom>
          <a:solidFill>
            <a:srgbClr val="0F1E3D"/>
          </a:solidFill>
          <a:ln w="12700">
            <a:solidFill>
              <a:srgbClr val="0F1E3D"/>
            </a:solidFill>
            <a:prstDash val="solid"/>
          </a:ln>
        </p:spPr>
      </p:sp>
      <p:sp>
        <p:nvSpPr>
          <p:cNvPr id="8" name="Text 6"/>
          <p:cNvSpPr/>
          <p:nvPr/>
        </p:nvSpPr>
        <p:spPr>
          <a:xfrm>
            <a:off x="822960" y="201168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9" name="Shape 7"/>
          <p:cNvSpPr/>
          <p:nvPr/>
        </p:nvSpPr>
        <p:spPr>
          <a:xfrm>
            <a:off x="3246120" y="2011680"/>
            <a:ext cx="548640" cy="548640"/>
          </a:xfrm>
          <a:prstGeom prst="ellipse">
            <a:avLst/>
          </a:prstGeom>
          <a:solidFill>
            <a:srgbClr val="00A8E8"/>
          </a:solidFill>
          <a:ln w="12700">
            <a:solidFill>
              <a:srgbClr val="00A8E8"/>
            </a:solidFill>
            <a:prstDash val="solid"/>
          </a:ln>
        </p:spPr>
      </p:sp>
      <p:pic>
        <p:nvPicPr>
          <p:cNvPr id="10" name="Image 0" descr="preencoded.png"/>
          <p:cNvPicPr>
            <a:picLocks noChangeAspect="1"/>
          </p:cNvPicPr>
          <p:nvPr/>
        </p:nvPicPr>
        <p:blipFill>
          <a:blip r:embed="rId3"/>
          <a:stretch>
            <a:fillRect/>
          </a:stretch>
        </p:blipFill>
        <p:spPr>
          <a:xfrm>
            <a:off x="3383280" y="2148840"/>
            <a:ext cx="274320" cy="274320"/>
          </a:xfrm>
          <a:prstGeom prst="rect">
            <a:avLst/>
          </a:prstGeom>
        </p:spPr>
      </p:pic>
      <p:sp>
        <p:nvSpPr>
          <p:cNvPr id="11" name="Text 8"/>
          <p:cNvSpPr/>
          <p:nvPr/>
        </p:nvSpPr>
        <p:spPr>
          <a:xfrm>
            <a:off x="822960" y="2697480"/>
            <a:ext cx="3017520" cy="777240"/>
          </a:xfrm>
          <a:prstGeom prst="rect">
            <a:avLst/>
          </a:prstGeom>
          <a:noFill/>
          <a:ln/>
        </p:spPr>
        <p:txBody>
          <a:bodyPr wrap="square" lIns="0" tIns="0" rIns="0" bIns="0" rtlCol="0" anchor="t"/>
          <a:lstStyle/>
          <a:p>
            <a:pPr marL="0" indent="0" algn="l">
              <a:buNone/>
            </a:pPr>
            <a:r>
              <a:rPr lang="en-US" sz="1350" b="1" dirty="0">
                <a:solidFill>
                  <a:srgbClr val="0F1E3D"/>
                </a:solidFill>
                <a:latin typeface="Calibri" pitchFamily="34" charset="0"/>
                <a:ea typeface="Calibri" pitchFamily="34" charset="-122"/>
                <a:cs typeface="Calibri" pitchFamily="34" charset="-120"/>
              </a:rPr>
              <a:t>Detect failed login attempts</a:t>
            </a:r>
            <a:endParaRPr lang="en-US" sz="1350" dirty="0"/>
          </a:p>
        </p:txBody>
      </p:sp>
      <p:sp>
        <p:nvSpPr>
          <p:cNvPr id="12" name="Shape 9"/>
          <p:cNvSpPr/>
          <p:nvPr/>
        </p:nvSpPr>
        <p:spPr>
          <a:xfrm>
            <a:off x="4343400" y="1737360"/>
            <a:ext cx="3520440" cy="1828800"/>
          </a:xfrm>
          <a:prstGeom prst="rect">
            <a:avLst/>
          </a:prstGeom>
          <a:solidFill>
            <a:srgbClr val="FFFFFF"/>
          </a:solidFill>
          <a:ln w="12700">
            <a:solidFill>
              <a:srgbClr val="D6DBE5"/>
            </a:solidFill>
            <a:prstDash val="solid"/>
          </a:ln>
          <a:effectLst>
            <a:outerShdw blurRad="101600" dist="25400" dir="5400000" algn="bl" rotWithShape="0">
              <a:srgbClr val="000000">
                <a:alpha val="6000"/>
              </a:srgbClr>
            </a:outerShdw>
          </a:effectLst>
        </p:spPr>
      </p:sp>
      <p:sp>
        <p:nvSpPr>
          <p:cNvPr id="13" name="Shape 10"/>
          <p:cNvSpPr/>
          <p:nvPr/>
        </p:nvSpPr>
        <p:spPr>
          <a:xfrm>
            <a:off x="4343400" y="1737360"/>
            <a:ext cx="3520440" cy="73152"/>
          </a:xfrm>
          <a:prstGeom prst="rect">
            <a:avLst/>
          </a:prstGeom>
          <a:solidFill>
            <a:srgbClr val="00A8E8"/>
          </a:solidFill>
          <a:ln w="12700">
            <a:solidFill>
              <a:srgbClr val="00A8E8"/>
            </a:solidFill>
            <a:prstDash val="solid"/>
          </a:ln>
        </p:spPr>
      </p:sp>
      <p:sp>
        <p:nvSpPr>
          <p:cNvPr id="14" name="Shape 11"/>
          <p:cNvSpPr/>
          <p:nvPr/>
        </p:nvSpPr>
        <p:spPr>
          <a:xfrm>
            <a:off x="4617720" y="2011680"/>
            <a:ext cx="502920" cy="502920"/>
          </a:xfrm>
          <a:prstGeom prst="ellipse">
            <a:avLst/>
          </a:prstGeom>
          <a:solidFill>
            <a:srgbClr val="0F1E3D"/>
          </a:solidFill>
          <a:ln w="12700">
            <a:solidFill>
              <a:srgbClr val="0F1E3D"/>
            </a:solidFill>
            <a:prstDash val="solid"/>
          </a:ln>
        </p:spPr>
      </p:sp>
      <p:sp>
        <p:nvSpPr>
          <p:cNvPr id="15" name="Text 12"/>
          <p:cNvSpPr/>
          <p:nvPr/>
        </p:nvSpPr>
        <p:spPr>
          <a:xfrm>
            <a:off x="4617720" y="201168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6" name="Shape 13"/>
          <p:cNvSpPr/>
          <p:nvPr/>
        </p:nvSpPr>
        <p:spPr>
          <a:xfrm>
            <a:off x="7040880" y="2011680"/>
            <a:ext cx="548640" cy="548640"/>
          </a:xfrm>
          <a:prstGeom prst="ellipse">
            <a:avLst/>
          </a:prstGeom>
          <a:solidFill>
            <a:srgbClr val="00A8E8"/>
          </a:solidFill>
          <a:ln w="12700">
            <a:solidFill>
              <a:srgbClr val="00A8E8"/>
            </a:solidFill>
            <a:prstDash val="solid"/>
          </a:ln>
        </p:spPr>
      </p:sp>
      <p:pic>
        <p:nvPicPr>
          <p:cNvPr id="17" name="Image 1" descr="preencoded.png"/>
          <p:cNvPicPr>
            <a:picLocks noChangeAspect="1"/>
          </p:cNvPicPr>
          <p:nvPr/>
        </p:nvPicPr>
        <p:blipFill>
          <a:blip r:embed="rId4"/>
          <a:stretch>
            <a:fillRect/>
          </a:stretch>
        </p:blipFill>
        <p:spPr>
          <a:xfrm>
            <a:off x="7178040" y="2148840"/>
            <a:ext cx="274320" cy="274320"/>
          </a:xfrm>
          <a:prstGeom prst="rect">
            <a:avLst/>
          </a:prstGeom>
        </p:spPr>
      </p:pic>
      <p:sp>
        <p:nvSpPr>
          <p:cNvPr id="18" name="Text 14"/>
          <p:cNvSpPr/>
          <p:nvPr/>
        </p:nvSpPr>
        <p:spPr>
          <a:xfrm>
            <a:off x="4617720" y="2697480"/>
            <a:ext cx="3017520" cy="777240"/>
          </a:xfrm>
          <a:prstGeom prst="rect">
            <a:avLst/>
          </a:prstGeom>
          <a:noFill/>
          <a:ln/>
        </p:spPr>
        <p:txBody>
          <a:bodyPr wrap="square" lIns="0" tIns="0" rIns="0" bIns="0" rtlCol="0" anchor="t"/>
          <a:lstStyle/>
          <a:p>
            <a:pPr marL="0" indent="0" algn="l">
              <a:buNone/>
            </a:pPr>
            <a:r>
              <a:rPr lang="en-US" sz="1350" b="1" dirty="0">
                <a:solidFill>
                  <a:srgbClr val="0F1E3D"/>
                </a:solidFill>
                <a:latin typeface="Calibri" pitchFamily="34" charset="0"/>
                <a:ea typeface="Calibri" pitchFamily="34" charset="-122"/>
                <a:cs typeface="Calibri" pitchFamily="34" charset="-120"/>
              </a:rPr>
              <a:t>Monitor running processes</a:t>
            </a:r>
            <a:endParaRPr lang="en-US" sz="1350" dirty="0"/>
          </a:p>
        </p:txBody>
      </p:sp>
      <p:sp>
        <p:nvSpPr>
          <p:cNvPr id="19" name="Shape 15"/>
          <p:cNvSpPr/>
          <p:nvPr/>
        </p:nvSpPr>
        <p:spPr>
          <a:xfrm>
            <a:off x="8138160" y="1737360"/>
            <a:ext cx="3520440" cy="1828800"/>
          </a:xfrm>
          <a:prstGeom prst="rect">
            <a:avLst/>
          </a:prstGeom>
          <a:solidFill>
            <a:srgbClr val="FFFFFF"/>
          </a:solidFill>
          <a:ln w="12700">
            <a:solidFill>
              <a:srgbClr val="D6DBE5"/>
            </a:solidFill>
            <a:prstDash val="solid"/>
          </a:ln>
          <a:effectLst>
            <a:outerShdw blurRad="101600" dist="25400" dir="5400000" algn="bl" rotWithShape="0">
              <a:srgbClr val="000000">
                <a:alpha val="6000"/>
              </a:srgbClr>
            </a:outerShdw>
          </a:effectLst>
        </p:spPr>
      </p:sp>
      <p:sp>
        <p:nvSpPr>
          <p:cNvPr id="20" name="Shape 16"/>
          <p:cNvSpPr/>
          <p:nvPr/>
        </p:nvSpPr>
        <p:spPr>
          <a:xfrm>
            <a:off x="8138160" y="1737360"/>
            <a:ext cx="3520440" cy="73152"/>
          </a:xfrm>
          <a:prstGeom prst="rect">
            <a:avLst/>
          </a:prstGeom>
          <a:solidFill>
            <a:srgbClr val="00A8E8"/>
          </a:solidFill>
          <a:ln w="12700">
            <a:solidFill>
              <a:srgbClr val="00A8E8"/>
            </a:solidFill>
            <a:prstDash val="solid"/>
          </a:ln>
        </p:spPr>
      </p:sp>
      <p:sp>
        <p:nvSpPr>
          <p:cNvPr id="21" name="Shape 17"/>
          <p:cNvSpPr/>
          <p:nvPr/>
        </p:nvSpPr>
        <p:spPr>
          <a:xfrm>
            <a:off x="8412480" y="2011680"/>
            <a:ext cx="502920" cy="502920"/>
          </a:xfrm>
          <a:prstGeom prst="ellipse">
            <a:avLst/>
          </a:prstGeom>
          <a:solidFill>
            <a:srgbClr val="0F1E3D"/>
          </a:solidFill>
          <a:ln w="12700">
            <a:solidFill>
              <a:srgbClr val="0F1E3D"/>
            </a:solidFill>
            <a:prstDash val="solid"/>
          </a:ln>
        </p:spPr>
      </p:sp>
      <p:sp>
        <p:nvSpPr>
          <p:cNvPr id="22" name="Text 18"/>
          <p:cNvSpPr/>
          <p:nvPr/>
        </p:nvSpPr>
        <p:spPr>
          <a:xfrm>
            <a:off x="8412480" y="201168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3" name="Shape 19"/>
          <p:cNvSpPr/>
          <p:nvPr/>
        </p:nvSpPr>
        <p:spPr>
          <a:xfrm>
            <a:off x="10835640" y="2011680"/>
            <a:ext cx="548640" cy="548640"/>
          </a:xfrm>
          <a:prstGeom prst="ellipse">
            <a:avLst/>
          </a:prstGeom>
          <a:solidFill>
            <a:srgbClr val="00A8E8"/>
          </a:solidFill>
          <a:ln w="12700">
            <a:solidFill>
              <a:srgbClr val="00A8E8"/>
            </a:solidFill>
            <a:prstDash val="solid"/>
          </a:ln>
        </p:spPr>
      </p:sp>
      <p:pic>
        <p:nvPicPr>
          <p:cNvPr id="24" name="Image 2" descr="preencoded.png"/>
          <p:cNvPicPr>
            <a:picLocks noChangeAspect="1"/>
          </p:cNvPicPr>
          <p:nvPr/>
        </p:nvPicPr>
        <p:blipFill>
          <a:blip r:embed="rId5"/>
          <a:stretch>
            <a:fillRect/>
          </a:stretch>
        </p:blipFill>
        <p:spPr>
          <a:xfrm>
            <a:off x="10972800" y="2148840"/>
            <a:ext cx="274320" cy="274320"/>
          </a:xfrm>
          <a:prstGeom prst="rect">
            <a:avLst/>
          </a:prstGeom>
        </p:spPr>
      </p:pic>
      <p:sp>
        <p:nvSpPr>
          <p:cNvPr id="25" name="Text 20"/>
          <p:cNvSpPr/>
          <p:nvPr/>
        </p:nvSpPr>
        <p:spPr>
          <a:xfrm>
            <a:off x="8412480" y="2697480"/>
            <a:ext cx="3017520" cy="777240"/>
          </a:xfrm>
          <a:prstGeom prst="rect">
            <a:avLst/>
          </a:prstGeom>
          <a:noFill/>
          <a:ln/>
        </p:spPr>
        <p:txBody>
          <a:bodyPr wrap="square" lIns="0" tIns="0" rIns="0" bIns="0" rtlCol="0" anchor="t"/>
          <a:lstStyle/>
          <a:p>
            <a:pPr marL="0" indent="0" algn="l">
              <a:buNone/>
            </a:pPr>
            <a:r>
              <a:rPr lang="en-US" sz="1350" b="1" dirty="0">
                <a:solidFill>
                  <a:srgbClr val="0F1E3D"/>
                </a:solidFill>
                <a:latin typeface="Calibri" pitchFamily="34" charset="0"/>
                <a:ea typeface="Calibri" pitchFamily="34" charset="-122"/>
                <a:cs typeface="Calibri" pitchFamily="34" charset="-120"/>
              </a:rPr>
              <a:t>Detect suspicious process activity</a:t>
            </a:r>
            <a:endParaRPr lang="en-US" sz="1350" dirty="0"/>
          </a:p>
        </p:txBody>
      </p:sp>
      <p:sp>
        <p:nvSpPr>
          <p:cNvPr id="26" name="Shape 21"/>
          <p:cNvSpPr/>
          <p:nvPr/>
        </p:nvSpPr>
        <p:spPr>
          <a:xfrm>
            <a:off x="548640" y="3886200"/>
            <a:ext cx="3520440" cy="1828800"/>
          </a:xfrm>
          <a:prstGeom prst="rect">
            <a:avLst/>
          </a:prstGeom>
          <a:solidFill>
            <a:srgbClr val="FFFFFF"/>
          </a:solidFill>
          <a:ln w="12700">
            <a:solidFill>
              <a:srgbClr val="D6DBE5"/>
            </a:solidFill>
            <a:prstDash val="solid"/>
          </a:ln>
          <a:effectLst>
            <a:outerShdw blurRad="101600" dist="25400" dir="5400000" algn="bl" rotWithShape="0">
              <a:srgbClr val="000000">
                <a:alpha val="6000"/>
              </a:srgbClr>
            </a:outerShdw>
          </a:effectLst>
        </p:spPr>
      </p:sp>
      <p:sp>
        <p:nvSpPr>
          <p:cNvPr id="27" name="Shape 22"/>
          <p:cNvSpPr/>
          <p:nvPr/>
        </p:nvSpPr>
        <p:spPr>
          <a:xfrm>
            <a:off x="548640" y="3886200"/>
            <a:ext cx="3520440" cy="73152"/>
          </a:xfrm>
          <a:prstGeom prst="rect">
            <a:avLst/>
          </a:prstGeom>
          <a:solidFill>
            <a:srgbClr val="00A8E8"/>
          </a:solidFill>
          <a:ln w="12700">
            <a:solidFill>
              <a:srgbClr val="00A8E8"/>
            </a:solidFill>
            <a:prstDash val="solid"/>
          </a:ln>
        </p:spPr>
      </p:sp>
      <p:sp>
        <p:nvSpPr>
          <p:cNvPr id="28" name="Shape 23"/>
          <p:cNvSpPr/>
          <p:nvPr/>
        </p:nvSpPr>
        <p:spPr>
          <a:xfrm>
            <a:off x="822960" y="4160520"/>
            <a:ext cx="502920" cy="502920"/>
          </a:xfrm>
          <a:prstGeom prst="ellipse">
            <a:avLst/>
          </a:prstGeom>
          <a:solidFill>
            <a:srgbClr val="0F1E3D"/>
          </a:solidFill>
          <a:ln w="12700">
            <a:solidFill>
              <a:srgbClr val="0F1E3D"/>
            </a:solidFill>
            <a:prstDash val="solid"/>
          </a:ln>
        </p:spPr>
      </p:sp>
      <p:sp>
        <p:nvSpPr>
          <p:cNvPr id="29" name="Text 24"/>
          <p:cNvSpPr/>
          <p:nvPr/>
        </p:nvSpPr>
        <p:spPr>
          <a:xfrm>
            <a:off x="822960" y="416052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30" name="Shape 25"/>
          <p:cNvSpPr/>
          <p:nvPr/>
        </p:nvSpPr>
        <p:spPr>
          <a:xfrm>
            <a:off x="3246120" y="4160520"/>
            <a:ext cx="548640" cy="548640"/>
          </a:xfrm>
          <a:prstGeom prst="ellipse">
            <a:avLst/>
          </a:prstGeom>
          <a:solidFill>
            <a:srgbClr val="00A8E8"/>
          </a:solidFill>
          <a:ln w="12700">
            <a:solidFill>
              <a:srgbClr val="00A8E8"/>
            </a:solidFill>
            <a:prstDash val="solid"/>
          </a:ln>
        </p:spPr>
      </p:sp>
      <p:pic>
        <p:nvPicPr>
          <p:cNvPr id="31" name="Image 3" descr="preencoded.png"/>
          <p:cNvPicPr>
            <a:picLocks noChangeAspect="1"/>
          </p:cNvPicPr>
          <p:nvPr/>
        </p:nvPicPr>
        <p:blipFill>
          <a:blip r:embed="rId6"/>
          <a:stretch>
            <a:fillRect/>
          </a:stretch>
        </p:blipFill>
        <p:spPr>
          <a:xfrm>
            <a:off x="3383280" y="4297680"/>
            <a:ext cx="274320" cy="274320"/>
          </a:xfrm>
          <a:prstGeom prst="rect">
            <a:avLst/>
          </a:prstGeom>
        </p:spPr>
      </p:pic>
      <p:sp>
        <p:nvSpPr>
          <p:cNvPr id="32" name="Text 26"/>
          <p:cNvSpPr/>
          <p:nvPr/>
        </p:nvSpPr>
        <p:spPr>
          <a:xfrm>
            <a:off x="822960" y="4846320"/>
            <a:ext cx="3017520" cy="777240"/>
          </a:xfrm>
          <a:prstGeom prst="rect">
            <a:avLst/>
          </a:prstGeom>
          <a:noFill/>
          <a:ln/>
        </p:spPr>
        <p:txBody>
          <a:bodyPr wrap="square" lIns="0" tIns="0" rIns="0" bIns="0" rtlCol="0" anchor="t"/>
          <a:lstStyle/>
          <a:p>
            <a:pPr marL="0" indent="0" algn="l">
              <a:buNone/>
            </a:pPr>
            <a:r>
              <a:rPr lang="en-US" sz="1350" b="1" dirty="0">
                <a:solidFill>
                  <a:srgbClr val="0F1E3D"/>
                </a:solidFill>
                <a:latin typeface="Calibri" pitchFamily="34" charset="0"/>
                <a:ea typeface="Calibri" pitchFamily="34" charset="-122"/>
                <a:cs typeface="Calibri" pitchFamily="34" charset="-120"/>
              </a:rPr>
              <a:t>Monitor important files</a:t>
            </a:r>
            <a:endParaRPr lang="en-US" sz="1350" dirty="0"/>
          </a:p>
        </p:txBody>
      </p:sp>
      <p:sp>
        <p:nvSpPr>
          <p:cNvPr id="33" name="Shape 27"/>
          <p:cNvSpPr/>
          <p:nvPr/>
        </p:nvSpPr>
        <p:spPr>
          <a:xfrm>
            <a:off x="4343400" y="3886200"/>
            <a:ext cx="3520440" cy="1828800"/>
          </a:xfrm>
          <a:prstGeom prst="rect">
            <a:avLst/>
          </a:prstGeom>
          <a:solidFill>
            <a:srgbClr val="FFFFFF"/>
          </a:solidFill>
          <a:ln w="12700">
            <a:solidFill>
              <a:srgbClr val="D6DBE5"/>
            </a:solidFill>
            <a:prstDash val="solid"/>
          </a:ln>
          <a:effectLst>
            <a:outerShdw blurRad="101600" dist="25400" dir="5400000" algn="bl" rotWithShape="0">
              <a:srgbClr val="000000">
                <a:alpha val="6000"/>
              </a:srgbClr>
            </a:outerShdw>
          </a:effectLst>
        </p:spPr>
      </p:sp>
      <p:sp>
        <p:nvSpPr>
          <p:cNvPr id="34" name="Shape 28"/>
          <p:cNvSpPr/>
          <p:nvPr/>
        </p:nvSpPr>
        <p:spPr>
          <a:xfrm>
            <a:off x="4343400" y="3886200"/>
            <a:ext cx="3520440" cy="73152"/>
          </a:xfrm>
          <a:prstGeom prst="rect">
            <a:avLst/>
          </a:prstGeom>
          <a:solidFill>
            <a:srgbClr val="00A8E8"/>
          </a:solidFill>
          <a:ln w="12700">
            <a:solidFill>
              <a:srgbClr val="00A8E8"/>
            </a:solidFill>
            <a:prstDash val="solid"/>
          </a:ln>
        </p:spPr>
      </p:sp>
      <p:sp>
        <p:nvSpPr>
          <p:cNvPr id="35" name="Shape 29"/>
          <p:cNvSpPr/>
          <p:nvPr/>
        </p:nvSpPr>
        <p:spPr>
          <a:xfrm>
            <a:off x="4617720" y="4160520"/>
            <a:ext cx="502920" cy="502920"/>
          </a:xfrm>
          <a:prstGeom prst="ellipse">
            <a:avLst/>
          </a:prstGeom>
          <a:solidFill>
            <a:srgbClr val="0F1E3D"/>
          </a:solidFill>
          <a:ln w="12700">
            <a:solidFill>
              <a:srgbClr val="0F1E3D"/>
            </a:solidFill>
            <a:prstDash val="solid"/>
          </a:ln>
        </p:spPr>
      </p:sp>
      <p:sp>
        <p:nvSpPr>
          <p:cNvPr id="36" name="Text 30"/>
          <p:cNvSpPr/>
          <p:nvPr/>
        </p:nvSpPr>
        <p:spPr>
          <a:xfrm>
            <a:off x="4617720" y="416052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7" name="Shape 31"/>
          <p:cNvSpPr/>
          <p:nvPr/>
        </p:nvSpPr>
        <p:spPr>
          <a:xfrm>
            <a:off x="7040880" y="4160520"/>
            <a:ext cx="548640" cy="548640"/>
          </a:xfrm>
          <a:prstGeom prst="ellipse">
            <a:avLst/>
          </a:prstGeom>
          <a:solidFill>
            <a:srgbClr val="00A8E8"/>
          </a:solidFill>
          <a:ln w="12700">
            <a:solidFill>
              <a:srgbClr val="00A8E8"/>
            </a:solidFill>
            <a:prstDash val="solid"/>
          </a:ln>
        </p:spPr>
      </p:sp>
      <p:pic>
        <p:nvPicPr>
          <p:cNvPr id="38" name="Image 4" descr="preencoded.png"/>
          <p:cNvPicPr>
            <a:picLocks noChangeAspect="1"/>
          </p:cNvPicPr>
          <p:nvPr/>
        </p:nvPicPr>
        <p:blipFill>
          <a:blip r:embed="rId7"/>
          <a:stretch>
            <a:fillRect/>
          </a:stretch>
        </p:blipFill>
        <p:spPr>
          <a:xfrm>
            <a:off x="7178040" y="4297680"/>
            <a:ext cx="274320" cy="274320"/>
          </a:xfrm>
          <a:prstGeom prst="rect">
            <a:avLst/>
          </a:prstGeom>
        </p:spPr>
      </p:pic>
      <p:sp>
        <p:nvSpPr>
          <p:cNvPr id="39" name="Text 32"/>
          <p:cNvSpPr/>
          <p:nvPr/>
        </p:nvSpPr>
        <p:spPr>
          <a:xfrm>
            <a:off x="4617720" y="4846320"/>
            <a:ext cx="3017520" cy="777240"/>
          </a:xfrm>
          <a:prstGeom prst="rect">
            <a:avLst/>
          </a:prstGeom>
          <a:noFill/>
          <a:ln/>
        </p:spPr>
        <p:txBody>
          <a:bodyPr wrap="square" lIns="0" tIns="0" rIns="0" bIns="0" rtlCol="0" anchor="t"/>
          <a:lstStyle/>
          <a:p>
            <a:pPr marL="0" indent="0" algn="l">
              <a:buNone/>
            </a:pPr>
            <a:r>
              <a:rPr lang="en-US" sz="1350" b="1" dirty="0">
                <a:solidFill>
                  <a:srgbClr val="0F1E3D"/>
                </a:solidFill>
                <a:latin typeface="Calibri" pitchFamily="34" charset="0"/>
                <a:ea typeface="Calibri" pitchFamily="34" charset="-122"/>
                <a:cs typeface="Calibri" pitchFamily="34" charset="-120"/>
              </a:rPr>
              <a:t>Detect modified, deleted &amp; new files</a:t>
            </a:r>
            <a:endParaRPr lang="en-US" sz="1350" dirty="0"/>
          </a:p>
        </p:txBody>
      </p:sp>
      <p:sp>
        <p:nvSpPr>
          <p:cNvPr id="40" name="Shape 33"/>
          <p:cNvSpPr/>
          <p:nvPr/>
        </p:nvSpPr>
        <p:spPr>
          <a:xfrm>
            <a:off x="8138160" y="3886200"/>
            <a:ext cx="3520440" cy="1828800"/>
          </a:xfrm>
          <a:prstGeom prst="rect">
            <a:avLst/>
          </a:prstGeom>
          <a:solidFill>
            <a:srgbClr val="FFFFFF"/>
          </a:solidFill>
          <a:ln w="12700">
            <a:solidFill>
              <a:srgbClr val="D6DBE5"/>
            </a:solidFill>
            <a:prstDash val="solid"/>
          </a:ln>
          <a:effectLst>
            <a:outerShdw blurRad="101600" dist="25400" dir="5400000" algn="bl" rotWithShape="0">
              <a:srgbClr val="000000">
                <a:alpha val="6000"/>
              </a:srgbClr>
            </a:outerShdw>
          </a:effectLst>
        </p:spPr>
      </p:sp>
      <p:sp>
        <p:nvSpPr>
          <p:cNvPr id="41" name="Shape 34"/>
          <p:cNvSpPr/>
          <p:nvPr/>
        </p:nvSpPr>
        <p:spPr>
          <a:xfrm>
            <a:off x="8138160" y="3886200"/>
            <a:ext cx="3520440" cy="73152"/>
          </a:xfrm>
          <a:prstGeom prst="rect">
            <a:avLst/>
          </a:prstGeom>
          <a:solidFill>
            <a:srgbClr val="00A8E8"/>
          </a:solidFill>
          <a:ln w="12700">
            <a:solidFill>
              <a:srgbClr val="00A8E8"/>
            </a:solidFill>
            <a:prstDash val="solid"/>
          </a:ln>
        </p:spPr>
      </p:sp>
      <p:sp>
        <p:nvSpPr>
          <p:cNvPr id="42" name="Shape 35"/>
          <p:cNvSpPr/>
          <p:nvPr/>
        </p:nvSpPr>
        <p:spPr>
          <a:xfrm>
            <a:off x="8412480" y="4160520"/>
            <a:ext cx="502920" cy="502920"/>
          </a:xfrm>
          <a:prstGeom prst="ellipse">
            <a:avLst/>
          </a:prstGeom>
          <a:solidFill>
            <a:srgbClr val="0F1E3D"/>
          </a:solidFill>
          <a:ln w="12700">
            <a:solidFill>
              <a:srgbClr val="0F1E3D"/>
            </a:solidFill>
            <a:prstDash val="solid"/>
          </a:ln>
        </p:spPr>
      </p:sp>
      <p:sp>
        <p:nvSpPr>
          <p:cNvPr id="43" name="Text 36"/>
          <p:cNvSpPr/>
          <p:nvPr/>
        </p:nvSpPr>
        <p:spPr>
          <a:xfrm>
            <a:off x="8412480" y="416052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44" name="Shape 37"/>
          <p:cNvSpPr/>
          <p:nvPr/>
        </p:nvSpPr>
        <p:spPr>
          <a:xfrm>
            <a:off x="10835640" y="4160520"/>
            <a:ext cx="548640" cy="548640"/>
          </a:xfrm>
          <a:prstGeom prst="ellipse">
            <a:avLst/>
          </a:prstGeom>
          <a:solidFill>
            <a:srgbClr val="00A8E8"/>
          </a:solidFill>
          <a:ln w="12700">
            <a:solidFill>
              <a:srgbClr val="00A8E8"/>
            </a:solidFill>
            <a:prstDash val="solid"/>
          </a:ln>
        </p:spPr>
      </p:sp>
      <p:pic>
        <p:nvPicPr>
          <p:cNvPr id="45" name="Image 5" descr="preencoded.png"/>
          <p:cNvPicPr>
            <a:picLocks noChangeAspect="1"/>
          </p:cNvPicPr>
          <p:nvPr/>
        </p:nvPicPr>
        <p:blipFill>
          <a:blip r:embed="rId8"/>
          <a:stretch>
            <a:fillRect/>
          </a:stretch>
        </p:blipFill>
        <p:spPr>
          <a:xfrm>
            <a:off x="10972800" y="4297680"/>
            <a:ext cx="274320" cy="274320"/>
          </a:xfrm>
          <a:prstGeom prst="rect">
            <a:avLst/>
          </a:prstGeom>
        </p:spPr>
      </p:pic>
      <p:sp>
        <p:nvSpPr>
          <p:cNvPr id="46" name="Text 38"/>
          <p:cNvSpPr/>
          <p:nvPr/>
        </p:nvSpPr>
        <p:spPr>
          <a:xfrm>
            <a:off x="8412480" y="4846320"/>
            <a:ext cx="3017520" cy="777240"/>
          </a:xfrm>
          <a:prstGeom prst="rect">
            <a:avLst/>
          </a:prstGeom>
          <a:noFill/>
          <a:ln/>
        </p:spPr>
        <p:txBody>
          <a:bodyPr wrap="square" lIns="0" tIns="0" rIns="0" bIns="0" rtlCol="0" anchor="t"/>
          <a:lstStyle/>
          <a:p>
            <a:pPr marL="0" indent="0" algn="l">
              <a:buNone/>
            </a:pPr>
            <a:r>
              <a:rPr lang="en-US" sz="1350" b="1" dirty="0">
                <a:solidFill>
                  <a:srgbClr val="0F1E3D"/>
                </a:solidFill>
                <a:latin typeface="Calibri" pitchFamily="34" charset="0"/>
                <a:ea typeface="Calibri" pitchFamily="34" charset="-122"/>
                <a:cs typeface="Calibri" pitchFamily="34" charset="-120"/>
              </a:rPr>
              <a:t>Save alerts and logs</a:t>
            </a:r>
            <a:endParaRPr lang="en-US" sz="1350" dirty="0"/>
          </a:p>
        </p:txBody>
      </p:sp>
      <p:sp>
        <p:nvSpPr>
          <p:cNvPr id="47" name="Shape 39"/>
          <p:cNvSpPr/>
          <p:nvPr/>
        </p:nvSpPr>
        <p:spPr>
          <a:xfrm>
            <a:off x="0" y="6537960"/>
            <a:ext cx="12191695" cy="320040"/>
          </a:xfrm>
          <a:prstGeom prst="rect">
            <a:avLst/>
          </a:prstGeom>
          <a:solidFill>
            <a:srgbClr val="0F1E3D"/>
          </a:solidFill>
          <a:ln w="12700">
            <a:solidFill>
              <a:srgbClr val="0F1E3D"/>
            </a:solidFill>
            <a:prstDash val="solid"/>
          </a:ln>
        </p:spPr>
      </p:sp>
      <p:sp>
        <p:nvSpPr>
          <p:cNvPr id="48" name="Text 40"/>
          <p:cNvSpPr/>
          <p:nvPr/>
        </p:nvSpPr>
        <p:spPr>
          <a:xfrm>
            <a:off x="457200" y="6547104"/>
            <a:ext cx="7315200" cy="30175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Information Security Final Project  |  Farid &amp; Sami</a:t>
            </a:r>
            <a:endParaRPr lang="en-US" sz="900" dirty="0"/>
          </a:p>
        </p:txBody>
      </p:sp>
      <p:sp>
        <p:nvSpPr>
          <p:cNvPr id="49" name="Text 41"/>
          <p:cNvSpPr/>
          <p:nvPr/>
        </p:nvSpPr>
        <p:spPr>
          <a:xfrm>
            <a:off x="10820095" y="6547104"/>
            <a:ext cx="914400" cy="30175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274320" y="457200"/>
            <a:ext cx="109728" cy="365760"/>
          </a:xfrm>
          <a:prstGeom prst="rect">
            <a:avLst/>
          </a:prstGeom>
          <a:solidFill>
            <a:srgbClr val="00A8E8"/>
          </a:solidFill>
          <a:ln w="12700">
            <a:solidFill>
              <a:srgbClr val="00A8E8"/>
            </a:solidFill>
            <a:prstDash val="solid"/>
          </a:ln>
        </p:spPr>
      </p:sp>
      <p:sp>
        <p:nvSpPr>
          <p:cNvPr id="3" name="Text 1"/>
          <p:cNvSpPr/>
          <p:nvPr/>
        </p:nvSpPr>
        <p:spPr>
          <a:xfrm>
            <a:off x="548640" y="320040"/>
            <a:ext cx="9601200" cy="640080"/>
          </a:xfrm>
          <a:prstGeom prst="rect">
            <a:avLst/>
          </a:prstGeom>
          <a:noFill/>
          <a:ln/>
        </p:spPr>
        <p:txBody>
          <a:bodyPr wrap="square" lIns="0" tIns="0" rIns="0" bIns="0" rtlCol="0" anchor="ctr"/>
          <a:lstStyle/>
          <a:p>
            <a:pPr marL="0" indent="0" algn="l">
              <a:buNone/>
            </a:pPr>
            <a:r>
              <a:rPr lang="en-US" sz="2600" b="1" dirty="0">
                <a:solidFill>
                  <a:srgbClr val="0F1E3D"/>
                </a:solidFill>
                <a:latin typeface="Calibri" pitchFamily="34" charset="0"/>
                <a:ea typeface="Calibri" pitchFamily="34" charset="-122"/>
                <a:cs typeface="Calibri" pitchFamily="34" charset="-120"/>
              </a:rPr>
              <a:t>Tool 1 — Simple Intrusion Detection System</a:t>
            </a:r>
            <a:endParaRPr lang="en-US" sz="2600" dirty="0"/>
          </a:p>
        </p:txBody>
      </p:sp>
      <p:sp>
        <p:nvSpPr>
          <p:cNvPr id="4" name="Shape 2"/>
          <p:cNvSpPr/>
          <p:nvPr/>
        </p:nvSpPr>
        <p:spPr>
          <a:xfrm>
            <a:off x="10058400" y="411480"/>
            <a:ext cx="1645920" cy="457200"/>
          </a:xfrm>
          <a:prstGeom prst="rect">
            <a:avLst/>
          </a:prstGeom>
          <a:solidFill>
            <a:srgbClr val="1E2761"/>
          </a:solidFill>
          <a:ln w="12700">
            <a:solidFill>
              <a:srgbClr val="1E2761"/>
            </a:solidFill>
            <a:prstDash val="solid"/>
          </a:ln>
        </p:spPr>
      </p:sp>
      <p:sp>
        <p:nvSpPr>
          <p:cNvPr id="5" name="Text 3"/>
          <p:cNvSpPr/>
          <p:nvPr/>
        </p:nvSpPr>
        <p:spPr>
          <a:xfrm>
            <a:off x="10058400" y="411480"/>
            <a:ext cx="1645920" cy="457200"/>
          </a:xfrm>
          <a:prstGeom prst="rect">
            <a:avLst/>
          </a:prstGeom>
          <a:noFill/>
          <a:ln/>
        </p:spPr>
        <p:txBody>
          <a:bodyPr wrap="square" lIns="0" tIns="0" rIns="0" bIns="0" rtlCol="0" anchor="ctr"/>
          <a:lstStyle/>
          <a:p>
            <a:pPr marL="0" indent="0" algn="ctr">
              <a:buNone/>
            </a:pPr>
            <a:r>
              <a:rPr lang="en-US" sz="1400" b="1" kern="0" spc="600" dirty="0">
                <a:solidFill>
                  <a:srgbClr val="FFFFFF"/>
                </a:solidFill>
                <a:latin typeface="Calibri" pitchFamily="34" charset="0"/>
                <a:ea typeface="Calibri" pitchFamily="34" charset="-122"/>
                <a:cs typeface="Calibri" pitchFamily="34" charset="-120"/>
              </a:rPr>
              <a:t>IDS</a:t>
            </a:r>
            <a:endParaRPr lang="en-US" sz="1400" dirty="0"/>
          </a:p>
        </p:txBody>
      </p:sp>
      <p:sp>
        <p:nvSpPr>
          <p:cNvPr id="6" name="Text 4"/>
          <p:cNvSpPr/>
          <p:nvPr/>
        </p:nvSpPr>
        <p:spPr>
          <a:xfrm>
            <a:off x="548640" y="914400"/>
            <a:ext cx="11064240" cy="320040"/>
          </a:xfrm>
          <a:prstGeom prst="rect">
            <a:avLst/>
          </a:prstGeom>
          <a:noFill/>
          <a:ln/>
        </p:spPr>
        <p:txBody>
          <a:bodyPr wrap="square" lIns="0" tIns="0" rIns="0" bIns="0" rtlCol="0" anchor="ctr"/>
          <a:lstStyle/>
          <a:p>
            <a:pPr marL="0" indent="0" algn="l">
              <a:buNone/>
            </a:pPr>
            <a:r>
              <a:rPr lang="en-US" sz="1300" i="1" dirty="0">
                <a:solidFill>
                  <a:srgbClr val="5B6B85"/>
                </a:solidFill>
                <a:latin typeface="Calibri" pitchFamily="34" charset="0"/>
                <a:ea typeface="Calibri" pitchFamily="34" charset="-122"/>
                <a:cs typeface="Calibri" pitchFamily="34" charset="-120"/>
              </a:rPr>
              <a:t>How the IDS detects failed logins — the regex pattern list</a:t>
            </a:r>
            <a:endParaRPr lang="en-US" sz="1300" dirty="0"/>
          </a:p>
        </p:txBody>
      </p:sp>
      <p:sp>
        <p:nvSpPr>
          <p:cNvPr id="7" name="Shape 5"/>
          <p:cNvSpPr/>
          <p:nvPr/>
        </p:nvSpPr>
        <p:spPr>
          <a:xfrm>
            <a:off x="640080" y="1417320"/>
            <a:ext cx="457200" cy="457200"/>
          </a:xfrm>
          <a:prstGeom prst="ellipse">
            <a:avLst/>
          </a:prstGeom>
          <a:solidFill>
            <a:srgbClr val="0F1E3D"/>
          </a:solidFill>
          <a:ln w="12700">
            <a:solidFill>
              <a:srgbClr val="0F1E3D"/>
            </a:solidFill>
            <a:prstDash val="solid"/>
          </a:ln>
        </p:spPr>
      </p:sp>
      <p:pic>
        <p:nvPicPr>
          <p:cNvPr id="8" name="Image 0" descr="preencoded.png"/>
          <p:cNvPicPr>
            <a:picLocks noChangeAspect="1"/>
          </p:cNvPicPr>
          <p:nvPr/>
        </p:nvPicPr>
        <p:blipFill>
          <a:blip r:embed="rId3"/>
          <a:stretch>
            <a:fillRect/>
          </a:stretch>
        </p:blipFill>
        <p:spPr>
          <a:xfrm>
            <a:off x="749808" y="1536192"/>
            <a:ext cx="237744" cy="237744"/>
          </a:xfrm>
          <a:prstGeom prst="rect">
            <a:avLst/>
          </a:prstGeom>
        </p:spPr>
      </p:pic>
      <p:sp>
        <p:nvSpPr>
          <p:cNvPr id="9" name="Text 6"/>
          <p:cNvSpPr/>
          <p:nvPr/>
        </p:nvSpPr>
        <p:spPr>
          <a:xfrm>
            <a:off x="1234440" y="141732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Reads authentication logs</a:t>
            </a:r>
            <a:endParaRPr lang="en-US" sz="1300" dirty="0"/>
          </a:p>
        </p:txBody>
      </p:sp>
      <p:sp>
        <p:nvSpPr>
          <p:cNvPr id="10" name="Shape 7"/>
          <p:cNvSpPr/>
          <p:nvPr/>
        </p:nvSpPr>
        <p:spPr>
          <a:xfrm>
            <a:off x="640080" y="2057400"/>
            <a:ext cx="457200" cy="457200"/>
          </a:xfrm>
          <a:prstGeom prst="ellipse">
            <a:avLst/>
          </a:prstGeom>
          <a:solidFill>
            <a:srgbClr val="0F1E3D"/>
          </a:solidFill>
          <a:ln w="12700">
            <a:solidFill>
              <a:srgbClr val="0F1E3D"/>
            </a:solidFill>
            <a:prstDash val="solid"/>
          </a:ln>
        </p:spPr>
      </p:sp>
      <p:pic>
        <p:nvPicPr>
          <p:cNvPr id="11" name="Image 1" descr="preencoded.png"/>
          <p:cNvPicPr>
            <a:picLocks noChangeAspect="1"/>
          </p:cNvPicPr>
          <p:nvPr/>
        </p:nvPicPr>
        <p:blipFill>
          <a:blip r:embed="rId4"/>
          <a:stretch>
            <a:fillRect/>
          </a:stretch>
        </p:blipFill>
        <p:spPr>
          <a:xfrm>
            <a:off x="749808" y="2176272"/>
            <a:ext cx="237744" cy="237744"/>
          </a:xfrm>
          <a:prstGeom prst="rect">
            <a:avLst/>
          </a:prstGeom>
        </p:spPr>
      </p:pic>
      <p:sp>
        <p:nvSpPr>
          <p:cNvPr id="12" name="Text 8"/>
          <p:cNvSpPr/>
          <p:nvPr/>
        </p:nvSpPr>
        <p:spPr>
          <a:xfrm>
            <a:off x="1234440" y="205740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Searches for failed login patterns</a:t>
            </a:r>
            <a:endParaRPr lang="en-US" sz="1300" dirty="0"/>
          </a:p>
        </p:txBody>
      </p:sp>
      <p:sp>
        <p:nvSpPr>
          <p:cNvPr id="13" name="Shape 9"/>
          <p:cNvSpPr/>
          <p:nvPr/>
        </p:nvSpPr>
        <p:spPr>
          <a:xfrm>
            <a:off x="640080" y="2697480"/>
            <a:ext cx="457200" cy="457200"/>
          </a:xfrm>
          <a:prstGeom prst="ellipse">
            <a:avLst/>
          </a:prstGeom>
          <a:solidFill>
            <a:srgbClr val="0F1E3D"/>
          </a:solidFill>
          <a:ln w="12700">
            <a:solidFill>
              <a:srgbClr val="0F1E3D"/>
            </a:solidFill>
            <a:prstDash val="solid"/>
          </a:ln>
        </p:spPr>
      </p:sp>
      <p:pic>
        <p:nvPicPr>
          <p:cNvPr id="14" name="Image 2" descr="preencoded.png"/>
          <p:cNvPicPr>
            <a:picLocks noChangeAspect="1"/>
          </p:cNvPicPr>
          <p:nvPr/>
        </p:nvPicPr>
        <p:blipFill>
          <a:blip r:embed="rId5"/>
          <a:stretch>
            <a:fillRect/>
          </a:stretch>
        </p:blipFill>
        <p:spPr>
          <a:xfrm>
            <a:off x="749808" y="2816352"/>
            <a:ext cx="237744" cy="237744"/>
          </a:xfrm>
          <a:prstGeom prst="rect">
            <a:avLst/>
          </a:prstGeom>
        </p:spPr>
      </p:pic>
      <p:sp>
        <p:nvSpPr>
          <p:cNvPr id="15" name="Text 10"/>
          <p:cNvSpPr/>
          <p:nvPr/>
        </p:nvSpPr>
        <p:spPr>
          <a:xfrm>
            <a:off x="1234440" y="269748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Creates a process baseline</a:t>
            </a:r>
            <a:endParaRPr lang="en-US" sz="1300" dirty="0"/>
          </a:p>
        </p:txBody>
      </p:sp>
      <p:sp>
        <p:nvSpPr>
          <p:cNvPr id="16" name="Shape 11"/>
          <p:cNvSpPr/>
          <p:nvPr/>
        </p:nvSpPr>
        <p:spPr>
          <a:xfrm>
            <a:off x="640080" y="3337560"/>
            <a:ext cx="457200" cy="457200"/>
          </a:xfrm>
          <a:prstGeom prst="ellipse">
            <a:avLst/>
          </a:prstGeom>
          <a:solidFill>
            <a:srgbClr val="0F1E3D"/>
          </a:solidFill>
          <a:ln w="12700">
            <a:solidFill>
              <a:srgbClr val="0F1E3D"/>
            </a:solidFill>
            <a:prstDash val="solid"/>
          </a:ln>
        </p:spPr>
      </p:sp>
      <p:pic>
        <p:nvPicPr>
          <p:cNvPr id="17" name="Image 3" descr="preencoded.png"/>
          <p:cNvPicPr>
            <a:picLocks noChangeAspect="1"/>
          </p:cNvPicPr>
          <p:nvPr/>
        </p:nvPicPr>
        <p:blipFill>
          <a:blip r:embed="rId6"/>
          <a:stretch>
            <a:fillRect/>
          </a:stretch>
        </p:blipFill>
        <p:spPr>
          <a:xfrm>
            <a:off x="749808" y="3456432"/>
            <a:ext cx="237744" cy="237744"/>
          </a:xfrm>
          <a:prstGeom prst="rect">
            <a:avLst/>
          </a:prstGeom>
        </p:spPr>
      </p:pic>
      <p:sp>
        <p:nvSpPr>
          <p:cNvPr id="18" name="Text 12"/>
          <p:cNvSpPr/>
          <p:nvPr/>
        </p:nvSpPr>
        <p:spPr>
          <a:xfrm>
            <a:off x="1234440" y="333756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Compares current with baseline</a:t>
            </a:r>
            <a:endParaRPr lang="en-US" sz="1300" dirty="0"/>
          </a:p>
        </p:txBody>
      </p:sp>
      <p:sp>
        <p:nvSpPr>
          <p:cNvPr id="19" name="Shape 13"/>
          <p:cNvSpPr/>
          <p:nvPr/>
        </p:nvSpPr>
        <p:spPr>
          <a:xfrm>
            <a:off x="640080" y="3977640"/>
            <a:ext cx="457200" cy="457200"/>
          </a:xfrm>
          <a:prstGeom prst="ellipse">
            <a:avLst/>
          </a:prstGeom>
          <a:solidFill>
            <a:srgbClr val="0F1E3D"/>
          </a:solidFill>
          <a:ln w="12700">
            <a:solidFill>
              <a:srgbClr val="0F1E3D"/>
            </a:solidFill>
            <a:prstDash val="solid"/>
          </a:ln>
        </p:spPr>
      </p:sp>
      <p:pic>
        <p:nvPicPr>
          <p:cNvPr id="20" name="Image 4" descr="preencoded.png"/>
          <p:cNvPicPr>
            <a:picLocks noChangeAspect="1"/>
          </p:cNvPicPr>
          <p:nvPr/>
        </p:nvPicPr>
        <p:blipFill>
          <a:blip r:embed="rId7"/>
          <a:stretch>
            <a:fillRect/>
          </a:stretch>
        </p:blipFill>
        <p:spPr>
          <a:xfrm>
            <a:off x="749808" y="4096512"/>
            <a:ext cx="237744" cy="237744"/>
          </a:xfrm>
          <a:prstGeom prst="rect">
            <a:avLst/>
          </a:prstGeom>
        </p:spPr>
      </p:pic>
      <p:sp>
        <p:nvSpPr>
          <p:cNvPr id="21" name="Text 14"/>
          <p:cNvSpPr/>
          <p:nvPr/>
        </p:nvSpPr>
        <p:spPr>
          <a:xfrm>
            <a:off x="1234440" y="397764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Saves alerts in ids_alerts.log</a:t>
            </a:r>
            <a:endParaRPr lang="en-US" sz="1300" dirty="0"/>
          </a:p>
        </p:txBody>
      </p:sp>
      <p:sp>
        <p:nvSpPr>
          <p:cNvPr id="22" name="Shape 15"/>
          <p:cNvSpPr/>
          <p:nvPr/>
        </p:nvSpPr>
        <p:spPr>
          <a:xfrm>
            <a:off x="6035040" y="1371600"/>
            <a:ext cx="5669280" cy="4572000"/>
          </a:xfrm>
          <a:prstGeom prst="rect">
            <a:avLst/>
          </a:prstGeom>
          <a:solidFill>
            <a:srgbClr val="0B1730"/>
          </a:solidFill>
          <a:ln w="12700">
            <a:solidFill>
              <a:srgbClr val="0B1730"/>
            </a:solidFill>
            <a:prstDash val="solid"/>
          </a:ln>
          <a:effectLst>
            <a:outerShdw blurRad="152400" dist="50800" dir="5400000" algn="bl" rotWithShape="0">
              <a:srgbClr val="000000">
                <a:alpha val="20000"/>
              </a:srgbClr>
            </a:outerShdw>
          </a:effectLst>
        </p:spPr>
        <p:txBody>
          <a:bodyPr/>
          <a:lstStyle/>
          <a:p>
            <a:endParaRPr lang="en-KG" dirty="0"/>
          </a:p>
        </p:txBody>
      </p:sp>
      <p:sp>
        <p:nvSpPr>
          <p:cNvPr id="23" name="Shape 16"/>
          <p:cNvSpPr/>
          <p:nvPr/>
        </p:nvSpPr>
        <p:spPr>
          <a:xfrm>
            <a:off x="6035040" y="1371600"/>
            <a:ext cx="5669280" cy="365760"/>
          </a:xfrm>
          <a:prstGeom prst="rect">
            <a:avLst/>
          </a:prstGeom>
          <a:solidFill>
            <a:srgbClr val="1A2A4F"/>
          </a:solidFill>
          <a:ln w="12700">
            <a:solidFill>
              <a:srgbClr val="1A2A4F"/>
            </a:solidFill>
            <a:prstDash val="solid"/>
          </a:ln>
        </p:spPr>
      </p:sp>
      <p:sp>
        <p:nvSpPr>
          <p:cNvPr id="24" name="Shape 17"/>
          <p:cNvSpPr/>
          <p:nvPr/>
        </p:nvSpPr>
        <p:spPr>
          <a:xfrm>
            <a:off x="6172200" y="1490472"/>
            <a:ext cx="146304" cy="146304"/>
          </a:xfrm>
          <a:prstGeom prst="ellipse">
            <a:avLst/>
          </a:prstGeom>
          <a:solidFill>
            <a:srgbClr val="E74C3C"/>
          </a:solidFill>
          <a:ln w="12700">
            <a:solidFill>
              <a:srgbClr val="E74C3C"/>
            </a:solidFill>
            <a:prstDash val="solid"/>
          </a:ln>
        </p:spPr>
      </p:sp>
      <p:sp>
        <p:nvSpPr>
          <p:cNvPr id="25" name="Shape 18"/>
          <p:cNvSpPr/>
          <p:nvPr/>
        </p:nvSpPr>
        <p:spPr>
          <a:xfrm>
            <a:off x="6373368" y="1490472"/>
            <a:ext cx="146304" cy="146304"/>
          </a:xfrm>
          <a:prstGeom prst="ellipse">
            <a:avLst/>
          </a:prstGeom>
          <a:solidFill>
            <a:srgbClr val="F39C12"/>
          </a:solidFill>
          <a:ln w="12700">
            <a:solidFill>
              <a:srgbClr val="F39C12"/>
            </a:solidFill>
            <a:prstDash val="solid"/>
          </a:ln>
        </p:spPr>
      </p:sp>
      <p:sp>
        <p:nvSpPr>
          <p:cNvPr id="26" name="Shape 19"/>
          <p:cNvSpPr/>
          <p:nvPr/>
        </p:nvSpPr>
        <p:spPr>
          <a:xfrm>
            <a:off x="6574536" y="1490472"/>
            <a:ext cx="146304" cy="146304"/>
          </a:xfrm>
          <a:prstGeom prst="ellipse">
            <a:avLst/>
          </a:prstGeom>
          <a:solidFill>
            <a:srgbClr val="27AE60"/>
          </a:solidFill>
          <a:ln w="12700">
            <a:solidFill>
              <a:srgbClr val="27AE60"/>
            </a:solidFill>
            <a:prstDash val="solid"/>
          </a:ln>
        </p:spPr>
      </p:sp>
      <p:sp>
        <p:nvSpPr>
          <p:cNvPr id="27" name="Text 20"/>
          <p:cNvSpPr/>
          <p:nvPr/>
        </p:nvSpPr>
        <p:spPr>
          <a:xfrm>
            <a:off x="6858000" y="1371600"/>
            <a:ext cx="4754880" cy="365760"/>
          </a:xfrm>
          <a:prstGeom prst="rect">
            <a:avLst/>
          </a:prstGeom>
          <a:noFill/>
          <a:ln/>
        </p:spPr>
        <p:txBody>
          <a:bodyPr wrap="square" lIns="0" tIns="0" rIns="0" bIns="0" rtlCol="0" anchor="ctr"/>
          <a:lstStyle/>
          <a:p>
            <a:pPr marL="0" indent="0" algn="l">
              <a:buNone/>
            </a:pPr>
            <a:r>
              <a:rPr lang="en-US" sz="1000" dirty="0" err="1">
                <a:solidFill>
                  <a:srgbClr val="CADCFC"/>
                </a:solidFill>
                <a:latin typeface="Consolas" pitchFamily="34" charset="0"/>
                <a:ea typeface="Consolas" pitchFamily="34" charset="-122"/>
                <a:cs typeface="Consolas" pitchFamily="34" charset="-120"/>
              </a:rPr>
              <a:t>main.py</a:t>
            </a:r>
            <a:r>
              <a:rPr lang="en-US" sz="1000" dirty="0">
                <a:solidFill>
                  <a:srgbClr val="CADCFC"/>
                </a:solidFill>
                <a:latin typeface="Consolas" pitchFamily="34" charset="0"/>
                <a:ea typeface="Consolas" pitchFamily="34" charset="-122"/>
                <a:cs typeface="Consolas" pitchFamily="34" charset="-120"/>
              </a:rPr>
              <a:t> — failed_login_detection</a:t>
            </a:r>
            <a:endParaRPr lang="en-US" sz="1000" dirty="0"/>
          </a:p>
        </p:txBody>
      </p:sp>
      <p:sp>
        <p:nvSpPr>
          <p:cNvPr id="29" name="Shape 22"/>
          <p:cNvSpPr/>
          <p:nvPr/>
        </p:nvSpPr>
        <p:spPr>
          <a:xfrm>
            <a:off x="0" y="6537960"/>
            <a:ext cx="12191695" cy="320040"/>
          </a:xfrm>
          <a:prstGeom prst="rect">
            <a:avLst/>
          </a:prstGeom>
          <a:solidFill>
            <a:srgbClr val="0F1E3D"/>
          </a:solidFill>
          <a:ln w="12700">
            <a:solidFill>
              <a:srgbClr val="0F1E3D"/>
            </a:solidFill>
            <a:prstDash val="solid"/>
          </a:ln>
        </p:spPr>
      </p:sp>
      <p:sp>
        <p:nvSpPr>
          <p:cNvPr id="30" name="Text 23"/>
          <p:cNvSpPr/>
          <p:nvPr/>
        </p:nvSpPr>
        <p:spPr>
          <a:xfrm>
            <a:off x="457200" y="6547104"/>
            <a:ext cx="7315200" cy="30175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Information Security Final Project  |  Farid &amp; Sami</a:t>
            </a:r>
            <a:endParaRPr lang="en-US" sz="900" dirty="0"/>
          </a:p>
        </p:txBody>
      </p:sp>
      <p:sp>
        <p:nvSpPr>
          <p:cNvPr id="31" name="Text 24"/>
          <p:cNvSpPr/>
          <p:nvPr/>
        </p:nvSpPr>
        <p:spPr>
          <a:xfrm>
            <a:off x="10820095" y="6547104"/>
            <a:ext cx="914400" cy="30175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5 / 12</a:t>
            </a:r>
            <a:endParaRPr lang="en-US" sz="900" dirty="0"/>
          </a:p>
        </p:txBody>
      </p:sp>
      <p:sp>
        <p:nvSpPr>
          <p:cNvPr id="32" name="TextBox 31">
            <a:extLst>
              <a:ext uri="{FF2B5EF4-FFF2-40B4-BE49-F238E27FC236}">
                <a16:creationId xmlns:a16="http://schemas.microsoft.com/office/drawing/2014/main" id="{DE70611C-E5BC-8233-B82F-11DB901E156C}"/>
              </a:ext>
            </a:extLst>
          </p:cNvPr>
          <p:cNvSpPr txBox="1"/>
          <p:nvPr/>
        </p:nvSpPr>
        <p:spPr>
          <a:xfrm>
            <a:off x="6172200" y="1773936"/>
            <a:ext cx="5440680" cy="4154984"/>
          </a:xfrm>
          <a:prstGeom prst="rect">
            <a:avLst/>
          </a:prstGeom>
          <a:noFill/>
        </p:spPr>
        <p:txBody>
          <a:bodyPr wrap="square" rtlCol="0">
            <a:spAutoFit/>
          </a:bodyPr>
          <a:lstStyle/>
          <a:p>
            <a:r>
              <a:rPr lang="en-US" sz="1200" dirty="0">
                <a:solidFill>
                  <a:schemeClr val="bg1"/>
                </a:solidFill>
              </a:rPr>
              <a:t>FAILED_LOGIN_PATTERNS = [</a:t>
            </a:r>
          </a:p>
          <a:p>
            <a:r>
              <a:rPr lang="en-US" sz="1200" dirty="0">
                <a:solidFill>
                  <a:schemeClr val="bg1"/>
                </a:solidFill>
              </a:rPr>
              <a:t>    </a:t>
            </a:r>
            <a:r>
              <a:rPr lang="en-US" sz="1200" dirty="0" err="1">
                <a:solidFill>
                  <a:schemeClr val="bg1"/>
                </a:solidFill>
              </a:rPr>
              <a:t>r"Failed</a:t>
            </a:r>
            <a:r>
              <a:rPr lang="en-US" sz="1200" dirty="0">
                <a:solidFill>
                  <a:schemeClr val="bg1"/>
                </a:solidFill>
              </a:rPr>
              <a:t> password",</a:t>
            </a:r>
          </a:p>
          <a:p>
            <a:r>
              <a:rPr lang="en-US" sz="1200" dirty="0">
                <a:solidFill>
                  <a:schemeClr val="bg1"/>
                </a:solidFill>
              </a:rPr>
              <a:t>    </a:t>
            </a:r>
            <a:r>
              <a:rPr lang="en-US" sz="1200" dirty="0" err="1">
                <a:solidFill>
                  <a:schemeClr val="bg1"/>
                </a:solidFill>
              </a:rPr>
              <a:t>r"authentication</a:t>
            </a:r>
            <a:r>
              <a:rPr lang="en-US" sz="1200" dirty="0">
                <a:solidFill>
                  <a:schemeClr val="bg1"/>
                </a:solidFill>
              </a:rPr>
              <a:t> failure",</a:t>
            </a:r>
          </a:p>
          <a:p>
            <a:r>
              <a:rPr lang="en-US" sz="1200" dirty="0">
                <a:solidFill>
                  <a:schemeClr val="bg1"/>
                </a:solidFill>
              </a:rPr>
              <a:t>    </a:t>
            </a:r>
            <a:r>
              <a:rPr lang="en-US" sz="1200" dirty="0" err="1">
                <a:solidFill>
                  <a:schemeClr val="bg1"/>
                </a:solidFill>
              </a:rPr>
              <a:t>r"invalid</a:t>
            </a:r>
            <a:r>
              <a:rPr lang="en-US" sz="1200" dirty="0">
                <a:solidFill>
                  <a:schemeClr val="bg1"/>
                </a:solidFill>
              </a:rPr>
              <a:t> user",</a:t>
            </a:r>
          </a:p>
          <a:p>
            <a:r>
              <a:rPr lang="en-US" sz="1200" dirty="0">
                <a:solidFill>
                  <a:schemeClr val="bg1"/>
                </a:solidFill>
              </a:rPr>
              <a:t>    </a:t>
            </a:r>
            <a:r>
              <a:rPr lang="en-US" sz="1200" dirty="0" err="1">
                <a:solidFill>
                  <a:schemeClr val="bg1"/>
                </a:solidFill>
              </a:rPr>
              <a:t>r"Login</a:t>
            </a:r>
            <a:r>
              <a:rPr lang="en-US" sz="1200" dirty="0">
                <a:solidFill>
                  <a:schemeClr val="bg1"/>
                </a:solidFill>
              </a:rPr>
              <a:t> incorrect",</a:t>
            </a:r>
          </a:p>
          <a:p>
            <a:r>
              <a:rPr lang="en-US" sz="1200" dirty="0">
                <a:solidFill>
                  <a:schemeClr val="bg1"/>
                </a:solidFill>
              </a:rPr>
              <a:t>]</a:t>
            </a:r>
          </a:p>
          <a:p>
            <a:endParaRPr lang="en-US" sz="1200" dirty="0">
              <a:solidFill>
                <a:schemeClr val="bg1"/>
              </a:solidFill>
            </a:endParaRPr>
          </a:p>
          <a:p>
            <a:r>
              <a:rPr lang="en-US" sz="1200" dirty="0">
                <a:solidFill>
                  <a:schemeClr val="bg1"/>
                </a:solidFill>
              </a:rPr>
              <a:t>def </a:t>
            </a:r>
            <a:r>
              <a:rPr lang="en-US" sz="1200" dirty="0" err="1">
                <a:solidFill>
                  <a:schemeClr val="bg1"/>
                </a:solidFill>
              </a:rPr>
              <a:t>detect_failed_logins</a:t>
            </a:r>
            <a:r>
              <a:rPr lang="en-US" sz="1200" dirty="0">
                <a:solidFill>
                  <a:schemeClr val="bg1"/>
                </a:solidFill>
              </a:rPr>
              <a:t>(</a:t>
            </a:r>
            <a:r>
              <a:rPr lang="en-US" sz="1200" dirty="0" err="1">
                <a:solidFill>
                  <a:schemeClr val="bg1"/>
                </a:solidFill>
              </a:rPr>
              <a:t>auth_log_path</a:t>
            </a:r>
            <a:r>
              <a:rPr lang="en-US" sz="1200" dirty="0">
                <a:solidFill>
                  <a:schemeClr val="bg1"/>
                </a:solidFill>
              </a:rPr>
              <a:t>: str) -&gt; int:</a:t>
            </a:r>
          </a:p>
          <a:p>
            <a:r>
              <a:rPr lang="en-US" sz="1200" dirty="0">
                <a:solidFill>
                  <a:schemeClr val="bg1"/>
                </a:solidFill>
              </a:rPr>
              <a:t>    path = Path(</a:t>
            </a:r>
            <a:r>
              <a:rPr lang="en-US" sz="1200" dirty="0" err="1">
                <a:solidFill>
                  <a:schemeClr val="bg1"/>
                </a:solidFill>
              </a:rPr>
              <a:t>auth_log_path</a:t>
            </a:r>
            <a:r>
              <a:rPr lang="en-US" sz="1200" dirty="0">
                <a:solidFill>
                  <a:schemeClr val="bg1"/>
                </a:solidFill>
              </a:rPr>
              <a:t>)</a:t>
            </a:r>
          </a:p>
          <a:p>
            <a:r>
              <a:rPr lang="en-US" sz="1200" dirty="0">
                <a:solidFill>
                  <a:schemeClr val="bg1"/>
                </a:solidFill>
              </a:rPr>
              <a:t>    lines = </a:t>
            </a:r>
            <a:r>
              <a:rPr lang="en-US" sz="1200" dirty="0" err="1">
                <a:solidFill>
                  <a:schemeClr val="bg1"/>
                </a:solidFill>
              </a:rPr>
              <a:t>read_file_lines</a:t>
            </a:r>
            <a:r>
              <a:rPr lang="en-US" sz="1200" dirty="0">
                <a:solidFill>
                  <a:schemeClr val="bg1"/>
                </a:solidFill>
              </a:rPr>
              <a:t>(path)</a:t>
            </a:r>
          </a:p>
          <a:p>
            <a:endParaRPr lang="en-US" sz="1200" dirty="0">
              <a:solidFill>
                <a:schemeClr val="bg1"/>
              </a:solidFill>
            </a:endParaRPr>
          </a:p>
          <a:p>
            <a:r>
              <a:rPr lang="en-US" sz="1200" dirty="0">
                <a:solidFill>
                  <a:schemeClr val="bg1"/>
                </a:solidFill>
              </a:rPr>
              <a:t>    </a:t>
            </a:r>
            <a:r>
              <a:rPr lang="en-US" sz="1200" dirty="0" err="1">
                <a:solidFill>
                  <a:schemeClr val="bg1"/>
                </a:solidFill>
              </a:rPr>
              <a:t>failed_login_count</a:t>
            </a:r>
            <a:r>
              <a:rPr lang="en-US" sz="1200" dirty="0">
                <a:solidFill>
                  <a:schemeClr val="bg1"/>
                </a:solidFill>
              </a:rPr>
              <a:t> = 0</a:t>
            </a:r>
          </a:p>
          <a:p>
            <a:endParaRPr lang="en-US" sz="1200" dirty="0">
              <a:solidFill>
                <a:schemeClr val="bg1"/>
              </a:solidFill>
            </a:endParaRPr>
          </a:p>
          <a:p>
            <a:r>
              <a:rPr lang="en-US" sz="1200" dirty="0">
                <a:solidFill>
                  <a:schemeClr val="bg1"/>
                </a:solidFill>
              </a:rPr>
              <a:t>    for line in lines:</a:t>
            </a:r>
          </a:p>
          <a:p>
            <a:r>
              <a:rPr lang="en-US" sz="1200" dirty="0">
                <a:solidFill>
                  <a:schemeClr val="bg1"/>
                </a:solidFill>
              </a:rPr>
              <a:t>        for pattern in FAILED_LOGIN_PATTERNS:</a:t>
            </a:r>
          </a:p>
          <a:p>
            <a:r>
              <a:rPr lang="en-US" sz="1200" dirty="0">
                <a:solidFill>
                  <a:schemeClr val="bg1"/>
                </a:solidFill>
              </a:rPr>
              <a:t>            if </a:t>
            </a:r>
            <a:r>
              <a:rPr lang="en-US" sz="1200" dirty="0" err="1">
                <a:solidFill>
                  <a:schemeClr val="bg1"/>
                </a:solidFill>
              </a:rPr>
              <a:t>re.search</a:t>
            </a:r>
            <a:r>
              <a:rPr lang="en-US" sz="1200" dirty="0">
                <a:solidFill>
                  <a:schemeClr val="bg1"/>
                </a:solidFill>
              </a:rPr>
              <a:t>(pattern, line, </a:t>
            </a:r>
            <a:r>
              <a:rPr lang="en-US" sz="1200" dirty="0" err="1">
                <a:solidFill>
                  <a:schemeClr val="bg1"/>
                </a:solidFill>
              </a:rPr>
              <a:t>re.IGNORECASE</a:t>
            </a:r>
            <a:r>
              <a:rPr lang="en-US" sz="1200" dirty="0">
                <a:solidFill>
                  <a:schemeClr val="bg1"/>
                </a:solidFill>
              </a:rPr>
              <a:t>):</a:t>
            </a:r>
          </a:p>
          <a:p>
            <a:r>
              <a:rPr lang="en-US" sz="1200" dirty="0">
                <a:solidFill>
                  <a:schemeClr val="bg1"/>
                </a:solidFill>
              </a:rPr>
              <a:t>                </a:t>
            </a:r>
            <a:r>
              <a:rPr lang="en-US" sz="1200" dirty="0" err="1">
                <a:solidFill>
                  <a:schemeClr val="bg1"/>
                </a:solidFill>
              </a:rPr>
              <a:t>failed_login_count</a:t>
            </a:r>
            <a:r>
              <a:rPr lang="en-US" sz="1200" dirty="0">
                <a:solidFill>
                  <a:schemeClr val="bg1"/>
                </a:solidFill>
              </a:rPr>
              <a:t> += 1</a:t>
            </a:r>
          </a:p>
          <a:p>
            <a:r>
              <a:rPr lang="en-US" sz="1200" dirty="0">
                <a:solidFill>
                  <a:schemeClr val="bg1"/>
                </a:solidFill>
              </a:rPr>
              <a:t>                </a:t>
            </a:r>
            <a:r>
              <a:rPr lang="en-US" sz="1200" dirty="0" err="1">
                <a:solidFill>
                  <a:schemeClr val="bg1"/>
                </a:solidFill>
              </a:rPr>
              <a:t>write_alert</a:t>
            </a:r>
            <a:r>
              <a:rPr lang="en-US" sz="1200" dirty="0">
                <a:solidFill>
                  <a:schemeClr val="bg1"/>
                </a:solidFill>
              </a:rPr>
              <a:t>(</a:t>
            </a:r>
            <a:r>
              <a:rPr lang="en-US" sz="1200" dirty="0" err="1">
                <a:solidFill>
                  <a:schemeClr val="bg1"/>
                </a:solidFill>
              </a:rPr>
              <a:t>f"FAILED</a:t>
            </a:r>
            <a:r>
              <a:rPr lang="en-US" sz="1200" dirty="0">
                <a:solidFill>
                  <a:schemeClr val="bg1"/>
                </a:solidFill>
              </a:rPr>
              <a:t> LOGIN DETECTED: {line}")</a:t>
            </a:r>
          </a:p>
          <a:p>
            <a:r>
              <a:rPr lang="en-US" sz="1200" dirty="0">
                <a:solidFill>
                  <a:schemeClr val="bg1"/>
                </a:solidFill>
              </a:rPr>
              <a:t>                break</a:t>
            </a:r>
          </a:p>
          <a:p>
            <a:endParaRPr lang="en-US" sz="1200" dirty="0">
              <a:solidFill>
                <a:schemeClr val="bg1"/>
              </a:solidFill>
            </a:endParaRPr>
          </a:p>
          <a:p>
            <a:r>
              <a:rPr lang="en-US" sz="1200" dirty="0">
                <a:solidFill>
                  <a:schemeClr val="bg1"/>
                </a:solidFill>
              </a:rPr>
              <a:t>    print(</a:t>
            </a:r>
            <a:r>
              <a:rPr lang="en-US" sz="1200" dirty="0" err="1">
                <a:solidFill>
                  <a:schemeClr val="bg1"/>
                </a:solidFill>
              </a:rPr>
              <a:t>f"Total</a:t>
            </a:r>
            <a:r>
              <a:rPr lang="en-US" sz="1200" dirty="0">
                <a:solidFill>
                  <a:schemeClr val="bg1"/>
                </a:solidFill>
              </a:rPr>
              <a:t> failed login attempts detected: {</a:t>
            </a:r>
            <a:r>
              <a:rPr lang="en-US" sz="1200" dirty="0" err="1">
                <a:solidFill>
                  <a:schemeClr val="bg1"/>
                </a:solidFill>
              </a:rPr>
              <a:t>failed_login_count</a:t>
            </a:r>
            <a:r>
              <a:rPr lang="en-US" sz="1200" dirty="0">
                <a:solidFill>
                  <a:schemeClr val="bg1"/>
                </a:solidFill>
              </a:rPr>
              <a:t>}")</a:t>
            </a:r>
          </a:p>
          <a:p>
            <a:r>
              <a:rPr lang="en-US" sz="1200" dirty="0">
                <a:solidFill>
                  <a:schemeClr val="bg1"/>
                </a:solidFill>
              </a:rPr>
              <a:t>    return 0</a:t>
            </a:r>
            <a:endParaRPr lang="en-KG" sz="12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640080"/>
          </a:xfrm>
          <a:prstGeom prst="rect">
            <a:avLst/>
          </a:prstGeom>
          <a:noFill/>
          <a:ln/>
        </p:spPr>
        <p:txBody>
          <a:bodyPr wrap="square" lIns="0" tIns="0" rIns="0" bIns="0" rtlCol="0" anchor="ctr"/>
          <a:lstStyle/>
          <a:p>
            <a:pPr marL="0" indent="0" algn="l">
              <a:buNone/>
            </a:pPr>
            <a:r>
              <a:rPr lang="en-US" sz="2800" b="1" dirty="0">
                <a:solidFill>
                  <a:srgbClr val="0F1E3D"/>
                </a:solidFill>
                <a:latin typeface="Calibri" pitchFamily="34" charset="0"/>
                <a:ea typeface="Calibri" pitchFamily="34" charset="-122"/>
                <a:cs typeface="Calibri" pitchFamily="34" charset="-120"/>
              </a:rPr>
              <a:t>IDS — Process Monitoring</a:t>
            </a:r>
            <a:endParaRPr lang="en-US" sz="2800" dirty="0"/>
          </a:p>
        </p:txBody>
      </p:sp>
      <p:sp>
        <p:nvSpPr>
          <p:cNvPr id="3" name="Text 1"/>
          <p:cNvSpPr/>
          <p:nvPr/>
        </p:nvSpPr>
        <p:spPr>
          <a:xfrm>
            <a:off x="548640" y="868680"/>
            <a:ext cx="11094415" cy="320040"/>
          </a:xfrm>
          <a:prstGeom prst="rect">
            <a:avLst/>
          </a:prstGeom>
          <a:noFill/>
          <a:ln/>
        </p:spPr>
        <p:txBody>
          <a:bodyPr wrap="square" lIns="0" tIns="0" rIns="0" bIns="0" rtlCol="0" anchor="ctr"/>
          <a:lstStyle/>
          <a:p>
            <a:pPr marL="0" indent="0" algn="l">
              <a:buNone/>
            </a:pPr>
            <a:r>
              <a:rPr lang="en-US" sz="1300" i="1" dirty="0">
                <a:solidFill>
                  <a:srgbClr val="5B6B85"/>
                </a:solidFill>
                <a:latin typeface="Calibri" pitchFamily="34" charset="0"/>
                <a:ea typeface="Calibri" pitchFamily="34" charset="-122"/>
                <a:cs typeface="Calibri" pitchFamily="34" charset="-120"/>
              </a:rPr>
              <a:t>How the IDS builds a baseline and compares processes</a:t>
            </a:r>
            <a:endParaRPr lang="en-US" sz="1300" dirty="0"/>
          </a:p>
        </p:txBody>
      </p:sp>
      <p:sp>
        <p:nvSpPr>
          <p:cNvPr id="4" name="Shape 2"/>
          <p:cNvSpPr/>
          <p:nvPr/>
        </p:nvSpPr>
        <p:spPr>
          <a:xfrm>
            <a:off x="274320" y="457200"/>
            <a:ext cx="109728" cy="365760"/>
          </a:xfrm>
          <a:prstGeom prst="rect">
            <a:avLst/>
          </a:prstGeom>
          <a:solidFill>
            <a:srgbClr val="00A8E8"/>
          </a:solidFill>
          <a:ln w="12700">
            <a:solidFill>
              <a:srgbClr val="00A8E8"/>
            </a:solidFill>
            <a:prstDash val="solid"/>
          </a:ln>
        </p:spPr>
      </p:sp>
      <p:sp>
        <p:nvSpPr>
          <p:cNvPr id="5" name="Shape 3"/>
          <p:cNvSpPr/>
          <p:nvPr/>
        </p:nvSpPr>
        <p:spPr>
          <a:xfrm>
            <a:off x="548640" y="1417320"/>
            <a:ext cx="1554480" cy="1005840"/>
          </a:xfrm>
          <a:prstGeom prst="rect">
            <a:avLst/>
          </a:prstGeom>
          <a:solidFill>
            <a:srgbClr val="0F1E3D"/>
          </a:solidFill>
          <a:ln w="12700">
            <a:solidFill>
              <a:srgbClr val="0F1E3D"/>
            </a:solidFill>
            <a:prstDash val="solid"/>
          </a:ln>
        </p:spPr>
      </p:sp>
      <p:sp>
        <p:nvSpPr>
          <p:cNvPr id="6" name="Shape 4"/>
          <p:cNvSpPr/>
          <p:nvPr/>
        </p:nvSpPr>
        <p:spPr>
          <a:xfrm>
            <a:off x="777240" y="1691640"/>
            <a:ext cx="457200" cy="457200"/>
          </a:xfrm>
          <a:prstGeom prst="ellipse">
            <a:avLst/>
          </a:prstGeom>
          <a:solidFill>
            <a:srgbClr val="00A8E8"/>
          </a:solidFill>
          <a:ln w="12700">
            <a:solidFill>
              <a:srgbClr val="00A8E8"/>
            </a:solidFill>
            <a:prstDash val="solid"/>
          </a:ln>
        </p:spPr>
      </p:sp>
      <p:pic>
        <p:nvPicPr>
          <p:cNvPr id="7" name="Image 0" descr="preencoded.png"/>
          <p:cNvPicPr>
            <a:picLocks noChangeAspect="1"/>
          </p:cNvPicPr>
          <p:nvPr/>
        </p:nvPicPr>
        <p:blipFill>
          <a:blip r:embed="rId3"/>
          <a:stretch>
            <a:fillRect/>
          </a:stretch>
        </p:blipFill>
        <p:spPr>
          <a:xfrm>
            <a:off x="886968" y="1801368"/>
            <a:ext cx="237744" cy="237744"/>
          </a:xfrm>
          <a:prstGeom prst="rect">
            <a:avLst/>
          </a:prstGeom>
        </p:spPr>
      </p:pic>
      <p:sp>
        <p:nvSpPr>
          <p:cNvPr id="8" name="Text 5"/>
          <p:cNvSpPr/>
          <p:nvPr/>
        </p:nvSpPr>
        <p:spPr>
          <a:xfrm>
            <a:off x="1325880" y="1417320"/>
            <a:ext cx="731520" cy="100584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Run</a:t>
            </a:r>
            <a:endParaRPr lang="en-US" sz="1200" dirty="0"/>
          </a:p>
        </p:txBody>
      </p:sp>
      <p:pic>
        <p:nvPicPr>
          <p:cNvPr id="9" name="Image 1" descr="preencoded.png"/>
          <p:cNvPicPr>
            <a:picLocks noChangeAspect="1"/>
          </p:cNvPicPr>
          <p:nvPr/>
        </p:nvPicPr>
        <p:blipFill>
          <a:blip r:embed="rId4"/>
          <a:stretch>
            <a:fillRect/>
          </a:stretch>
        </p:blipFill>
        <p:spPr>
          <a:xfrm>
            <a:off x="2377440" y="1783080"/>
            <a:ext cx="274320" cy="274320"/>
          </a:xfrm>
          <a:prstGeom prst="rect">
            <a:avLst/>
          </a:prstGeom>
        </p:spPr>
      </p:pic>
      <p:sp>
        <p:nvSpPr>
          <p:cNvPr id="10" name="Shape 6"/>
          <p:cNvSpPr/>
          <p:nvPr/>
        </p:nvSpPr>
        <p:spPr>
          <a:xfrm>
            <a:off x="2926080" y="1417320"/>
            <a:ext cx="1554480" cy="1005840"/>
          </a:xfrm>
          <a:prstGeom prst="rect">
            <a:avLst/>
          </a:prstGeom>
          <a:solidFill>
            <a:srgbClr val="0F1E3D"/>
          </a:solidFill>
          <a:ln w="12700">
            <a:solidFill>
              <a:srgbClr val="0F1E3D"/>
            </a:solidFill>
            <a:prstDash val="solid"/>
          </a:ln>
        </p:spPr>
      </p:sp>
      <p:sp>
        <p:nvSpPr>
          <p:cNvPr id="11" name="Shape 7"/>
          <p:cNvSpPr/>
          <p:nvPr/>
        </p:nvSpPr>
        <p:spPr>
          <a:xfrm>
            <a:off x="3154680" y="1691640"/>
            <a:ext cx="457200" cy="457200"/>
          </a:xfrm>
          <a:prstGeom prst="ellipse">
            <a:avLst/>
          </a:prstGeom>
          <a:solidFill>
            <a:srgbClr val="00A8E8"/>
          </a:solidFill>
          <a:ln w="12700">
            <a:solidFill>
              <a:srgbClr val="00A8E8"/>
            </a:solidFill>
            <a:prstDash val="solid"/>
          </a:ln>
        </p:spPr>
      </p:sp>
      <p:pic>
        <p:nvPicPr>
          <p:cNvPr id="12" name="Image 2" descr="preencoded.png"/>
          <p:cNvPicPr>
            <a:picLocks noChangeAspect="1"/>
          </p:cNvPicPr>
          <p:nvPr/>
        </p:nvPicPr>
        <p:blipFill>
          <a:blip r:embed="rId5"/>
          <a:stretch>
            <a:fillRect/>
          </a:stretch>
        </p:blipFill>
        <p:spPr>
          <a:xfrm>
            <a:off x="3264408" y="1801368"/>
            <a:ext cx="237744" cy="237744"/>
          </a:xfrm>
          <a:prstGeom prst="rect">
            <a:avLst/>
          </a:prstGeom>
        </p:spPr>
      </p:pic>
      <p:sp>
        <p:nvSpPr>
          <p:cNvPr id="13" name="Text 8"/>
          <p:cNvSpPr/>
          <p:nvPr/>
        </p:nvSpPr>
        <p:spPr>
          <a:xfrm>
            <a:off x="3703320" y="1417320"/>
            <a:ext cx="731520" cy="100584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List processes</a:t>
            </a:r>
            <a:endParaRPr lang="en-US" sz="1200" dirty="0"/>
          </a:p>
        </p:txBody>
      </p:sp>
      <p:pic>
        <p:nvPicPr>
          <p:cNvPr id="14" name="Image 3" descr="preencoded.png"/>
          <p:cNvPicPr>
            <a:picLocks noChangeAspect="1"/>
          </p:cNvPicPr>
          <p:nvPr/>
        </p:nvPicPr>
        <p:blipFill>
          <a:blip r:embed="rId4"/>
          <a:stretch>
            <a:fillRect/>
          </a:stretch>
        </p:blipFill>
        <p:spPr>
          <a:xfrm>
            <a:off x="4754880" y="1783080"/>
            <a:ext cx="274320" cy="274320"/>
          </a:xfrm>
          <a:prstGeom prst="rect">
            <a:avLst/>
          </a:prstGeom>
        </p:spPr>
      </p:pic>
      <p:sp>
        <p:nvSpPr>
          <p:cNvPr id="15" name="Shape 9"/>
          <p:cNvSpPr/>
          <p:nvPr/>
        </p:nvSpPr>
        <p:spPr>
          <a:xfrm>
            <a:off x="5303520" y="1417320"/>
            <a:ext cx="1554480" cy="1005840"/>
          </a:xfrm>
          <a:prstGeom prst="rect">
            <a:avLst/>
          </a:prstGeom>
          <a:solidFill>
            <a:srgbClr val="0F1E3D"/>
          </a:solidFill>
          <a:ln w="12700">
            <a:solidFill>
              <a:srgbClr val="0F1E3D"/>
            </a:solidFill>
            <a:prstDash val="solid"/>
          </a:ln>
        </p:spPr>
      </p:sp>
      <p:sp>
        <p:nvSpPr>
          <p:cNvPr id="16" name="Shape 10"/>
          <p:cNvSpPr/>
          <p:nvPr/>
        </p:nvSpPr>
        <p:spPr>
          <a:xfrm>
            <a:off x="5532120" y="1691640"/>
            <a:ext cx="457200" cy="457200"/>
          </a:xfrm>
          <a:prstGeom prst="ellipse">
            <a:avLst/>
          </a:prstGeom>
          <a:solidFill>
            <a:srgbClr val="00A8E8"/>
          </a:solidFill>
          <a:ln w="12700">
            <a:solidFill>
              <a:srgbClr val="00A8E8"/>
            </a:solidFill>
            <a:prstDash val="solid"/>
          </a:ln>
        </p:spPr>
      </p:sp>
      <p:pic>
        <p:nvPicPr>
          <p:cNvPr id="17" name="Image 4" descr="preencoded.png"/>
          <p:cNvPicPr>
            <a:picLocks noChangeAspect="1"/>
          </p:cNvPicPr>
          <p:nvPr/>
        </p:nvPicPr>
        <p:blipFill>
          <a:blip r:embed="rId6"/>
          <a:stretch>
            <a:fillRect/>
          </a:stretch>
        </p:blipFill>
        <p:spPr>
          <a:xfrm>
            <a:off x="5641848" y="1801368"/>
            <a:ext cx="237744" cy="237744"/>
          </a:xfrm>
          <a:prstGeom prst="rect">
            <a:avLst/>
          </a:prstGeom>
        </p:spPr>
      </p:pic>
      <p:sp>
        <p:nvSpPr>
          <p:cNvPr id="18" name="Text 11"/>
          <p:cNvSpPr/>
          <p:nvPr/>
        </p:nvSpPr>
        <p:spPr>
          <a:xfrm>
            <a:off x="6080760" y="1417320"/>
            <a:ext cx="731520" cy="100584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Save baseline</a:t>
            </a:r>
            <a:endParaRPr lang="en-US" sz="1200" dirty="0"/>
          </a:p>
        </p:txBody>
      </p:sp>
      <p:pic>
        <p:nvPicPr>
          <p:cNvPr id="19" name="Image 5" descr="preencoded.png"/>
          <p:cNvPicPr>
            <a:picLocks noChangeAspect="1"/>
          </p:cNvPicPr>
          <p:nvPr/>
        </p:nvPicPr>
        <p:blipFill>
          <a:blip r:embed="rId4"/>
          <a:stretch>
            <a:fillRect/>
          </a:stretch>
        </p:blipFill>
        <p:spPr>
          <a:xfrm>
            <a:off x="7132320" y="1783080"/>
            <a:ext cx="274320" cy="274320"/>
          </a:xfrm>
          <a:prstGeom prst="rect">
            <a:avLst/>
          </a:prstGeom>
        </p:spPr>
      </p:pic>
      <p:sp>
        <p:nvSpPr>
          <p:cNvPr id="20" name="Shape 12"/>
          <p:cNvSpPr/>
          <p:nvPr/>
        </p:nvSpPr>
        <p:spPr>
          <a:xfrm>
            <a:off x="7680960" y="1417320"/>
            <a:ext cx="1554480" cy="1005840"/>
          </a:xfrm>
          <a:prstGeom prst="rect">
            <a:avLst/>
          </a:prstGeom>
          <a:solidFill>
            <a:srgbClr val="0F1E3D"/>
          </a:solidFill>
          <a:ln w="12700">
            <a:solidFill>
              <a:srgbClr val="0F1E3D"/>
            </a:solidFill>
            <a:prstDash val="solid"/>
          </a:ln>
        </p:spPr>
      </p:sp>
      <p:sp>
        <p:nvSpPr>
          <p:cNvPr id="21" name="Shape 13"/>
          <p:cNvSpPr/>
          <p:nvPr/>
        </p:nvSpPr>
        <p:spPr>
          <a:xfrm>
            <a:off x="7909560" y="1691640"/>
            <a:ext cx="457200" cy="457200"/>
          </a:xfrm>
          <a:prstGeom prst="ellipse">
            <a:avLst/>
          </a:prstGeom>
          <a:solidFill>
            <a:srgbClr val="00A8E8"/>
          </a:solidFill>
          <a:ln w="12700">
            <a:solidFill>
              <a:srgbClr val="00A8E8"/>
            </a:solidFill>
            <a:prstDash val="solid"/>
          </a:ln>
        </p:spPr>
      </p:sp>
      <p:pic>
        <p:nvPicPr>
          <p:cNvPr id="22" name="Image 6" descr="preencoded.png"/>
          <p:cNvPicPr>
            <a:picLocks noChangeAspect="1"/>
          </p:cNvPicPr>
          <p:nvPr/>
        </p:nvPicPr>
        <p:blipFill>
          <a:blip r:embed="rId7"/>
          <a:stretch>
            <a:fillRect/>
          </a:stretch>
        </p:blipFill>
        <p:spPr>
          <a:xfrm>
            <a:off x="8019288" y="1801368"/>
            <a:ext cx="237744" cy="237744"/>
          </a:xfrm>
          <a:prstGeom prst="rect">
            <a:avLst/>
          </a:prstGeom>
        </p:spPr>
      </p:pic>
      <p:sp>
        <p:nvSpPr>
          <p:cNvPr id="23" name="Text 14"/>
          <p:cNvSpPr/>
          <p:nvPr/>
        </p:nvSpPr>
        <p:spPr>
          <a:xfrm>
            <a:off x="8458200" y="1417320"/>
            <a:ext cx="731520" cy="100584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Compare later</a:t>
            </a:r>
            <a:endParaRPr lang="en-US" sz="1200" dirty="0"/>
          </a:p>
        </p:txBody>
      </p:sp>
      <p:pic>
        <p:nvPicPr>
          <p:cNvPr id="24" name="Image 7" descr="preencoded.png"/>
          <p:cNvPicPr>
            <a:picLocks noChangeAspect="1"/>
          </p:cNvPicPr>
          <p:nvPr/>
        </p:nvPicPr>
        <p:blipFill>
          <a:blip r:embed="rId4"/>
          <a:stretch>
            <a:fillRect/>
          </a:stretch>
        </p:blipFill>
        <p:spPr>
          <a:xfrm>
            <a:off x="9509760" y="1783080"/>
            <a:ext cx="274320" cy="274320"/>
          </a:xfrm>
          <a:prstGeom prst="rect">
            <a:avLst/>
          </a:prstGeom>
        </p:spPr>
      </p:pic>
      <p:sp>
        <p:nvSpPr>
          <p:cNvPr id="25" name="Shape 15"/>
          <p:cNvSpPr/>
          <p:nvPr/>
        </p:nvSpPr>
        <p:spPr>
          <a:xfrm>
            <a:off x="10058400" y="1417320"/>
            <a:ext cx="1554480" cy="1005840"/>
          </a:xfrm>
          <a:prstGeom prst="rect">
            <a:avLst/>
          </a:prstGeom>
          <a:solidFill>
            <a:srgbClr val="0F1E3D"/>
          </a:solidFill>
          <a:ln w="12700">
            <a:solidFill>
              <a:srgbClr val="0F1E3D"/>
            </a:solidFill>
            <a:prstDash val="solid"/>
          </a:ln>
        </p:spPr>
      </p:sp>
      <p:sp>
        <p:nvSpPr>
          <p:cNvPr id="26" name="Shape 16"/>
          <p:cNvSpPr/>
          <p:nvPr/>
        </p:nvSpPr>
        <p:spPr>
          <a:xfrm>
            <a:off x="10287000" y="1691640"/>
            <a:ext cx="457200" cy="457200"/>
          </a:xfrm>
          <a:prstGeom prst="ellipse">
            <a:avLst/>
          </a:prstGeom>
          <a:solidFill>
            <a:srgbClr val="00A8E8"/>
          </a:solidFill>
          <a:ln w="12700">
            <a:solidFill>
              <a:srgbClr val="00A8E8"/>
            </a:solidFill>
            <a:prstDash val="solid"/>
          </a:ln>
        </p:spPr>
      </p:sp>
      <p:pic>
        <p:nvPicPr>
          <p:cNvPr id="27" name="Image 8" descr="preencoded.png"/>
          <p:cNvPicPr>
            <a:picLocks noChangeAspect="1"/>
          </p:cNvPicPr>
          <p:nvPr/>
        </p:nvPicPr>
        <p:blipFill>
          <a:blip r:embed="rId8"/>
          <a:stretch>
            <a:fillRect/>
          </a:stretch>
        </p:blipFill>
        <p:spPr>
          <a:xfrm>
            <a:off x="10396728" y="1801368"/>
            <a:ext cx="237744" cy="237744"/>
          </a:xfrm>
          <a:prstGeom prst="rect">
            <a:avLst/>
          </a:prstGeom>
        </p:spPr>
      </p:pic>
      <p:sp>
        <p:nvSpPr>
          <p:cNvPr id="28" name="Text 17"/>
          <p:cNvSpPr/>
          <p:nvPr/>
        </p:nvSpPr>
        <p:spPr>
          <a:xfrm>
            <a:off x="10835640" y="1417320"/>
            <a:ext cx="731520" cy="100584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Save alerts</a:t>
            </a:r>
            <a:endParaRPr lang="en-US" sz="1200" dirty="0"/>
          </a:p>
        </p:txBody>
      </p:sp>
      <p:sp>
        <p:nvSpPr>
          <p:cNvPr id="29" name="Shape 18"/>
          <p:cNvSpPr/>
          <p:nvPr/>
        </p:nvSpPr>
        <p:spPr>
          <a:xfrm>
            <a:off x="548640" y="2697480"/>
            <a:ext cx="6949440" cy="3474720"/>
          </a:xfrm>
          <a:prstGeom prst="rect">
            <a:avLst/>
          </a:prstGeom>
          <a:solidFill>
            <a:srgbClr val="0B1730"/>
          </a:solidFill>
          <a:ln w="12700">
            <a:solidFill>
              <a:srgbClr val="0B1730"/>
            </a:solidFill>
            <a:prstDash val="solid"/>
          </a:ln>
          <a:effectLst>
            <a:outerShdw blurRad="152400" dist="50800" dir="5400000" algn="bl" rotWithShape="0">
              <a:srgbClr val="000000">
                <a:alpha val="20000"/>
              </a:srgbClr>
            </a:outerShdw>
          </a:effectLst>
        </p:spPr>
      </p:sp>
      <p:sp>
        <p:nvSpPr>
          <p:cNvPr id="30" name="Shape 19"/>
          <p:cNvSpPr/>
          <p:nvPr/>
        </p:nvSpPr>
        <p:spPr>
          <a:xfrm>
            <a:off x="548640" y="2697480"/>
            <a:ext cx="6949440" cy="365760"/>
          </a:xfrm>
          <a:prstGeom prst="rect">
            <a:avLst/>
          </a:prstGeom>
          <a:solidFill>
            <a:srgbClr val="1A2A4F"/>
          </a:solidFill>
          <a:ln w="12700">
            <a:solidFill>
              <a:srgbClr val="1A2A4F"/>
            </a:solidFill>
            <a:prstDash val="solid"/>
          </a:ln>
        </p:spPr>
      </p:sp>
      <p:sp>
        <p:nvSpPr>
          <p:cNvPr id="31" name="Shape 20"/>
          <p:cNvSpPr/>
          <p:nvPr/>
        </p:nvSpPr>
        <p:spPr>
          <a:xfrm>
            <a:off x="685800" y="2816352"/>
            <a:ext cx="146304" cy="146304"/>
          </a:xfrm>
          <a:prstGeom prst="ellipse">
            <a:avLst/>
          </a:prstGeom>
          <a:solidFill>
            <a:srgbClr val="E74C3C"/>
          </a:solidFill>
          <a:ln w="12700">
            <a:solidFill>
              <a:srgbClr val="E74C3C"/>
            </a:solidFill>
            <a:prstDash val="solid"/>
          </a:ln>
        </p:spPr>
      </p:sp>
      <p:sp>
        <p:nvSpPr>
          <p:cNvPr id="32" name="Shape 21"/>
          <p:cNvSpPr/>
          <p:nvPr/>
        </p:nvSpPr>
        <p:spPr>
          <a:xfrm>
            <a:off x="886968" y="2816352"/>
            <a:ext cx="146304" cy="146304"/>
          </a:xfrm>
          <a:prstGeom prst="ellipse">
            <a:avLst/>
          </a:prstGeom>
          <a:solidFill>
            <a:srgbClr val="F39C12"/>
          </a:solidFill>
          <a:ln w="12700">
            <a:solidFill>
              <a:srgbClr val="F39C12"/>
            </a:solidFill>
            <a:prstDash val="solid"/>
          </a:ln>
        </p:spPr>
      </p:sp>
      <p:sp>
        <p:nvSpPr>
          <p:cNvPr id="33" name="Shape 22"/>
          <p:cNvSpPr/>
          <p:nvPr/>
        </p:nvSpPr>
        <p:spPr>
          <a:xfrm>
            <a:off x="1088136" y="2816352"/>
            <a:ext cx="146304" cy="146304"/>
          </a:xfrm>
          <a:prstGeom prst="ellipse">
            <a:avLst/>
          </a:prstGeom>
          <a:solidFill>
            <a:srgbClr val="27AE60"/>
          </a:solidFill>
          <a:ln w="12700">
            <a:solidFill>
              <a:srgbClr val="27AE60"/>
            </a:solidFill>
            <a:prstDash val="solid"/>
          </a:ln>
        </p:spPr>
      </p:sp>
      <p:sp>
        <p:nvSpPr>
          <p:cNvPr id="34" name="Text 23"/>
          <p:cNvSpPr/>
          <p:nvPr/>
        </p:nvSpPr>
        <p:spPr>
          <a:xfrm>
            <a:off x="1371600" y="2697480"/>
            <a:ext cx="6035040" cy="365760"/>
          </a:xfrm>
          <a:prstGeom prst="rect">
            <a:avLst/>
          </a:prstGeom>
          <a:noFill/>
          <a:ln/>
        </p:spPr>
        <p:txBody>
          <a:bodyPr wrap="square" lIns="0" tIns="0" rIns="0" bIns="0" rtlCol="0" anchor="ctr"/>
          <a:lstStyle/>
          <a:p>
            <a:pPr marL="0" indent="0" algn="l">
              <a:buNone/>
            </a:pPr>
            <a:r>
              <a:rPr lang="en-US" sz="1000" dirty="0" err="1">
                <a:solidFill>
                  <a:srgbClr val="CADCFC"/>
                </a:solidFill>
                <a:latin typeface="Consolas" pitchFamily="34" charset="0"/>
                <a:ea typeface="Consolas" pitchFamily="34" charset="-122"/>
                <a:cs typeface="Consolas" pitchFamily="34" charset="-120"/>
              </a:rPr>
              <a:t>main.py</a:t>
            </a:r>
            <a:r>
              <a:rPr lang="en-US" sz="1000" dirty="0">
                <a:solidFill>
                  <a:srgbClr val="CADCFC"/>
                </a:solidFill>
                <a:latin typeface="Consolas" pitchFamily="34" charset="0"/>
                <a:ea typeface="Consolas" pitchFamily="34" charset="-122"/>
                <a:cs typeface="Consolas" pitchFamily="34" charset="-120"/>
              </a:rPr>
              <a:t> — process_monitoring</a:t>
            </a:r>
            <a:endParaRPr lang="en-US" sz="1000" dirty="0"/>
          </a:p>
        </p:txBody>
      </p:sp>
      <p:sp>
        <p:nvSpPr>
          <p:cNvPr id="36" name="Shape 25"/>
          <p:cNvSpPr/>
          <p:nvPr/>
        </p:nvSpPr>
        <p:spPr>
          <a:xfrm>
            <a:off x="7680960" y="2697480"/>
            <a:ext cx="4023360" cy="3474720"/>
          </a:xfrm>
          <a:prstGeom prst="rect">
            <a:avLst/>
          </a:prstGeom>
          <a:solidFill>
            <a:srgbClr val="FFFFFF"/>
          </a:solidFill>
          <a:ln w="12700">
            <a:solidFill>
              <a:srgbClr val="D6DBE5"/>
            </a:solidFill>
            <a:prstDash val="solid"/>
          </a:ln>
        </p:spPr>
      </p:sp>
      <p:sp>
        <p:nvSpPr>
          <p:cNvPr id="37" name="Shape 26"/>
          <p:cNvSpPr/>
          <p:nvPr/>
        </p:nvSpPr>
        <p:spPr>
          <a:xfrm>
            <a:off x="7680960" y="2697480"/>
            <a:ext cx="4023360" cy="457200"/>
          </a:xfrm>
          <a:prstGeom prst="rect">
            <a:avLst/>
          </a:prstGeom>
          <a:solidFill>
            <a:srgbClr val="1E2761"/>
          </a:solidFill>
          <a:ln w="12700">
            <a:solidFill>
              <a:srgbClr val="1E2761"/>
            </a:solidFill>
            <a:prstDash val="solid"/>
          </a:ln>
        </p:spPr>
      </p:sp>
      <p:sp>
        <p:nvSpPr>
          <p:cNvPr id="38" name="Text 27"/>
          <p:cNvSpPr/>
          <p:nvPr/>
        </p:nvSpPr>
        <p:spPr>
          <a:xfrm>
            <a:off x="7863840" y="2697480"/>
            <a:ext cx="3749040" cy="45720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How it works</a:t>
            </a:r>
            <a:endParaRPr lang="en-US" sz="1300" dirty="0"/>
          </a:p>
        </p:txBody>
      </p:sp>
      <p:sp>
        <p:nvSpPr>
          <p:cNvPr id="39" name="Shape 28"/>
          <p:cNvSpPr/>
          <p:nvPr/>
        </p:nvSpPr>
        <p:spPr>
          <a:xfrm>
            <a:off x="7818120" y="3337560"/>
            <a:ext cx="228600" cy="228600"/>
          </a:xfrm>
          <a:prstGeom prst="ellipse">
            <a:avLst/>
          </a:prstGeom>
          <a:solidFill>
            <a:srgbClr val="00A8E8"/>
          </a:solidFill>
          <a:ln w="12700">
            <a:solidFill>
              <a:srgbClr val="00A8E8"/>
            </a:solidFill>
            <a:prstDash val="solid"/>
          </a:ln>
        </p:spPr>
      </p:sp>
      <p:sp>
        <p:nvSpPr>
          <p:cNvPr id="40" name="Text 29"/>
          <p:cNvSpPr/>
          <p:nvPr/>
        </p:nvSpPr>
        <p:spPr>
          <a:xfrm>
            <a:off x="7818120" y="333756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41" name="Text 30"/>
          <p:cNvSpPr/>
          <p:nvPr/>
        </p:nvSpPr>
        <p:spPr>
          <a:xfrm>
            <a:off x="8138160" y="3291840"/>
            <a:ext cx="3520440" cy="914400"/>
          </a:xfrm>
          <a:prstGeom prst="rect">
            <a:avLst/>
          </a:prstGeom>
          <a:noFill/>
          <a:ln/>
        </p:spPr>
        <p:txBody>
          <a:bodyPr wrap="square" lIns="0" tIns="0" rIns="0" bIns="0" rtlCol="0" anchor="t"/>
          <a:lstStyle/>
          <a:p>
            <a:pPr marL="0" indent="0" algn="l">
              <a:buNone/>
            </a:pPr>
            <a:r>
              <a:rPr lang="en-US" sz="1150" dirty="0">
                <a:solidFill>
                  <a:srgbClr val="1A2138"/>
                </a:solidFill>
                <a:latin typeface="Calibri" pitchFamily="34" charset="0"/>
                <a:ea typeface="Calibri" pitchFamily="34" charset="-122"/>
                <a:cs typeface="Calibri" pitchFamily="34" charset="-120"/>
              </a:rPr>
              <a:t>build_process_baseline runs the ps command and returns the list of running processes.</a:t>
            </a:r>
            <a:endParaRPr lang="en-US" sz="1150" dirty="0"/>
          </a:p>
        </p:txBody>
      </p:sp>
      <p:sp>
        <p:nvSpPr>
          <p:cNvPr id="42" name="Shape 31"/>
          <p:cNvSpPr/>
          <p:nvPr/>
        </p:nvSpPr>
        <p:spPr>
          <a:xfrm>
            <a:off x="7818120" y="4297680"/>
            <a:ext cx="228600" cy="228600"/>
          </a:xfrm>
          <a:prstGeom prst="ellipse">
            <a:avLst/>
          </a:prstGeom>
          <a:solidFill>
            <a:srgbClr val="00A8E8"/>
          </a:solidFill>
          <a:ln w="12700">
            <a:solidFill>
              <a:srgbClr val="00A8E8"/>
            </a:solidFill>
            <a:prstDash val="solid"/>
          </a:ln>
        </p:spPr>
      </p:sp>
      <p:sp>
        <p:nvSpPr>
          <p:cNvPr id="43" name="Text 32"/>
          <p:cNvSpPr/>
          <p:nvPr/>
        </p:nvSpPr>
        <p:spPr>
          <a:xfrm>
            <a:off x="7818120" y="429768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44" name="Text 33"/>
          <p:cNvSpPr/>
          <p:nvPr/>
        </p:nvSpPr>
        <p:spPr>
          <a:xfrm>
            <a:off x="8138160" y="4251960"/>
            <a:ext cx="3520440" cy="914400"/>
          </a:xfrm>
          <a:prstGeom prst="rect">
            <a:avLst/>
          </a:prstGeom>
          <a:noFill/>
          <a:ln/>
        </p:spPr>
        <p:txBody>
          <a:bodyPr wrap="square" lIns="0" tIns="0" rIns="0" bIns="0" rtlCol="0" anchor="t"/>
          <a:lstStyle/>
          <a:p>
            <a:pPr marL="0" indent="0" algn="l">
              <a:buNone/>
            </a:pPr>
            <a:r>
              <a:rPr lang="en-US" sz="1150" dirty="0">
                <a:solidFill>
                  <a:srgbClr val="1A2138"/>
                </a:solidFill>
                <a:latin typeface="Calibri" pitchFamily="34" charset="0"/>
                <a:ea typeface="Calibri" pitchFamily="34" charset="-122"/>
                <a:cs typeface="Calibri" pitchFamily="34" charset="-120"/>
              </a:rPr>
              <a:t>The first run saves this list to process_baseline.json.</a:t>
            </a:r>
            <a:endParaRPr lang="en-US" sz="1150" dirty="0"/>
          </a:p>
        </p:txBody>
      </p:sp>
      <p:sp>
        <p:nvSpPr>
          <p:cNvPr id="45" name="Shape 34"/>
          <p:cNvSpPr/>
          <p:nvPr/>
        </p:nvSpPr>
        <p:spPr>
          <a:xfrm>
            <a:off x="7818120" y="5257800"/>
            <a:ext cx="228600" cy="228600"/>
          </a:xfrm>
          <a:prstGeom prst="ellipse">
            <a:avLst/>
          </a:prstGeom>
          <a:solidFill>
            <a:srgbClr val="00A8E8"/>
          </a:solidFill>
          <a:ln w="12700">
            <a:solidFill>
              <a:srgbClr val="00A8E8"/>
            </a:solidFill>
            <a:prstDash val="solid"/>
          </a:ln>
        </p:spPr>
      </p:sp>
      <p:sp>
        <p:nvSpPr>
          <p:cNvPr id="46" name="Text 35"/>
          <p:cNvSpPr/>
          <p:nvPr/>
        </p:nvSpPr>
        <p:spPr>
          <a:xfrm>
            <a:off x="7818120" y="525780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47" name="Text 36"/>
          <p:cNvSpPr/>
          <p:nvPr/>
        </p:nvSpPr>
        <p:spPr>
          <a:xfrm>
            <a:off x="8138160" y="5212080"/>
            <a:ext cx="3520440" cy="914400"/>
          </a:xfrm>
          <a:prstGeom prst="rect">
            <a:avLst/>
          </a:prstGeom>
          <a:noFill/>
          <a:ln/>
        </p:spPr>
        <p:txBody>
          <a:bodyPr wrap="square" lIns="0" tIns="0" rIns="0" bIns="0" rtlCol="0" anchor="t"/>
          <a:lstStyle/>
          <a:p>
            <a:pPr marL="0" indent="0" algn="l">
              <a:buNone/>
            </a:pPr>
            <a:r>
              <a:rPr lang="en-US" sz="1150" dirty="0">
                <a:solidFill>
                  <a:srgbClr val="1A2138"/>
                </a:solidFill>
                <a:latin typeface="Calibri" pitchFamily="34" charset="0"/>
                <a:ea typeface="Calibri" pitchFamily="34" charset="-122"/>
                <a:cs typeface="Calibri" pitchFamily="34" charset="-120"/>
              </a:rPr>
              <a:t>compare_processes uses Python sets to find new and stopped processes between two snapshots.</a:t>
            </a:r>
            <a:endParaRPr lang="en-US" sz="1150" dirty="0"/>
          </a:p>
        </p:txBody>
      </p:sp>
      <p:sp>
        <p:nvSpPr>
          <p:cNvPr id="48" name="Shape 37"/>
          <p:cNvSpPr/>
          <p:nvPr/>
        </p:nvSpPr>
        <p:spPr>
          <a:xfrm>
            <a:off x="0" y="6537960"/>
            <a:ext cx="12191695" cy="320040"/>
          </a:xfrm>
          <a:prstGeom prst="rect">
            <a:avLst/>
          </a:prstGeom>
          <a:solidFill>
            <a:srgbClr val="0F1E3D"/>
          </a:solidFill>
          <a:ln w="12700">
            <a:solidFill>
              <a:srgbClr val="0F1E3D"/>
            </a:solidFill>
            <a:prstDash val="solid"/>
          </a:ln>
        </p:spPr>
      </p:sp>
      <p:sp>
        <p:nvSpPr>
          <p:cNvPr id="49" name="Text 38"/>
          <p:cNvSpPr/>
          <p:nvPr/>
        </p:nvSpPr>
        <p:spPr>
          <a:xfrm>
            <a:off x="457200" y="6547104"/>
            <a:ext cx="7315200" cy="30175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Information Security Final Project  |  Farid &amp; Sami</a:t>
            </a:r>
            <a:endParaRPr lang="en-US" sz="900" dirty="0"/>
          </a:p>
        </p:txBody>
      </p:sp>
      <p:sp>
        <p:nvSpPr>
          <p:cNvPr id="50" name="Text 39"/>
          <p:cNvSpPr/>
          <p:nvPr/>
        </p:nvSpPr>
        <p:spPr>
          <a:xfrm>
            <a:off x="10820095" y="6547104"/>
            <a:ext cx="914400" cy="30175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6 / 12</a:t>
            </a:r>
            <a:endParaRPr lang="en-US" sz="900" dirty="0"/>
          </a:p>
        </p:txBody>
      </p:sp>
      <p:sp>
        <p:nvSpPr>
          <p:cNvPr id="52" name="TextBox 51">
            <a:extLst>
              <a:ext uri="{FF2B5EF4-FFF2-40B4-BE49-F238E27FC236}">
                <a16:creationId xmlns:a16="http://schemas.microsoft.com/office/drawing/2014/main" id="{3B5595C3-942A-C248-FEC1-9D25896DDF4C}"/>
              </a:ext>
            </a:extLst>
          </p:cNvPr>
          <p:cNvSpPr txBox="1"/>
          <p:nvPr/>
        </p:nvSpPr>
        <p:spPr>
          <a:xfrm>
            <a:off x="754380" y="3098202"/>
            <a:ext cx="4343400" cy="3000821"/>
          </a:xfrm>
          <a:prstGeom prst="rect">
            <a:avLst/>
          </a:prstGeom>
          <a:noFill/>
        </p:spPr>
        <p:txBody>
          <a:bodyPr wrap="square" rtlCol="0">
            <a:spAutoFit/>
          </a:bodyPr>
          <a:lstStyle/>
          <a:p>
            <a:r>
              <a:rPr lang="en-US" sz="1050" dirty="0">
                <a:solidFill>
                  <a:schemeClr val="bg1"/>
                </a:solidFill>
              </a:rPr>
              <a:t>def </a:t>
            </a:r>
            <a:r>
              <a:rPr lang="en-US" sz="1050" dirty="0" err="1">
                <a:solidFill>
                  <a:schemeClr val="bg1"/>
                </a:solidFill>
              </a:rPr>
              <a:t>get_running_processes</a:t>
            </a:r>
            <a:r>
              <a:rPr lang="en-US" sz="1050" dirty="0">
                <a:solidFill>
                  <a:schemeClr val="bg1"/>
                </a:solidFill>
              </a:rPr>
              <a:t>() -&gt; </a:t>
            </a:r>
            <a:r>
              <a:rPr lang="en-US" sz="1050" dirty="0" err="1">
                <a:solidFill>
                  <a:schemeClr val="bg1"/>
                </a:solidFill>
              </a:rPr>
              <a:t>dict</a:t>
            </a:r>
            <a:r>
              <a:rPr lang="en-US" sz="1050" dirty="0">
                <a:solidFill>
                  <a:schemeClr val="bg1"/>
                </a:solidFill>
              </a:rPr>
              <a:t>[str, str]:</a:t>
            </a:r>
          </a:p>
          <a:p>
            <a:r>
              <a:rPr lang="en-US" sz="1050" dirty="0">
                <a:solidFill>
                  <a:schemeClr val="bg1"/>
                </a:solidFill>
              </a:rPr>
              <a:t>    result = </a:t>
            </a:r>
            <a:r>
              <a:rPr lang="en-US" sz="1050" dirty="0" err="1">
                <a:solidFill>
                  <a:schemeClr val="bg1"/>
                </a:solidFill>
              </a:rPr>
              <a:t>subprocess.run</a:t>
            </a:r>
            <a:r>
              <a:rPr lang="en-US" sz="1050" dirty="0">
                <a:solidFill>
                  <a:schemeClr val="bg1"/>
                </a:solidFill>
              </a:rPr>
              <a:t>(</a:t>
            </a:r>
          </a:p>
          <a:p>
            <a:r>
              <a:rPr lang="en-US" sz="1050" dirty="0">
                <a:solidFill>
                  <a:schemeClr val="bg1"/>
                </a:solidFill>
              </a:rPr>
              <a:t>        ["</a:t>
            </a:r>
            <a:r>
              <a:rPr lang="en-US" sz="1050" dirty="0" err="1">
                <a:solidFill>
                  <a:schemeClr val="bg1"/>
                </a:solidFill>
              </a:rPr>
              <a:t>ps</a:t>
            </a:r>
            <a:r>
              <a:rPr lang="en-US" sz="1050" dirty="0">
                <a:solidFill>
                  <a:schemeClr val="bg1"/>
                </a:solidFill>
              </a:rPr>
              <a:t>", "-</a:t>
            </a:r>
            <a:r>
              <a:rPr lang="en-US" sz="1050" dirty="0" err="1">
                <a:solidFill>
                  <a:schemeClr val="bg1"/>
                </a:solidFill>
              </a:rPr>
              <a:t>eo</a:t>
            </a:r>
            <a:r>
              <a:rPr lang="en-US" sz="1050" dirty="0">
                <a:solidFill>
                  <a:schemeClr val="bg1"/>
                </a:solidFill>
              </a:rPr>
              <a:t>", "</a:t>
            </a:r>
            <a:r>
              <a:rPr lang="en-US" sz="1050" dirty="0" err="1">
                <a:solidFill>
                  <a:schemeClr val="bg1"/>
                </a:solidFill>
              </a:rPr>
              <a:t>pid,comm</a:t>
            </a:r>
            <a:r>
              <a:rPr lang="en-US" sz="1050" dirty="0">
                <a:solidFill>
                  <a:schemeClr val="bg1"/>
                </a:solidFill>
              </a:rPr>
              <a:t>"],</a:t>
            </a:r>
          </a:p>
          <a:p>
            <a:r>
              <a:rPr lang="en-US" sz="1050" dirty="0">
                <a:solidFill>
                  <a:schemeClr val="bg1"/>
                </a:solidFill>
              </a:rPr>
              <a:t>        </a:t>
            </a:r>
            <a:r>
              <a:rPr lang="en-US" sz="1050" dirty="0" err="1">
                <a:solidFill>
                  <a:schemeClr val="bg1"/>
                </a:solidFill>
              </a:rPr>
              <a:t>capture_output</a:t>
            </a:r>
            <a:r>
              <a:rPr lang="en-US" sz="1050" dirty="0">
                <a:solidFill>
                  <a:schemeClr val="bg1"/>
                </a:solidFill>
              </a:rPr>
              <a:t>=True,</a:t>
            </a:r>
          </a:p>
          <a:p>
            <a:r>
              <a:rPr lang="en-US" sz="1050" dirty="0">
                <a:solidFill>
                  <a:schemeClr val="bg1"/>
                </a:solidFill>
              </a:rPr>
              <a:t>        text=True,</a:t>
            </a:r>
          </a:p>
          <a:p>
            <a:r>
              <a:rPr lang="en-US" sz="1050" dirty="0">
                <a:solidFill>
                  <a:schemeClr val="bg1"/>
                </a:solidFill>
              </a:rPr>
              <a:t>        check=True,</a:t>
            </a:r>
          </a:p>
          <a:p>
            <a:r>
              <a:rPr lang="en-US" sz="1050" dirty="0">
                <a:solidFill>
                  <a:schemeClr val="bg1"/>
                </a:solidFill>
              </a:rPr>
              <a:t>    )</a:t>
            </a:r>
          </a:p>
          <a:p>
            <a:endParaRPr lang="en-US" sz="1050" dirty="0">
              <a:solidFill>
                <a:schemeClr val="bg1"/>
              </a:solidFill>
            </a:endParaRPr>
          </a:p>
          <a:p>
            <a:r>
              <a:rPr lang="en-US" sz="1050" dirty="0">
                <a:solidFill>
                  <a:schemeClr val="bg1"/>
                </a:solidFill>
              </a:rPr>
              <a:t>    processes = {}</a:t>
            </a:r>
          </a:p>
          <a:p>
            <a:endParaRPr lang="en-US" sz="1050" dirty="0">
              <a:solidFill>
                <a:schemeClr val="bg1"/>
              </a:solidFill>
            </a:endParaRPr>
          </a:p>
          <a:p>
            <a:r>
              <a:rPr lang="en-US" sz="1050" dirty="0">
                <a:solidFill>
                  <a:schemeClr val="bg1"/>
                </a:solidFill>
              </a:rPr>
              <a:t>    for line in </a:t>
            </a:r>
            <a:r>
              <a:rPr lang="en-US" sz="1050" dirty="0" err="1">
                <a:solidFill>
                  <a:schemeClr val="bg1"/>
                </a:solidFill>
              </a:rPr>
              <a:t>result.stdout.strip</a:t>
            </a:r>
            <a:r>
              <a:rPr lang="en-US" sz="1050" dirty="0">
                <a:solidFill>
                  <a:schemeClr val="bg1"/>
                </a:solidFill>
              </a:rPr>
              <a:t>().</a:t>
            </a:r>
            <a:r>
              <a:rPr lang="en-US" sz="1050" dirty="0" err="1">
                <a:solidFill>
                  <a:schemeClr val="bg1"/>
                </a:solidFill>
              </a:rPr>
              <a:t>splitlines</a:t>
            </a:r>
            <a:r>
              <a:rPr lang="en-US" sz="1050" dirty="0">
                <a:solidFill>
                  <a:schemeClr val="bg1"/>
                </a:solidFill>
              </a:rPr>
              <a:t>()[1:]:</a:t>
            </a:r>
          </a:p>
          <a:p>
            <a:r>
              <a:rPr lang="en-US" sz="1050" dirty="0">
                <a:solidFill>
                  <a:schemeClr val="bg1"/>
                </a:solidFill>
              </a:rPr>
              <a:t>        parts = </a:t>
            </a:r>
            <a:r>
              <a:rPr lang="en-US" sz="1050" dirty="0" err="1">
                <a:solidFill>
                  <a:schemeClr val="bg1"/>
                </a:solidFill>
              </a:rPr>
              <a:t>line.strip</a:t>
            </a:r>
            <a:r>
              <a:rPr lang="en-US" sz="1050" dirty="0">
                <a:solidFill>
                  <a:schemeClr val="bg1"/>
                </a:solidFill>
              </a:rPr>
              <a:t>().split(</a:t>
            </a:r>
            <a:r>
              <a:rPr lang="en-US" sz="1050" dirty="0" err="1">
                <a:solidFill>
                  <a:schemeClr val="bg1"/>
                </a:solidFill>
              </a:rPr>
              <a:t>maxsplit</a:t>
            </a:r>
            <a:r>
              <a:rPr lang="en-US" sz="1050" dirty="0">
                <a:solidFill>
                  <a:schemeClr val="bg1"/>
                </a:solidFill>
              </a:rPr>
              <a:t>=1)</a:t>
            </a:r>
          </a:p>
          <a:p>
            <a:endParaRPr lang="en-US" sz="1050" dirty="0">
              <a:solidFill>
                <a:schemeClr val="bg1"/>
              </a:solidFill>
            </a:endParaRPr>
          </a:p>
          <a:p>
            <a:r>
              <a:rPr lang="en-US" sz="1050" dirty="0">
                <a:solidFill>
                  <a:schemeClr val="bg1"/>
                </a:solidFill>
              </a:rPr>
              <a:t>        if </a:t>
            </a:r>
            <a:r>
              <a:rPr lang="en-US" sz="1050" dirty="0" err="1">
                <a:solidFill>
                  <a:schemeClr val="bg1"/>
                </a:solidFill>
              </a:rPr>
              <a:t>len</a:t>
            </a:r>
            <a:r>
              <a:rPr lang="en-US" sz="1050" dirty="0">
                <a:solidFill>
                  <a:schemeClr val="bg1"/>
                </a:solidFill>
              </a:rPr>
              <a:t>(parts) == 2:</a:t>
            </a:r>
          </a:p>
          <a:p>
            <a:r>
              <a:rPr lang="en-US" sz="1050" dirty="0">
                <a:solidFill>
                  <a:schemeClr val="bg1"/>
                </a:solidFill>
              </a:rPr>
              <a:t>            </a:t>
            </a:r>
            <a:r>
              <a:rPr lang="en-US" sz="1050" dirty="0" err="1">
                <a:solidFill>
                  <a:schemeClr val="bg1"/>
                </a:solidFill>
              </a:rPr>
              <a:t>pid</a:t>
            </a:r>
            <a:r>
              <a:rPr lang="en-US" sz="1050" dirty="0">
                <a:solidFill>
                  <a:schemeClr val="bg1"/>
                </a:solidFill>
              </a:rPr>
              <a:t>, command = parts</a:t>
            </a:r>
          </a:p>
          <a:p>
            <a:r>
              <a:rPr lang="en-US" sz="1050" dirty="0">
                <a:solidFill>
                  <a:schemeClr val="bg1"/>
                </a:solidFill>
              </a:rPr>
              <a:t>            processes[</a:t>
            </a:r>
            <a:r>
              <a:rPr lang="en-US" sz="1050" dirty="0" err="1">
                <a:solidFill>
                  <a:schemeClr val="bg1"/>
                </a:solidFill>
              </a:rPr>
              <a:t>pid</a:t>
            </a:r>
            <a:r>
              <a:rPr lang="en-US" sz="1050" dirty="0">
                <a:solidFill>
                  <a:schemeClr val="bg1"/>
                </a:solidFill>
              </a:rPr>
              <a:t>] = command</a:t>
            </a:r>
          </a:p>
          <a:p>
            <a:endParaRPr lang="en-US" sz="1050" dirty="0">
              <a:solidFill>
                <a:schemeClr val="bg1"/>
              </a:solidFill>
            </a:endParaRPr>
          </a:p>
          <a:p>
            <a:r>
              <a:rPr lang="en-US" sz="1050" dirty="0">
                <a:solidFill>
                  <a:schemeClr val="bg1"/>
                </a:solidFill>
              </a:rPr>
              <a:t>    return processes</a:t>
            </a:r>
            <a:endParaRPr lang="en-KG" sz="105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274320" y="457200"/>
            <a:ext cx="109728" cy="365760"/>
          </a:xfrm>
          <a:prstGeom prst="rect">
            <a:avLst/>
          </a:prstGeom>
          <a:solidFill>
            <a:srgbClr val="00A8E8"/>
          </a:solidFill>
          <a:ln w="12700">
            <a:solidFill>
              <a:srgbClr val="00A8E8"/>
            </a:solidFill>
            <a:prstDash val="solid"/>
          </a:ln>
        </p:spPr>
      </p:sp>
      <p:sp>
        <p:nvSpPr>
          <p:cNvPr id="3" name="Text 1"/>
          <p:cNvSpPr/>
          <p:nvPr/>
        </p:nvSpPr>
        <p:spPr>
          <a:xfrm>
            <a:off x="548640" y="320040"/>
            <a:ext cx="9144000" cy="640080"/>
          </a:xfrm>
          <a:prstGeom prst="rect">
            <a:avLst/>
          </a:prstGeom>
          <a:noFill/>
          <a:ln/>
        </p:spPr>
        <p:txBody>
          <a:bodyPr wrap="square" lIns="0" tIns="0" rIns="0" bIns="0" rtlCol="0" anchor="ctr"/>
          <a:lstStyle/>
          <a:p>
            <a:pPr marL="0" indent="0" algn="l">
              <a:buNone/>
            </a:pPr>
            <a:r>
              <a:rPr lang="en-US" sz="2600" b="1" dirty="0">
                <a:solidFill>
                  <a:srgbClr val="0F1E3D"/>
                </a:solidFill>
                <a:latin typeface="Calibri" pitchFamily="34" charset="0"/>
                <a:ea typeface="Calibri" pitchFamily="34" charset="-122"/>
                <a:cs typeface="Calibri" pitchFamily="34" charset="-120"/>
              </a:rPr>
              <a:t>Tool 2 — File Integrity Monitoring System</a:t>
            </a:r>
            <a:endParaRPr lang="en-US" sz="2600" dirty="0"/>
          </a:p>
        </p:txBody>
      </p:sp>
      <p:sp>
        <p:nvSpPr>
          <p:cNvPr id="4" name="Shape 2"/>
          <p:cNvSpPr/>
          <p:nvPr/>
        </p:nvSpPr>
        <p:spPr>
          <a:xfrm>
            <a:off x="10058400" y="411480"/>
            <a:ext cx="1645920" cy="457200"/>
          </a:xfrm>
          <a:prstGeom prst="rect">
            <a:avLst/>
          </a:prstGeom>
          <a:solidFill>
            <a:srgbClr val="1E2761"/>
          </a:solidFill>
          <a:ln w="12700">
            <a:solidFill>
              <a:srgbClr val="1E2761"/>
            </a:solidFill>
            <a:prstDash val="solid"/>
          </a:ln>
        </p:spPr>
      </p:sp>
      <p:sp>
        <p:nvSpPr>
          <p:cNvPr id="5" name="Text 3"/>
          <p:cNvSpPr/>
          <p:nvPr/>
        </p:nvSpPr>
        <p:spPr>
          <a:xfrm>
            <a:off x="10058400" y="411480"/>
            <a:ext cx="1645920" cy="457200"/>
          </a:xfrm>
          <a:prstGeom prst="rect">
            <a:avLst/>
          </a:prstGeom>
          <a:noFill/>
          <a:ln/>
        </p:spPr>
        <p:txBody>
          <a:bodyPr wrap="square" lIns="0" tIns="0" rIns="0" bIns="0" rtlCol="0" anchor="ctr"/>
          <a:lstStyle/>
          <a:p>
            <a:pPr marL="0" indent="0" algn="ctr">
              <a:buNone/>
            </a:pPr>
            <a:r>
              <a:rPr lang="en-US" sz="1400" b="1" kern="0" spc="600" dirty="0">
                <a:solidFill>
                  <a:srgbClr val="FFFFFF"/>
                </a:solidFill>
                <a:latin typeface="Calibri" pitchFamily="34" charset="0"/>
                <a:ea typeface="Calibri" pitchFamily="34" charset="-122"/>
                <a:cs typeface="Calibri" pitchFamily="34" charset="-120"/>
              </a:rPr>
              <a:t>FIM</a:t>
            </a:r>
            <a:endParaRPr lang="en-US" sz="1400" dirty="0"/>
          </a:p>
        </p:txBody>
      </p:sp>
      <p:sp>
        <p:nvSpPr>
          <p:cNvPr id="6" name="Text 4"/>
          <p:cNvSpPr/>
          <p:nvPr/>
        </p:nvSpPr>
        <p:spPr>
          <a:xfrm>
            <a:off x="548640" y="914400"/>
            <a:ext cx="11064240" cy="320040"/>
          </a:xfrm>
          <a:prstGeom prst="rect">
            <a:avLst/>
          </a:prstGeom>
          <a:noFill/>
          <a:ln/>
        </p:spPr>
        <p:txBody>
          <a:bodyPr wrap="square" lIns="0" tIns="0" rIns="0" bIns="0" rtlCol="0" anchor="ctr"/>
          <a:lstStyle/>
          <a:p>
            <a:pPr marL="0" indent="0" algn="l">
              <a:buNone/>
            </a:pPr>
            <a:r>
              <a:rPr lang="en-US" sz="1300" i="1" dirty="0">
                <a:solidFill>
                  <a:srgbClr val="5B6B85"/>
                </a:solidFill>
                <a:latin typeface="Calibri" pitchFamily="34" charset="0"/>
                <a:ea typeface="Calibri" pitchFamily="34" charset="-122"/>
                <a:cs typeface="Calibri" pitchFamily="34" charset="-120"/>
              </a:rPr>
              <a:t>Computes a SHA-256 hash for each file we want to protect</a:t>
            </a:r>
            <a:endParaRPr lang="en-US" sz="1300" dirty="0"/>
          </a:p>
        </p:txBody>
      </p:sp>
      <p:sp>
        <p:nvSpPr>
          <p:cNvPr id="7" name="Shape 5"/>
          <p:cNvSpPr/>
          <p:nvPr/>
        </p:nvSpPr>
        <p:spPr>
          <a:xfrm>
            <a:off x="640080" y="1417320"/>
            <a:ext cx="457200" cy="457200"/>
          </a:xfrm>
          <a:prstGeom prst="ellipse">
            <a:avLst/>
          </a:prstGeom>
          <a:solidFill>
            <a:srgbClr val="0F1E3D"/>
          </a:solidFill>
          <a:ln w="12700">
            <a:solidFill>
              <a:srgbClr val="0F1E3D"/>
            </a:solidFill>
            <a:prstDash val="solid"/>
          </a:ln>
        </p:spPr>
      </p:sp>
      <p:pic>
        <p:nvPicPr>
          <p:cNvPr id="8" name="Image 0" descr="preencoded.png"/>
          <p:cNvPicPr>
            <a:picLocks noChangeAspect="1"/>
          </p:cNvPicPr>
          <p:nvPr/>
        </p:nvPicPr>
        <p:blipFill>
          <a:blip r:embed="rId3"/>
          <a:stretch>
            <a:fillRect/>
          </a:stretch>
        </p:blipFill>
        <p:spPr>
          <a:xfrm>
            <a:off x="749808" y="1536192"/>
            <a:ext cx="237744" cy="237744"/>
          </a:xfrm>
          <a:prstGeom prst="rect">
            <a:avLst/>
          </a:prstGeom>
        </p:spPr>
      </p:pic>
      <p:sp>
        <p:nvSpPr>
          <p:cNvPr id="9" name="Text 6"/>
          <p:cNvSpPr/>
          <p:nvPr/>
        </p:nvSpPr>
        <p:spPr>
          <a:xfrm>
            <a:off x="1234440" y="141732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Monitors important files</a:t>
            </a:r>
            <a:endParaRPr lang="en-US" sz="1300" dirty="0"/>
          </a:p>
        </p:txBody>
      </p:sp>
      <p:sp>
        <p:nvSpPr>
          <p:cNvPr id="10" name="Shape 7"/>
          <p:cNvSpPr/>
          <p:nvPr/>
        </p:nvSpPr>
        <p:spPr>
          <a:xfrm>
            <a:off x="640080" y="2057400"/>
            <a:ext cx="457200" cy="457200"/>
          </a:xfrm>
          <a:prstGeom prst="ellipse">
            <a:avLst/>
          </a:prstGeom>
          <a:solidFill>
            <a:srgbClr val="0F1E3D"/>
          </a:solidFill>
          <a:ln w="12700">
            <a:solidFill>
              <a:srgbClr val="0F1E3D"/>
            </a:solidFill>
            <a:prstDash val="solid"/>
          </a:ln>
        </p:spPr>
      </p:sp>
      <p:pic>
        <p:nvPicPr>
          <p:cNvPr id="11" name="Image 1" descr="preencoded.png"/>
          <p:cNvPicPr>
            <a:picLocks noChangeAspect="1"/>
          </p:cNvPicPr>
          <p:nvPr/>
        </p:nvPicPr>
        <p:blipFill>
          <a:blip r:embed="rId4"/>
          <a:stretch>
            <a:fillRect/>
          </a:stretch>
        </p:blipFill>
        <p:spPr>
          <a:xfrm>
            <a:off x="749808" y="2176272"/>
            <a:ext cx="237744" cy="237744"/>
          </a:xfrm>
          <a:prstGeom prst="rect">
            <a:avLst/>
          </a:prstGeom>
        </p:spPr>
      </p:pic>
      <p:sp>
        <p:nvSpPr>
          <p:cNvPr id="12" name="Text 8"/>
          <p:cNvSpPr/>
          <p:nvPr/>
        </p:nvSpPr>
        <p:spPr>
          <a:xfrm>
            <a:off x="1234440" y="205740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Uses SHA-256 hashing</a:t>
            </a:r>
            <a:endParaRPr lang="en-US" sz="1300" dirty="0"/>
          </a:p>
        </p:txBody>
      </p:sp>
      <p:sp>
        <p:nvSpPr>
          <p:cNvPr id="13" name="Shape 9"/>
          <p:cNvSpPr/>
          <p:nvPr/>
        </p:nvSpPr>
        <p:spPr>
          <a:xfrm>
            <a:off x="640080" y="2697480"/>
            <a:ext cx="457200" cy="457200"/>
          </a:xfrm>
          <a:prstGeom prst="ellipse">
            <a:avLst/>
          </a:prstGeom>
          <a:solidFill>
            <a:srgbClr val="0F1E3D"/>
          </a:solidFill>
          <a:ln w="12700">
            <a:solidFill>
              <a:srgbClr val="0F1E3D"/>
            </a:solidFill>
            <a:prstDash val="solid"/>
          </a:ln>
        </p:spPr>
      </p:sp>
      <p:pic>
        <p:nvPicPr>
          <p:cNvPr id="14" name="Image 2" descr="preencoded.png"/>
          <p:cNvPicPr>
            <a:picLocks noChangeAspect="1"/>
          </p:cNvPicPr>
          <p:nvPr/>
        </p:nvPicPr>
        <p:blipFill>
          <a:blip r:embed="rId5"/>
          <a:stretch>
            <a:fillRect/>
          </a:stretch>
        </p:blipFill>
        <p:spPr>
          <a:xfrm>
            <a:off x="749808" y="2816352"/>
            <a:ext cx="237744" cy="237744"/>
          </a:xfrm>
          <a:prstGeom prst="rect">
            <a:avLst/>
          </a:prstGeom>
        </p:spPr>
      </p:pic>
      <p:sp>
        <p:nvSpPr>
          <p:cNvPr id="15" name="Text 10"/>
          <p:cNvSpPr/>
          <p:nvPr/>
        </p:nvSpPr>
        <p:spPr>
          <a:xfrm>
            <a:off x="1234440" y="269748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Saves hashes in hashes.json</a:t>
            </a:r>
            <a:endParaRPr lang="en-US" sz="1300" dirty="0"/>
          </a:p>
        </p:txBody>
      </p:sp>
      <p:sp>
        <p:nvSpPr>
          <p:cNvPr id="16" name="Shape 11"/>
          <p:cNvSpPr/>
          <p:nvPr/>
        </p:nvSpPr>
        <p:spPr>
          <a:xfrm>
            <a:off x="640080" y="3337560"/>
            <a:ext cx="457200" cy="457200"/>
          </a:xfrm>
          <a:prstGeom prst="ellipse">
            <a:avLst/>
          </a:prstGeom>
          <a:solidFill>
            <a:srgbClr val="0F1E3D"/>
          </a:solidFill>
          <a:ln w="12700">
            <a:solidFill>
              <a:srgbClr val="0F1E3D"/>
            </a:solidFill>
            <a:prstDash val="solid"/>
          </a:ln>
        </p:spPr>
      </p:sp>
      <p:pic>
        <p:nvPicPr>
          <p:cNvPr id="17" name="Image 3" descr="preencoded.png"/>
          <p:cNvPicPr>
            <a:picLocks noChangeAspect="1"/>
          </p:cNvPicPr>
          <p:nvPr/>
        </p:nvPicPr>
        <p:blipFill>
          <a:blip r:embed="rId6"/>
          <a:stretch>
            <a:fillRect/>
          </a:stretch>
        </p:blipFill>
        <p:spPr>
          <a:xfrm>
            <a:off x="749808" y="3456432"/>
            <a:ext cx="237744" cy="237744"/>
          </a:xfrm>
          <a:prstGeom prst="rect">
            <a:avLst/>
          </a:prstGeom>
        </p:spPr>
      </p:pic>
      <p:sp>
        <p:nvSpPr>
          <p:cNvPr id="18" name="Text 12"/>
          <p:cNvSpPr/>
          <p:nvPr/>
        </p:nvSpPr>
        <p:spPr>
          <a:xfrm>
            <a:off x="1234440" y="333756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Compares current and saved hashes</a:t>
            </a:r>
            <a:endParaRPr lang="en-US" sz="1300" dirty="0"/>
          </a:p>
        </p:txBody>
      </p:sp>
      <p:sp>
        <p:nvSpPr>
          <p:cNvPr id="19" name="Shape 13"/>
          <p:cNvSpPr/>
          <p:nvPr/>
        </p:nvSpPr>
        <p:spPr>
          <a:xfrm>
            <a:off x="640080" y="3977640"/>
            <a:ext cx="457200" cy="457200"/>
          </a:xfrm>
          <a:prstGeom prst="ellipse">
            <a:avLst/>
          </a:prstGeom>
          <a:solidFill>
            <a:srgbClr val="0F1E3D"/>
          </a:solidFill>
          <a:ln w="12700">
            <a:solidFill>
              <a:srgbClr val="0F1E3D"/>
            </a:solidFill>
            <a:prstDash val="solid"/>
          </a:ln>
        </p:spPr>
      </p:sp>
      <p:pic>
        <p:nvPicPr>
          <p:cNvPr id="20" name="Image 4" descr="preencoded.png"/>
          <p:cNvPicPr>
            <a:picLocks noChangeAspect="1"/>
          </p:cNvPicPr>
          <p:nvPr/>
        </p:nvPicPr>
        <p:blipFill>
          <a:blip r:embed="rId7"/>
          <a:stretch>
            <a:fillRect/>
          </a:stretch>
        </p:blipFill>
        <p:spPr>
          <a:xfrm>
            <a:off x="749808" y="4096512"/>
            <a:ext cx="237744" cy="237744"/>
          </a:xfrm>
          <a:prstGeom prst="rect">
            <a:avLst/>
          </a:prstGeom>
        </p:spPr>
      </p:pic>
      <p:sp>
        <p:nvSpPr>
          <p:cNvPr id="21" name="Text 14"/>
          <p:cNvSpPr/>
          <p:nvPr/>
        </p:nvSpPr>
        <p:spPr>
          <a:xfrm>
            <a:off x="1234440" y="397764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Detects modified, deleted, new files</a:t>
            </a:r>
            <a:endParaRPr lang="en-US" sz="1300" dirty="0"/>
          </a:p>
        </p:txBody>
      </p:sp>
      <p:sp>
        <p:nvSpPr>
          <p:cNvPr id="22" name="Shape 15"/>
          <p:cNvSpPr/>
          <p:nvPr/>
        </p:nvSpPr>
        <p:spPr>
          <a:xfrm>
            <a:off x="6035040" y="1371600"/>
            <a:ext cx="5669280" cy="4572000"/>
          </a:xfrm>
          <a:prstGeom prst="rect">
            <a:avLst/>
          </a:prstGeom>
          <a:solidFill>
            <a:srgbClr val="0B1730"/>
          </a:solidFill>
          <a:ln w="12700">
            <a:solidFill>
              <a:srgbClr val="0B1730"/>
            </a:solidFill>
            <a:prstDash val="solid"/>
          </a:ln>
          <a:effectLst>
            <a:outerShdw blurRad="152400" dist="50800" dir="5400000" algn="bl" rotWithShape="0">
              <a:srgbClr val="000000">
                <a:alpha val="20000"/>
              </a:srgbClr>
            </a:outerShdw>
          </a:effectLst>
        </p:spPr>
      </p:sp>
      <p:sp>
        <p:nvSpPr>
          <p:cNvPr id="23" name="Shape 16"/>
          <p:cNvSpPr/>
          <p:nvPr/>
        </p:nvSpPr>
        <p:spPr>
          <a:xfrm>
            <a:off x="6035040" y="1371600"/>
            <a:ext cx="5669280" cy="365760"/>
          </a:xfrm>
          <a:prstGeom prst="rect">
            <a:avLst/>
          </a:prstGeom>
          <a:solidFill>
            <a:srgbClr val="1A2A4F"/>
          </a:solidFill>
          <a:ln w="12700">
            <a:solidFill>
              <a:srgbClr val="1A2A4F"/>
            </a:solidFill>
            <a:prstDash val="solid"/>
          </a:ln>
        </p:spPr>
      </p:sp>
      <p:sp>
        <p:nvSpPr>
          <p:cNvPr id="24" name="Shape 17"/>
          <p:cNvSpPr/>
          <p:nvPr/>
        </p:nvSpPr>
        <p:spPr>
          <a:xfrm>
            <a:off x="6172200" y="1490472"/>
            <a:ext cx="146304" cy="146304"/>
          </a:xfrm>
          <a:prstGeom prst="ellipse">
            <a:avLst/>
          </a:prstGeom>
          <a:solidFill>
            <a:srgbClr val="E74C3C"/>
          </a:solidFill>
          <a:ln w="12700">
            <a:solidFill>
              <a:srgbClr val="E74C3C"/>
            </a:solidFill>
            <a:prstDash val="solid"/>
          </a:ln>
        </p:spPr>
      </p:sp>
      <p:sp>
        <p:nvSpPr>
          <p:cNvPr id="25" name="Shape 18"/>
          <p:cNvSpPr/>
          <p:nvPr/>
        </p:nvSpPr>
        <p:spPr>
          <a:xfrm>
            <a:off x="6373368" y="1490472"/>
            <a:ext cx="146304" cy="146304"/>
          </a:xfrm>
          <a:prstGeom prst="ellipse">
            <a:avLst/>
          </a:prstGeom>
          <a:solidFill>
            <a:srgbClr val="F39C12"/>
          </a:solidFill>
          <a:ln w="12700">
            <a:solidFill>
              <a:srgbClr val="F39C12"/>
            </a:solidFill>
            <a:prstDash val="solid"/>
          </a:ln>
        </p:spPr>
      </p:sp>
      <p:sp>
        <p:nvSpPr>
          <p:cNvPr id="26" name="Shape 19"/>
          <p:cNvSpPr/>
          <p:nvPr/>
        </p:nvSpPr>
        <p:spPr>
          <a:xfrm>
            <a:off x="6574536" y="1490472"/>
            <a:ext cx="146304" cy="146304"/>
          </a:xfrm>
          <a:prstGeom prst="ellipse">
            <a:avLst/>
          </a:prstGeom>
          <a:solidFill>
            <a:srgbClr val="27AE60"/>
          </a:solidFill>
          <a:ln w="12700">
            <a:solidFill>
              <a:srgbClr val="27AE60"/>
            </a:solidFill>
            <a:prstDash val="solid"/>
          </a:ln>
        </p:spPr>
      </p:sp>
      <p:sp>
        <p:nvSpPr>
          <p:cNvPr id="27" name="Text 20"/>
          <p:cNvSpPr/>
          <p:nvPr/>
        </p:nvSpPr>
        <p:spPr>
          <a:xfrm>
            <a:off x="6858000" y="1371600"/>
            <a:ext cx="4754880" cy="365760"/>
          </a:xfrm>
          <a:prstGeom prst="rect">
            <a:avLst/>
          </a:prstGeom>
          <a:noFill/>
          <a:ln/>
        </p:spPr>
        <p:txBody>
          <a:bodyPr wrap="square" lIns="0" tIns="0" rIns="0" bIns="0" rtlCol="0" anchor="ctr"/>
          <a:lstStyle/>
          <a:p>
            <a:pPr marL="0" indent="0" algn="l">
              <a:buNone/>
            </a:pPr>
            <a:r>
              <a:rPr lang="en-US" sz="1000" dirty="0" err="1">
                <a:solidFill>
                  <a:srgbClr val="CADCFC"/>
                </a:solidFill>
                <a:latin typeface="Consolas" pitchFamily="34" charset="0"/>
                <a:ea typeface="Consolas" pitchFamily="34" charset="-122"/>
                <a:cs typeface="Consolas" pitchFamily="34" charset="-120"/>
              </a:rPr>
              <a:t>main.py</a:t>
            </a:r>
            <a:r>
              <a:rPr lang="en-US" sz="1000" dirty="0">
                <a:solidFill>
                  <a:srgbClr val="CADCFC"/>
                </a:solidFill>
                <a:latin typeface="Consolas" pitchFamily="34" charset="0"/>
                <a:ea typeface="Consolas" pitchFamily="34" charset="-122"/>
                <a:cs typeface="Consolas" pitchFamily="34" charset="-120"/>
              </a:rPr>
              <a:t> — file integrity hashing</a:t>
            </a:r>
            <a:endParaRPr lang="en-US" sz="1000" dirty="0"/>
          </a:p>
        </p:txBody>
      </p:sp>
      <p:sp>
        <p:nvSpPr>
          <p:cNvPr id="29" name="Shape 22"/>
          <p:cNvSpPr/>
          <p:nvPr/>
        </p:nvSpPr>
        <p:spPr>
          <a:xfrm>
            <a:off x="0" y="6537960"/>
            <a:ext cx="12191695" cy="320040"/>
          </a:xfrm>
          <a:prstGeom prst="rect">
            <a:avLst/>
          </a:prstGeom>
          <a:solidFill>
            <a:srgbClr val="0F1E3D"/>
          </a:solidFill>
          <a:ln w="12700">
            <a:solidFill>
              <a:srgbClr val="0F1E3D"/>
            </a:solidFill>
            <a:prstDash val="solid"/>
          </a:ln>
        </p:spPr>
      </p:sp>
      <p:sp>
        <p:nvSpPr>
          <p:cNvPr id="30" name="Text 23"/>
          <p:cNvSpPr/>
          <p:nvPr/>
        </p:nvSpPr>
        <p:spPr>
          <a:xfrm>
            <a:off x="457200" y="6547104"/>
            <a:ext cx="7315200" cy="30175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Information Security Final Project  |  Farid &amp; Sami</a:t>
            </a:r>
            <a:endParaRPr lang="en-US" sz="900" dirty="0"/>
          </a:p>
        </p:txBody>
      </p:sp>
      <p:sp>
        <p:nvSpPr>
          <p:cNvPr id="31" name="Text 24"/>
          <p:cNvSpPr/>
          <p:nvPr/>
        </p:nvSpPr>
        <p:spPr>
          <a:xfrm>
            <a:off x="10820095" y="6547104"/>
            <a:ext cx="914400" cy="30175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7 / 12</a:t>
            </a:r>
            <a:endParaRPr lang="en-US" sz="900" dirty="0"/>
          </a:p>
        </p:txBody>
      </p:sp>
      <p:sp>
        <p:nvSpPr>
          <p:cNvPr id="32" name="TextBox 31">
            <a:extLst>
              <a:ext uri="{FF2B5EF4-FFF2-40B4-BE49-F238E27FC236}">
                <a16:creationId xmlns:a16="http://schemas.microsoft.com/office/drawing/2014/main" id="{730BD32C-3A5E-FE0F-0C35-06053C16B1DE}"/>
              </a:ext>
            </a:extLst>
          </p:cNvPr>
          <p:cNvSpPr txBox="1"/>
          <p:nvPr/>
        </p:nvSpPr>
        <p:spPr>
          <a:xfrm>
            <a:off x="6096000" y="1773936"/>
            <a:ext cx="5516880" cy="2554545"/>
          </a:xfrm>
          <a:prstGeom prst="rect">
            <a:avLst/>
          </a:prstGeom>
          <a:noFill/>
        </p:spPr>
        <p:txBody>
          <a:bodyPr wrap="square" rtlCol="0">
            <a:spAutoFit/>
          </a:bodyPr>
          <a:lstStyle/>
          <a:p>
            <a:r>
              <a:rPr lang="en-US" sz="2000" dirty="0">
                <a:solidFill>
                  <a:schemeClr val="bg1"/>
                </a:solidFill>
              </a:rPr>
              <a:t>def calculate_sha256(</a:t>
            </a:r>
            <a:r>
              <a:rPr lang="en-US" sz="2000" dirty="0" err="1">
                <a:solidFill>
                  <a:schemeClr val="bg1"/>
                </a:solidFill>
              </a:rPr>
              <a:t>file_path</a:t>
            </a:r>
            <a:r>
              <a:rPr lang="en-US" sz="2000" dirty="0">
                <a:solidFill>
                  <a:schemeClr val="bg1"/>
                </a:solidFill>
              </a:rPr>
              <a:t>: Path) -&gt; str:</a:t>
            </a:r>
          </a:p>
          <a:p>
            <a:r>
              <a:rPr lang="en-US" sz="2000" dirty="0">
                <a:solidFill>
                  <a:schemeClr val="bg1"/>
                </a:solidFill>
              </a:rPr>
              <a:t>    sha256 = hashlib.sha256()</a:t>
            </a:r>
          </a:p>
          <a:p>
            <a:endParaRPr lang="en-US" sz="2000" dirty="0">
              <a:solidFill>
                <a:schemeClr val="bg1"/>
              </a:solidFill>
            </a:endParaRPr>
          </a:p>
          <a:p>
            <a:r>
              <a:rPr lang="en-US" sz="2000" dirty="0">
                <a:solidFill>
                  <a:schemeClr val="bg1"/>
                </a:solidFill>
              </a:rPr>
              <a:t>    with open(</a:t>
            </a:r>
            <a:r>
              <a:rPr lang="en-US" sz="2000" dirty="0" err="1">
                <a:solidFill>
                  <a:schemeClr val="bg1"/>
                </a:solidFill>
              </a:rPr>
              <a:t>file_path</a:t>
            </a:r>
            <a:r>
              <a:rPr lang="en-US" sz="2000" dirty="0">
                <a:solidFill>
                  <a:schemeClr val="bg1"/>
                </a:solidFill>
              </a:rPr>
              <a:t>, "</a:t>
            </a:r>
            <a:r>
              <a:rPr lang="en-US" sz="2000" dirty="0" err="1">
                <a:solidFill>
                  <a:schemeClr val="bg1"/>
                </a:solidFill>
              </a:rPr>
              <a:t>rb</a:t>
            </a:r>
            <a:r>
              <a:rPr lang="en-US" sz="2000" dirty="0">
                <a:solidFill>
                  <a:schemeClr val="bg1"/>
                </a:solidFill>
              </a:rPr>
              <a:t>") as file:</a:t>
            </a:r>
          </a:p>
          <a:p>
            <a:r>
              <a:rPr lang="en-US" sz="2000" dirty="0">
                <a:solidFill>
                  <a:schemeClr val="bg1"/>
                </a:solidFill>
              </a:rPr>
              <a:t>        while chunk := </a:t>
            </a:r>
            <a:r>
              <a:rPr lang="en-US" sz="2000" dirty="0" err="1">
                <a:solidFill>
                  <a:schemeClr val="bg1"/>
                </a:solidFill>
              </a:rPr>
              <a:t>file.read</a:t>
            </a:r>
            <a:r>
              <a:rPr lang="en-US" sz="2000" dirty="0">
                <a:solidFill>
                  <a:schemeClr val="bg1"/>
                </a:solidFill>
              </a:rPr>
              <a:t>(4096):</a:t>
            </a:r>
          </a:p>
          <a:p>
            <a:r>
              <a:rPr lang="en-US" sz="2000" dirty="0">
                <a:solidFill>
                  <a:schemeClr val="bg1"/>
                </a:solidFill>
              </a:rPr>
              <a:t>            sha256.update(chunk)</a:t>
            </a:r>
          </a:p>
          <a:p>
            <a:endParaRPr lang="en-US" sz="2000" dirty="0">
              <a:solidFill>
                <a:schemeClr val="bg1"/>
              </a:solidFill>
            </a:endParaRPr>
          </a:p>
          <a:p>
            <a:r>
              <a:rPr lang="en-US" sz="2000" dirty="0">
                <a:solidFill>
                  <a:schemeClr val="bg1"/>
                </a:solidFill>
              </a:rPr>
              <a:t>    return sha256.hexdigest()</a:t>
            </a:r>
            <a:endParaRPr lang="en-KG" sz="20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640080"/>
          </a:xfrm>
          <a:prstGeom prst="rect">
            <a:avLst/>
          </a:prstGeom>
          <a:noFill/>
          <a:ln/>
        </p:spPr>
        <p:txBody>
          <a:bodyPr wrap="square" lIns="0" tIns="0" rIns="0" bIns="0" rtlCol="0" anchor="ctr"/>
          <a:lstStyle/>
          <a:p>
            <a:pPr marL="0" indent="0" algn="l">
              <a:buNone/>
            </a:pPr>
            <a:r>
              <a:rPr lang="en-US" sz="2800" b="1" dirty="0">
                <a:solidFill>
                  <a:srgbClr val="0F1E3D"/>
                </a:solidFill>
                <a:latin typeface="Calibri" pitchFamily="34" charset="0"/>
                <a:ea typeface="Calibri" pitchFamily="34" charset="-122"/>
                <a:cs typeface="Calibri" pitchFamily="34" charset="-120"/>
              </a:rPr>
              <a:t>FIM — Detecting Changes</a:t>
            </a:r>
            <a:endParaRPr lang="en-US" sz="2800" dirty="0"/>
          </a:p>
        </p:txBody>
      </p:sp>
      <p:sp>
        <p:nvSpPr>
          <p:cNvPr id="3" name="Text 1"/>
          <p:cNvSpPr/>
          <p:nvPr/>
        </p:nvSpPr>
        <p:spPr>
          <a:xfrm>
            <a:off x="548640" y="868680"/>
            <a:ext cx="11094415" cy="320040"/>
          </a:xfrm>
          <a:prstGeom prst="rect">
            <a:avLst/>
          </a:prstGeom>
          <a:noFill/>
          <a:ln/>
        </p:spPr>
        <p:txBody>
          <a:bodyPr wrap="square" lIns="0" tIns="0" rIns="0" bIns="0" rtlCol="0" anchor="ctr"/>
          <a:lstStyle/>
          <a:p>
            <a:pPr marL="0" indent="0" algn="l">
              <a:buNone/>
            </a:pPr>
            <a:r>
              <a:rPr lang="en-US" sz="1300" i="1" dirty="0">
                <a:solidFill>
                  <a:srgbClr val="5B6B85"/>
                </a:solidFill>
                <a:latin typeface="Calibri" pitchFamily="34" charset="0"/>
                <a:ea typeface="Calibri" pitchFamily="34" charset="-122"/>
                <a:cs typeface="Calibri" pitchFamily="34" charset="-120"/>
              </a:rPr>
              <a:t>How the integrity checker compares old and new hashes</a:t>
            </a:r>
            <a:endParaRPr lang="en-US" sz="1300" dirty="0"/>
          </a:p>
        </p:txBody>
      </p:sp>
      <p:sp>
        <p:nvSpPr>
          <p:cNvPr id="4" name="Shape 2"/>
          <p:cNvSpPr/>
          <p:nvPr/>
        </p:nvSpPr>
        <p:spPr>
          <a:xfrm>
            <a:off x="274320" y="457200"/>
            <a:ext cx="109728" cy="365760"/>
          </a:xfrm>
          <a:prstGeom prst="rect">
            <a:avLst/>
          </a:prstGeom>
          <a:solidFill>
            <a:srgbClr val="00A8E8"/>
          </a:solidFill>
          <a:ln w="12700">
            <a:solidFill>
              <a:srgbClr val="00A8E8"/>
            </a:solidFill>
            <a:prstDash val="solid"/>
          </a:ln>
        </p:spPr>
      </p:sp>
      <p:sp>
        <p:nvSpPr>
          <p:cNvPr id="5" name="Shape 3"/>
          <p:cNvSpPr/>
          <p:nvPr/>
        </p:nvSpPr>
        <p:spPr>
          <a:xfrm>
            <a:off x="548640" y="1417320"/>
            <a:ext cx="6858000" cy="4754880"/>
          </a:xfrm>
          <a:prstGeom prst="rect">
            <a:avLst/>
          </a:prstGeom>
          <a:solidFill>
            <a:srgbClr val="0B1730"/>
          </a:solidFill>
          <a:ln w="12700">
            <a:solidFill>
              <a:srgbClr val="0B1730"/>
            </a:solidFill>
            <a:prstDash val="solid"/>
          </a:ln>
          <a:effectLst>
            <a:outerShdw blurRad="152400" dist="50800" dir="5400000" algn="bl" rotWithShape="0">
              <a:srgbClr val="000000">
                <a:alpha val="20000"/>
              </a:srgbClr>
            </a:outerShdw>
          </a:effectLst>
        </p:spPr>
      </p:sp>
      <p:sp>
        <p:nvSpPr>
          <p:cNvPr id="6" name="Shape 4"/>
          <p:cNvSpPr/>
          <p:nvPr/>
        </p:nvSpPr>
        <p:spPr>
          <a:xfrm>
            <a:off x="548640" y="1417320"/>
            <a:ext cx="6858000" cy="365760"/>
          </a:xfrm>
          <a:prstGeom prst="rect">
            <a:avLst/>
          </a:prstGeom>
          <a:solidFill>
            <a:srgbClr val="1A2A4F"/>
          </a:solidFill>
          <a:ln w="12700">
            <a:solidFill>
              <a:srgbClr val="1A2A4F"/>
            </a:solidFill>
            <a:prstDash val="solid"/>
          </a:ln>
        </p:spPr>
      </p:sp>
      <p:sp>
        <p:nvSpPr>
          <p:cNvPr id="7" name="Shape 5"/>
          <p:cNvSpPr/>
          <p:nvPr/>
        </p:nvSpPr>
        <p:spPr>
          <a:xfrm>
            <a:off x="685800" y="1536192"/>
            <a:ext cx="146304" cy="146304"/>
          </a:xfrm>
          <a:prstGeom prst="ellipse">
            <a:avLst/>
          </a:prstGeom>
          <a:solidFill>
            <a:srgbClr val="E74C3C"/>
          </a:solidFill>
          <a:ln w="12700">
            <a:solidFill>
              <a:srgbClr val="E74C3C"/>
            </a:solidFill>
            <a:prstDash val="solid"/>
          </a:ln>
        </p:spPr>
      </p:sp>
      <p:sp>
        <p:nvSpPr>
          <p:cNvPr id="8" name="Shape 6"/>
          <p:cNvSpPr/>
          <p:nvPr/>
        </p:nvSpPr>
        <p:spPr>
          <a:xfrm>
            <a:off x="886968" y="1536192"/>
            <a:ext cx="146304" cy="146304"/>
          </a:xfrm>
          <a:prstGeom prst="ellipse">
            <a:avLst/>
          </a:prstGeom>
          <a:solidFill>
            <a:srgbClr val="F39C12"/>
          </a:solidFill>
          <a:ln w="12700">
            <a:solidFill>
              <a:srgbClr val="F39C12"/>
            </a:solidFill>
            <a:prstDash val="solid"/>
          </a:ln>
        </p:spPr>
      </p:sp>
      <p:sp>
        <p:nvSpPr>
          <p:cNvPr id="9" name="Shape 7"/>
          <p:cNvSpPr/>
          <p:nvPr/>
        </p:nvSpPr>
        <p:spPr>
          <a:xfrm>
            <a:off x="1088136" y="1536192"/>
            <a:ext cx="146304" cy="146304"/>
          </a:xfrm>
          <a:prstGeom prst="ellipse">
            <a:avLst/>
          </a:prstGeom>
          <a:solidFill>
            <a:srgbClr val="27AE60"/>
          </a:solidFill>
          <a:ln w="12700">
            <a:solidFill>
              <a:srgbClr val="27AE60"/>
            </a:solidFill>
            <a:prstDash val="solid"/>
          </a:ln>
        </p:spPr>
      </p:sp>
      <p:sp>
        <p:nvSpPr>
          <p:cNvPr id="10" name="Text 8"/>
          <p:cNvSpPr/>
          <p:nvPr/>
        </p:nvSpPr>
        <p:spPr>
          <a:xfrm>
            <a:off x="1371600" y="1417320"/>
            <a:ext cx="5943600" cy="365760"/>
          </a:xfrm>
          <a:prstGeom prst="rect">
            <a:avLst/>
          </a:prstGeom>
          <a:noFill/>
          <a:ln/>
        </p:spPr>
        <p:txBody>
          <a:bodyPr wrap="square" lIns="0" tIns="0" rIns="0" bIns="0" rtlCol="0" anchor="ctr"/>
          <a:lstStyle/>
          <a:p>
            <a:pPr marL="0" indent="0" algn="l">
              <a:buNone/>
            </a:pPr>
            <a:r>
              <a:rPr lang="en-US" sz="1000" dirty="0" err="1">
                <a:solidFill>
                  <a:srgbClr val="CADCFC"/>
                </a:solidFill>
                <a:latin typeface="Consolas" pitchFamily="34" charset="0"/>
                <a:ea typeface="Consolas" pitchFamily="34" charset="-122"/>
                <a:cs typeface="Consolas" pitchFamily="34" charset="-120"/>
              </a:rPr>
              <a:t>main.py</a:t>
            </a:r>
            <a:r>
              <a:rPr lang="en-US" sz="1000" dirty="0">
                <a:solidFill>
                  <a:srgbClr val="CADCFC"/>
                </a:solidFill>
                <a:latin typeface="Consolas" pitchFamily="34" charset="0"/>
                <a:ea typeface="Consolas" pitchFamily="34" charset="-122"/>
                <a:cs typeface="Consolas" pitchFamily="34" charset="-120"/>
              </a:rPr>
              <a:t> — integrity verification</a:t>
            </a:r>
            <a:endParaRPr lang="en-US" sz="1000" dirty="0"/>
          </a:p>
        </p:txBody>
      </p:sp>
      <p:sp>
        <p:nvSpPr>
          <p:cNvPr id="12" name="Shape 10"/>
          <p:cNvSpPr/>
          <p:nvPr/>
        </p:nvSpPr>
        <p:spPr>
          <a:xfrm>
            <a:off x="7589520" y="1417320"/>
            <a:ext cx="4114800" cy="4754880"/>
          </a:xfrm>
          <a:prstGeom prst="rect">
            <a:avLst/>
          </a:prstGeom>
          <a:solidFill>
            <a:srgbClr val="FFFFFF"/>
          </a:solidFill>
          <a:ln w="12700">
            <a:solidFill>
              <a:srgbClr val="D6DBE5"/>
            </a:solidFill>
            <a:prstDash val="solid"/>
          </a:ln>
        </p:spPr>
      </p:sp>
      <p:sp>
        <p:nvSpPr>
          <p:cNvPr id="13" name="Shape 11"/>
          <p:cNvSpPr/>
          <p:nvPr/>
        </p:nvSpPr>
        <p:spPr>
          <a:xfrm>
            <a:off x="7589520" y="1417320"/>
            <a:ext cx="4114800" cy="457200"/>
          </a:xfrm>
          <a:prstGeom prst="rect">
            <a:avLst/>
          </a:prstGeom>
          <a:solidFill>
            <a:srgbClr val="1E2761"/>
          </a:solidFill>
          <a:ln w="12700">
            <a:solidFill>
              <a:srgbClr val="1E2761"/>
            </a:solidFill>
            <a:prstDash val="solid"/>
          </a:ln>
        </p:spPr>
      </p:sp>
      <p:sp>
        <p:nvSpPr>
          <p:cNvPr id="14" name="Text 12"/>
          <p:cNvSpPr/>
          <p:nvPr/>
        </p:nvSpPr>
        <p:spPr>
          <a:xfrm>
            <a:off x="7772400" y="1417320"/>
            <a:ext cx="3931920" cy="45720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What we detect</a:t>
            </a:r>
            <a:endParaRPr lang="en-US" sz="1300" dirty="0"/>
          </a:p>
        </p:txBody>
      </p:sp>
      <p:sp>
        <p:nvSpPr>
          <p:cNvPr id="15" name="Shape 13"/>
          <p:cNvSpPr/>
          <p:nvPr/>
        </p:nvSpPr>
        <p:spPr>
          <a:xfrm>
            <a:off x="7726680" y="2057400"/>
            <a:ext cx="3840480" cy="1188720"/>
          </a:xfrm>
          <a:prstGeom prst="rect">
            <a:avLst/>
          </a:prstGeom>
          <a:solidFill>
            <a:srgbClr val="F4F6FA"/>
          </a:solidFill>
          <a:ln w="12700">
            <a:solidFill>
              <a:srgbClr val="D6DBE5"/>
            </a:solidFill>
            <a:prstDash val="solid"/>
          </a:ln>
        </p:spPr>
      </p:sp>
      <p:sp>
        <p:nvSpPr>
          <p:cNvPr id="16" name="Shape 14"/>
          <p:cNvSpPr/>
          <p:nvPr/>
        </p:nvSpPr>
        <p:spPr>
          <a:xfrm>
            <a:off x="7726680" y="2057400"/>
            <a:ext cx="91440" cy="1188720"/>
          </a:xfrm>
          <a:prstGeom prst="rect">
            <a:avLst/>
          </a:prstGeom>
          <a:solidFill>
            <a:srgbClr val="F2B705"/>
          </a:solidFill>
          <a:ln w="12700">
            <a:solidFill>
              <a:srgbClr val="F2B705"/>
            </a:solidFill>
            <a:prstDash val="solid"/>
          </a:ln>
        </p:spPr>
      </p:sp>
      <p:sp>
        <p:nvSpPr>
          <p:cNvPr id="17" name="Shape 15"/>
          <p:cNvSpPr/>
          <p:nvPr/>
        </p:nvSpPr>
        <p:spPr>
          <a:xfrm>
            <a:off x="7955280" y="2331720"/>
            <a:ext cx="640080" cy="640080"/>
          </a:xfrm>
          <a:prstGeom prst="ellipse">
            <a:avLst/>
          </a:prstGeom>
          <a:solidFill>
            <a:srgbClr val="F2B705"/>
          </a:solidFill>
          <a:ln w="12700">
            <a:solidFill>
              <a:srgbClr val="F2B705"/>
            </a:solidFill>
            <a:prstDash val="solid"/>
          </a:ln>
        </p:spPr>
      </p:sp>
      <p:pic>
        <p:nvPicPr>
          <p:cNvPr id="18" name="Image 0" descr="preencoded.png"/>
          <p:cNvPicPr>
            <a:picLocks noChangeAspect="1"/>
          </p:cNvPicPr>
          <p:nvPr/>
        </p:nvPicPr>
        <p:blipFill>
          <a:blip r:embed="rId3"/>
          <a:stretch>
            <a:fillRect/>
          </a:stretch>
        </p:blipFill>
        <p:spPr>
          <a:xfrm>
            <a:off x="8101584" y="2478024"/>
            <a:ext cx="347472" cy="347472"/>
          </a:xfrm>
          <a:prstGeom prst="rect">
            <a:avLst/>
          </a:prstGeom>
        </p:spPr>
      </p:pic>
      <p:sp>
        <p:nvSpPr>
          <p:cNvPr id="19" name="Text 16"/>
          <p:cNvSpPr/>
          <p:nvPr/>
        </p:nvSpPr>
        <p:spPr>
          <a:xfrm>
            <a:off x="8732520" y="2148840"/>
            <a:ext cx="2743200" cy="365760"/>
          </a:xfrm>
          <a:prstGeom prst="rect">
            <a:avLst/>
          </a:prstGeom>
          <a:noFill/>
          <a:ln/>
        </p:spPr>
        <p:txBody>
          <a:bodyPr wrap="square" lIns="0" tIns="0" rIns="0" bIns="0" rtlCol="0" anchor="ctr"/>
          <a:lstStyle/>
          <a:p>
            <a:pPr marL="0" indent="0" algn="l">
              <a:buNone/>
            </a:pPr>
            <a:r>
              <a:rPr lang="en-US" sz="1400" b="1" dirty="0">
                <a:solidFill>
                  <a:srgbClr val="0F1E3D"/>
                </a:solidFill>
                <a:latin typeface="Calibri" pitchFamily="34" charset="0"/>
                <a:ea typeface="Calibri" pitchFamily="34" charset="-122"/>
                <a:cs typeface="Calibri" pitchFamily="34" charset="-120"/>
              </a:rPr>
              <a:t>Modified</a:t>
            </a:r>
            <a:endParaRPr lang="en-US" sz="1400" dirty="0"/>
          </a:p>
        </p:txBody>
      </p:sp>
      <p:sp>
        <p:nvSpPr>
          <p:cNvPr id="20" name="Text 17"/>
          <p:cNvSpPr/>
          <p:nvPr/>
        </p:nvSpPr>
        <p:spPr>
          <a:xfrm>
            <a:off x="8732520" y="2560320"/>
            <a:ext cx="2743200" cy="685800"/>
          </a:xfrm>
          <a:prstGeom prst="rect">
            <a:avLst/>
          </a:prstGeom>
          <a:noFill/>
          <a:ln/>
        </p:spPr>
        <p:txBody>
          <a:bodyPr wrap="square" lIns="0" tIns="0" rIns="0" bIns="0" rtlCol="0" anchor="t"/>
          <a:lstStyle/>
          <a:p>
            <a:pPr marL="0" indent="0" algn="l">
              <a:buNone/>
            </a:pPr>
            <a:r>
              <a:rPr lang="en-US" sz="1100" dirty="0">
                <a:solidFill>
                  <a:srgbClr val="1A2138"/>
                </a:solidFill>
                <a:latin typeface="Calibri" pitchFamily="34" charset="0"/>
                <a:ea typeface="Calibri" pitchFamily="34" charset="-122"/>
                <a:cs typeface="Calibri" pitchFamily="34" charset="-120"/>
              </a:rPr>
              <a:t>Hash is different — file was changed.</a:t>
            </a:r>
            <a:endParaRPr lang="en-US" sz="1100" dirty="0"/>
          </a:p>
        </p:txBody>
      </p:sp>
      <p:sp>
        <p:nvSpPr>
          <p:cNvPr id="21" name="Shape 18"/>
          <p:cNvSpPr/>
          <p:nvPr/>
        </p:nvSpPr>
        <p:spPr>
          <a:xfrm>
            <a:off x="7726680" y="3429000"/>
            <a:ext cx="3840480" cy="1188720"/>
          </a:xfrm>
          <a:prstGeom prst="rect">
            <a:avLst/>
          </a:prstGeom>
          <a:solidFill>
            <a:srgbClr val="F4F6FA"/>
          </a:solidFill>
          <a:ln w="12700">
            <a:solidFill>
              <a:srgbClr val="D6DBE5"/>
            </a:solidFill>
            <a:prstDash val="solid"/>
          </a:ln>
        </p:spPr>
      </p:sp>
      <p:sp>
        <p:nvSpPr>
          <p:cNvPr id="22" name="Shape 19"/>
          <p:cNvSpPr/>
          <p:nvPr/>
        </p:nvSpPr>
        <p:spPr>
          <a:xfrm>
            <a:off x="7726680" y="3429000"/>
            <a:ext cx="91440" cy="1188720"/>
          </a:xfrm>
          <a:prstGeom prst="rect">
            <a:avLst/>
          </a:prstGeom>
          <a:solidFill>
            <a:srgbClr val="D64545"/>
          </a:solidFill>
          <a:ln w="12700">
            <a:solidFill>
              <a:srgbClr val="D64545"/>
            </a:solidFill>
            <a:prstDash val="solid"/>
          </a:ln>
        </p:spPr>
      </p:sp>
      <p:sp>
        <p:nvSpPr>
          <p:cNvPr id="23" name="Shape 20"/>
          <p:cNvSpPr/>
          <p:nvPr/>
        </p:nvSpPr>
        <p:spPr>
          <a:xfrm>
            <a:off x="7955280" y="3703320"/>
            <a:ext cx="640080" cy="640080"/>
          </a:xfrm>
          <a:prstGeom prst="ellipse">
            <a:avLst/>
          </a:prstGeom>
          <a:solidFill>
            <a:srgbClr val="D64545"/>
          </a:solidFill>
          <a:ln w="12700">
            <a:solidFill>
              <a:srgbClr val="D64545"/>
            </a:solidFill>
            <a:prstDash val="solid"/>
          </a:ln>
        </p:spPr>
      </p:sp>
      <p:pic>
        <p:nvPicPr>
          <p:cNvPr id="24" name="Image 1" descr="preencoded.png"/>
          <p:cNvPicPr>
            <a:picLocks noChangeAspect="1"/>
          </p:cNvPicPr>
          <p:nvPr/>
        </p:nvPicPr>
        <p:blipFill>
          <a:blip r:embed="rId4"/>
          <a:stretch>
            <a:fillRect/>
          </a:stretch>
        </p:blipFill>
        <p:spPr>
          <a:xfrm>
            <a:off x="8101584" y="3849624"/>
            <a:ext cx="347472" cy="347472"/>
          </a:xfrm>
          <a:prstGeom prst="rect">
            <a:avLst/>
          </a:prstGeom>
        </p:spPr>
      </p:pic>
      <p:sp>
        <p:nvSpPr>
          <p:cNvPr id="25" name="Text 21"/>
          <p:cNvSpPr/>
          <p:nvPr/>
        </p:nvSpPr>
        <p:spPr>
          <a:xfrm>
            <a:off x="8732520" y="3520440"/>
            <a:ext cx="2743200" cy="365760"/>
          </a:xfrm>
          <a:prstGeom prst="rect">
            <a:avLst/>
          </a:prstGeom>
          <a:noFill/>
          <a:ln/>
        </p:spPr>
        <p:txBody>
          <a:bodyPr wrap="square" lIns="0" tIns="0" rIns="0" bIns="0" rtlCol="0" anchor="ctr"/>
          <a:lstStyle/>
          <a:p>
            <a:pPr marL="0" indent="0" algn="l">
              <a:buNone/>
            </a:pPr>
            <a:r>
              <a:rPr lang="en-US" sz="1400" b="1" dirty="0">
                <a:solidFill>
                  <a:srgbClr val="0F1E3D"/>
                </a:solidFill>
                <a:latin typeface="Calibri" pitchFamily="34" charset="0"/>
                <a:ea typeface="Calibri" pitchFamily="34" charset="-122"/>
                <a:cs typeface="Calibri" pitchFamily="34" charset="-120"/>
              </a:rPr>
              <a:t>Deleted</a:t>
            </a:r>
            <a:endParaRPr lang="en-US" sz="1400" dirty="0"/>
          </a:p>
        </p:txBody>
      </p:sp>
      <p:sp>
        <p:nvSpPr>
          <p:cNvPr id="26" name="Text 22"/>
          <p:cNvSpPr/>
          <p:nvPr/>
        </p:nvSpPr>
        <p:spPr>
          <a:xfrm>
            <a:off x="8732520" y="3931920"/>
            <a:ext cx="2743200" cy="685800"/>
          </a:xfrm>
          <a:prstGeom prst="rect">
            <a:avLst/>
          </a:prstGeom>
          <a:noFill/>
          <a:ln/>
        </p:spPr>
        <p:txBody>
          <a:bodyPr wrap="square" lIns="0" tIns="0" rIns="0" bIns="0" rtlCol="0" anchor="t"/>
          <a:lstStyle/>
          <a:p>
            <a:pPr marL="0" indent="0" algn="l">
              <a:buNone/>
            </a:pPr>
            <a:r>
              <a:rPr lang="en-US" sz="1100" dirty="0">
                <a:solidFill>
                  <a:srgbClr val="1A2138"/>
                </a:solidFill>
                <a:latin typeface="Calibri" pitchFamily="34" charset="0"/>
                <a:ea typeface="Calibri" pitchFamily="34" charset="-122"/>
                <a:cs typeface="Calibri" pitchFamily="34" charset="-120"/>
              </a:rPr>
              <a:t>File was in saved hashes but is missing now.</a:t>
            </a:r>
            <a:endParaRPr lang="en-US" sz="1100" dirty="0"/>
          </a:p>
        </p:txBody>
      </p:sp>
      <p:sp>
        <p:nvSpPr>
          <p:cNvPr id="27" name="Shape 23"/>
          <p:cNvSpPr/>
          <p:nvPr/>
        </p:nvSpPr>
        <p:spPr>
          <a:xfrm>
            <a:off x="7726680" y="4800600"/>
            <a:ext cx="3840480" cy="1188720"/>
          </a:xfrm>
          <a:prstGeom prst="rect">
            <a:avLst/>
          </a:prstGeom>
          <a:solidFill>
            <a:srgbClr val="F4F6FA"/>
          </a:solidFill>
          <a:ln w="12700">
            <a:solidFill>
              <a:srgbClr val="D6DBE5"/>
            </a:solidFill>
            <a:prstDash val="solid"/>
          </a:ln>
        </p:spPr>
      </p:sp>
      <p:sp>
        <p:nvSpPr>
          <p:cNvPr id="28" name="Shape 24"/>
          <p:cNvSpPr/>
          <p:nvPr/>
        </p:nvSpPr>
        <p:spPr>
          <a:xfrm>
            <a:off x="7726680" y="4800600"/>
            <a:ext cx="91440" cy="1188720"/>
          </a:xfrm>
          <a:prstGeom prst="rect">
            <a:avLst/>
          </a:prstGeom>
          <a:solidFill>
            <a:srgbClr val="00A8E8"/>
          </a:solidFill>
          <a:ln w="12700">
            <a:solidFill>
              <a:srgbClr val="00A8E8"/>
            </a:solidFill>
            <a:prstDash val="solid"/>
          </a:ln>
        </p:spPr>
      </p:sp>
      <p:sp>
        <p:nvSpPr>
          <p:cNvPr id="29" name="Shape 25"/>
          <p:cNvSpPr/>
          <p:nvPr/>
        </p:nvSpPr>
        <p:spPr>
          <a:xfrm>
            <a:off x="7955280" y="5074920"/>
            <a:ext cx="640080" cy="640080"/>
          </a:xfrm>
          <a:prstGeom prst="ellipse">
            <a:avLst/>
          </a:prstGeom>
          <a:solidFill>
            <a:srgbClr val="00A8E8"/>
          </a:solidFill>
          <a:ln w="12700">
            <a:solidFill>
              <a:srgbClr val="00A8E8"/>
            </a:solidFill>
            <a:prstDash val="solid"/>
          </a:ln>
        </p:spPr>
      </p:sp>
      <p:pic>
        <p:nvPicPr>
          <p:cNvPr id="30" name="Image 2" descr="preencoded.png"/>
          <p:cNvPicPr>
            <a:picLocks noChangeAspect="1"/>
          </p:cNvPicPr>
          <p:nvPr/>
        </p:nvPicPr>
        <p:blipFill>
          <a:blip r:embed="rId5"/>
          <a:stretch>
            <a:fillRect/>
          </a:stretch>
        </p:blipFill>
        <p:spPr>
          <a:xfrm>
            <a:off x="8101584" y="5221224"/>
            <a:ext cx="347472" cy="347472"/>
          </a:xfrm>
          <a:prstGeom prst="rect">
            <a:avLst/>
          </a:prstGeom>
        </p:spPr>
      </p:pic>
      <p:sp>
        <p:nvSpPr>
          <p:cNvPr id="31" name="Text 26"/>
          <p:cNvSpPr/>
          <p:nvPr/>
        </p:nvSpPr>
        <p:spPr>
          <a:xfrm>
            <a:off x="8732520" y="4892040"/>
            <a:ext cx="2743200" cy="365760"/>
          </a:xfrm>
          <a:prstGeom prst="rect">
            <a:avLst/>
          </a:prstGeom>
          <a:noFill/>
          <a:ln/>
        </p:spPr>
        <p:txBody>
          <a:bodyPr wrap="square" lIns="0" tIns="0" rIns="0" bIns="0" rtlCol="0" anchor="ctr"/>
          <a:lstStyle/>
          <a:p>
            <a:pPr marL="0" indent="0" algn="l">
              <a:buNone/>
            </a:pPr>
            <a:r>
              <a:rPr lang="en-US" sz="1400" b="1" dirty="0">
                <a:solidFill>
                  <a:srgbClr val="0F1E3D"/>
                </a:solidFill>
                <a:latin typeface="Calibri" pitchFamily="34" charset="0"/>
                <a:ea typeface="Calibri" pitchFamily="34" charset="-122"/>
                <a:cs typeface="Calibri" pitchFamily="34" charset="-120"/>
              </a:rPr>
              <a:t>New</a:t>
            </a:r>
            <a:endParaRPr lang="en-US" sz="1400" dirty="0"/>
          </a:p>
        </p:txBody>
      </p:sp>
      <p:sp>
        <p:nvSpPr>
          <p:cNvPr id="32" name="Text 27"/>
          <p:cNvSpPr/>
          <p:nvPr/>
        </p:nvSpPr>
        <p:spPr>
          <a:xfrm>
            <a:off x="8732520" y="5303520"/>
            <a:ext cx="2743200" cy="685800"/>
          </a:xfrm>
          <a:prstGeom prst="rect">
            <a:avLst/>
          </a:prstGeom>
          <a:noFill/>
          <a:ln/>
        </p:spPr>
        <p:txBody>
          <a:bodyPr wrap="square" lIns="0" tIns="0" rIns="0" bIns="0" rtlCol="0" anchor="t"/>
          <a:lstStyle/>
          <a:p>
            <a:pPr marL="0" indent="0" algn="l">
              <a:buNone/>
            </a:pPr>
            <a:r>
              <a:rPr lang="en-US" sz="1100" dirty="0">
                <a:solidFill>
                  <a:srgbClr val="1A2138"/>
                </a:solidFill>
                <a:latin typeface="Calibri" pitchFamily="34" charset="0"/>
                <a:ea typeface="Calibri" pitchFamily="34" charset="-122"/>
                <a:cs typeface="Calibri" pitchFamily="34" charset="-120"/>
              </a:rPr>
              <a:t>File exists now but was not in saved hashes.</a:t>
            </a:r>
            <a:endParaRPr lang="en-US" sz="1100" dirty="0"/>
          </a:p>
        </p:txBody>
      </p:sp>
      <p:sp>
        <p:nvSpPr>
          <p:cNvPr id="33" name="Shape 28"/>
          <p:cNvSpPr/>
          <p:nvPr/>
        </p:nvSpPr>
        <p:spPr>
          <a:xfrm>
            <a:off x="0" y="6537960"/>
            <a:ext cx="12191695" cy="320040"/>
          </a:xfrm>
          <a:prstGeom prst="rect">
            <a:avLst/>
          </a:prstGeom>
          <a:solidFill>
            <a:srgbClr val="0F1E3D"/>
          </a:solidFill>
          <a:ln w="12700">
            <a:solidFill>
              <a:srgbClr val="0F1E3D"/>
            </a:solidFill>
            <a:prstDash val="solid"/>
          </a:ln>
        </p:spPr>
      </p:sp>
      <p:sp>
        <p:nvSpPr>
          <p:cNvPr id="34" name="Text 29"/>
          <p:cNvSpPr/>
          <p:nvPr/>
        </p:nvSpPr>
        <p:spPr>
          <a:xfrm>
            <a:off x="457200" y="6547104"/>
            <a:ext cx="7315200" cy="30175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Information Security Final Project  |  Farid &amp; Sami</a:t>
            </a:r>
            <a:endParaRPr lang="en-US" sz="900" dirty="0"/>
          </a:p>
        </p:txBody>
      </p:sp>
      <p:sp>
        <p:nvSpPr>
          <p:cNvPr id="35" name="Text 30"/>
          <p:cNvSpPr/>
          <p:nvPr/>
        </p:nvSpPr>
        <p:spPr>
          <a:xfrm>
            <a:off x="10820095" y="6547104"/>
            <a:ext cx="914400" cy="30175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8 / 12</a:t>
            </a:r>
            <a:endParaRPr lang="en-US" sz="900" dirty="0"/>
          </a:p>
        </p:txBody>
      </p:sp>
      <p:sp>
        <p:nvSpPr>
          <p:cNvPr id="36" name="TextBox 35">
            <a:extLst>
              <a:ext uri="{FF2B5EF4-FFF2-40B4-BE49-F238E27FC236}">
                <a16:creationId xmlns:a16="http://schemas.microsoft.com/office/drawing/2014/main" id="{3A3696DF-CD4A-68D0-A6EA-52E927F55B0C}"/>
              </a:ext>
            </a:extLst>
          </p:cNvPr>
          <p:cNvSpPr txBox="1"/>
          <p:nvPr/>
        </p:nvSpPr>
        <p:spPr>
          <a:xfrm>
            <a:off x="685800" y="1874520"/>
            <a:ext cx="6629400" cy="4247317"/>
          </a:xfrm>
          <a:prstGeom prst="rect">
            <a:avLst/>
          </a:prstGeom>
          <a:noFill/>
        </p:spPr>
        <p:txBody>
          <a:bodyPr wrap="square" rtlCol="0">
            <a:spAutoFit/>
          </a:bodyPr>
          <a:lstStyle/>
          <a:p>
            <a:r>
              <a:rPr lang="en-US" dirty="0">
                <a:solidFill>
                  <a:schemeClr val="bg1"/>
                </a:solidFill>
              </a:rPr>
              <a:t>for file in </a:t>
            </a:r>
            <a:r>
              <a:rPr lang="en-US" dirty="0" err="1">
                <a:solidFill>
                  <a:schemeClr val="bg1"/>
                </a:solidFill>
              </a:rPr>
              <a:t>current_files</a:t>
            </a:r>
            <a:r>
              <a:rPr lang="en-US" dirty="0">
                <a:solidFill>
                  <a:schemeClr val="bg1"/>
                </a:solidFill>
              </a:rPr>
              <a:t>:</a:t>
            </a:r>
          </a:p>
          <a:p>
            <a:r>
              <a:rPr lang="en-US" dirty="0">
                <a:solidFill>
                  <a:schemeClr val="bg1"/>
                </a:solidFill>
              </a:rPr>
              <a:t>    </a:t>
            </a:r>
            <a:r>
              <a:rPr lang="en-US" dirty="0" err="1">
                <a:solidFill>
                  <a:schemeClr val="bg1"/>
                </a:solidFill>
              </a:rPr>
              <a:t>current_hash</a:t>
            </a:r>
            <a:r>
              <a:rPr lang="en-US" dirty="0">
                <a:solidFill>
                  <a:schemeClr val="bg1"/>
                </a:solidFill>
              </a:rPr>
              <a:t> = calculate_sha256(file)</a:t>
            </a:r>
          </a:p>
          <a:p>
            <a:endParaRPr lang="en-US" dirty="0">
              <a:solidFill>
                <a:schemeClr val="bg1"/>
              </a:solidFill>
            </a:endParaRPr>
          </a:p>
          <a:p>
            <a:r>
              <a:rPr lang="en-US" dirty="0">
                <a:solidFill>
                  <a:schemeClr val="bg1"/>
                </a:solidFill>
              </a:rPr>
              <a:t>    if str(file) not in database:</a:t>
            </a:r>
          </a:p>
          <a:p>
            <a:r>
              <a:rPr lang="en-US" dirty="0">
                <a:solidFill>
                  <a:schemeClr val="bg1"/>
                </a:solidFill>
              </a:rPr>
              <a:t>        </a:t>
            </a:r>
            <a:r>
              <a:rPr lang="en-US" dirty="0" err="1">
                <a:solidFill>
                  <a:schemeClr val="bg1"/>
                </a:solidFill>
              </a:rPr>
              <a:t>new_files.append</a:t>
            </a:r>
            <a:r>
              <a:rPr lang="en-US" dirty="0">
                <a:solidFill>
                  <a:schemeClr val="bg1"/>
                </a:solidFill>
              </a:rPr>
              <a:t>(</a:t>
            </a:r>
            <a:r>
              <a:rPr lang="en-US" dirty="0" err="1">
                <a:solidFill>
                  <a:schemeClr val="bg1"/>
                </a:solidFill>
              </a:rPr>
              <a:t>file.name</a:t>
            </a:r>
            <a:r>
              <a:rPr lang="en-US" dirty="0">
                <a:solidFill>
                  <a:schemeClr val="bg1"/>
                </a:solidFill>
              </a:rPr>
              <a:t>)</a:t>
            </a:r>
          </a:p>
          <a:p>
            <a:r>
              <a:rPr lang="en-US" dirty="0">
                <a:solidFill>
                  <a:schemeClr val="bg1"/>
                </a:solidFill>
              </a:rPr>
              <a:t>        continue</a:t>
            </a:r>
          </a:p>
          <a:p>
            <a:endParaRPr lang="en-US" dirty="0">
              <a:solidFill>
                <a:schemeClr val="bg1"/>
              </a:solidFill>
            </a:endParaRPr>
          </a:p>
          <a:p>
            <a:r>
              <a:rPr lang="en-US" dirty="0">
                <a:solidFill>
                  <a:schemeClr val="bg1"/>
                </a:solidFill>
              </a:rPr>
              <a:t>    </a:t>
            </a:r>
            <a:r>
              <a:rPr lang="en-US" dirty="0" err="1">
                <a:solidFill>
                  <a:schemeClr val="bg1"/>
                </a:solidFill>
              </a:rPr>
              <a:t>stored_hash</a:t>
            </a:r>
            <a:r>
              <a:rPr lang="en-US" dirty="0">
                <a:solidFill>
                  <a:schemeClr val="bg1"/>
                </a:solidFill>
              </a:rPr>
              <a:t> = database[str(file)]["hash"]</a:t>
            </a:r>
          </a:p>
          <a:p>
            <a:endParaRPr lang="en-US" dirty="0">
              <a:solidFill>
                <a:schemeClr val="bg1"/>
              </a:solidFill>
            </a:endParaRPr>
          </a:p>
          <a:p>
            <a:r>
              <a:rPr lang="en-US" dirty="0">
                <a:solidFill>
                  <a:schemeClr val="bg1"/>
                </a:solidFill>
              </a:rPr>
              <a:t>    if </a:t>
            </a:r>
            <a:r>
              <a:rPr lang="en-US" dirty="0" err="1">
                <a:solidFill>
                  <a:schemeClr val="bg1"/>
                </a:solidFill>
              </a:rPr>
              <a:t>current_hash</a:t>
            </a:r>
            <a:r>
              <a:rPr lang="en-US" dirty="0">
                <a:solidFill>
                  <a:schemeClr val="bg1"/>
                </a:solidFill>
              </a:rPr>
              <a:t> != </a:t>
            </a:r>
            <a:r>
              <a:rPr lang="en-US" dirty="0" err="1">
                <a:solidFill>
                  <a:schemeClr val="bg1"/>
                </a:solidFill>
              </a:rPr>
              <a:t>stored_hash</a:t>
            </a:r>
            <a:r>
              <a:rPr lang="en-US" dirty="0">
                <a:solidFill>
                  <a:schemeClr val="bg1"/>
                </a:solidFill>
              </a:rPr>
              <a:t>:</a:t>
            </a:r>
          </a:p>
          <a:p>
            <a:r>
              <a:rPr lang="en-US" dirty="0">
                <a:solidFill>
                  <a:schemeClr val="bg1"/>
                </a:solidFill>
              </a:rPr>
              <a:t>        </a:t>
            </a:r>
            <a:r>
              <a:rPr lang="en-US" dirty="0" err="1">
                <a:solidFill>
                  <a:schemeClr val="bg1"/>
                </a:solidFill>
              </a:rPr>
              <a:t>modified_files.append</a:t>
            </a:r>
            <a:r>
              <a:rPr lang="en-US" dirty="0">
                <a:solidFill>
                  <a:schemeClr val="bg1"/>
                </a:solidFill>
              </a:rPr>
              <a:t>(</a:t>
            </a:r>
            <a:r>
              <a:rPr lang="en-US" dirty="0" err="1">
                <a:solidFill>
                  <a:schemeClr val="bg1"/>
                </a:solidFill>
              </a:rPr>
              <a:t>file.name</a:t>
            </a:r>
            <a:r>
              <a:rPr lang="en-US" dirty="0">
                <a:solidFill>
                  <a:schemeClr val="bg1"/>
                </a:solidFill>
              </a:rPr>
              <a:t>)</a:t>
            </a:r>
          </a:p>
          <a:p>
            <a:endParaRPr lang="en-US" dirty="0">
              <a:solidFill>
                <a:schemeClr val="bg1"/>
              </a:solidFill>
            </a:endParaRPr>
          </a:p>
          <a:p>
            <a:r>
              <a:rPr lang="en-US" dirty="0">
                <a:solidFill>
                  <a:schemeClr val="bg1"/>
                </a:solidFill>
              </a:rPr>
              <a:t>for </a:t>
            </a:r>
            <a:r>
              <a:rPr lang="en-US" dirty="0" err="1">
                <a:solidFill>
                  <a:schemeClr val="bg1"/>
                </a:solidFill>
              </a:rPr>
              <a:t>stored_file</a:t>
            </a:r>
            <a:r>
              <a:rPr lang="en-US" dirty="0">
                <a:solidFill>
                  <a:schemeClr val="bg1"/>
                </a:solidFill>
              </a:rPr>
              <a:t> in </a:t>
            </a:r>
            <a:r>
              <a:rPr lang="en-US" dirty="0" err="1">
                <a:solidFill>
                  <a:schemeClr val="bg1"/>
                </a:solidFill>
              </a:rPr>
              <a:t>stored_paths</a:t>
            </a:r>
            <a:r>
              <a:rPr lang="en-US" dirty="0">
                <a:solidFill>
                  <a:schemeClr val="bg1"/>
                </a:solidFill>
              </a:rPr>
              <a:t>:</a:t>
            </a:r>
          </a:p>
          <a:p>
            <a:r>
              <a:rPr lang="en-US" dirty="0">
                <a:solidFill>
                  <a:schemeClr val="bg1"/>
                </a:solidFill>
              </a:rPr>
              <a:t>    if </a:t>
            </a:r>
            <a:r>
              <a:rPr lang="en-US" dirty="0" err="1">
                <a:solidFill>
                  <a:schemeClr val="bg1"/>
                </a:solidFill>
              </a:rPr>
              <a:t>stored_file</a:t>
            </a:r>
            <a:r>
              <a:rPr lang="en-US" dirty="0">
                <a:solidFill>
                  <a:schemeClr val="bg1"/>
                </a:solidFill>
              </a:rPr>
              <a:t> not in </a:t>
            </a:r>
            <a:r>
              <a:rPr lang="en-US" dirty="0" err="1">
                <a:solidFill>
                  <a:schemeClr val="bg1"/>
                </a:solidFill>
              </a:rPr>
              <a:t>current_paths</a:t>
            </a:r>
            <a:r>
              <a:rPr lang="en-US" dirty="0">
                <a:solidFill>
                  <a:schemeClr val="bg1"/>
                </a:solidFill>
              </a:rPr>
              <a:t>:</a:t>
            </a:r>
          </a:p>
          <a:p>
            <a:r>
              <a:rPr lang="en-US" dirty="0">
                <a:solidFill>
                  <a:schemeClr val="bg1"/>
                </a:solidFill>
              </a:rPr>
              <a:t>        </a:t>
            </a:r>
            <a:r>
              <a:rPr lang="en-US" dirty="0" err="1">
                <a:solidFill>
                  <a:schemeClr val="bg1"/>
                </a:solidFill>
              </a:rPr>
              <a:t>deleted_files.append</a:t>
            </a:r>
            <a:r>
              <a:rPr lang="en-US" dirty="0">
                <a:solidFill>
                  <a:schemeClr val="bg1"/>
                </a:solidFill>
              </a:rPr>
              <a:t>(Path(</a:t>
            </a:r>
            <a:r>
              <a:rPr lang="en-US" dirty="0" err="1">
                <a:solidFill>
                  <a:schemeClr val="bg1"/>
                </a:solidFill>
              </a:rPr>
              <a:t>stored_file</a:t>
            </a:r>
            <a:r>
              <a:rPr lang="en-US" dirty="0">
                <a:solidFill>
                  <a:schemeClr val="bg1"/>
                </a:solidFill>
              </a:rPr>
              <a:t>).name)</a:t>
            </a:r>
            <a:endParaRPr lang="en-KG"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640080"/>
          </a:xfrm>
          <a:prstGeom prst="rect">
            <a:avLst/>
          </a:prstGeom>
          <a:noFill/>
          <a:ln/>
        </p:spPr>
        <p:txBody>
          <a:bodyPr wrap="square" lIns="0" tIns="0" rIns="0" bIns="0" rtlCol="0" anchor="ctr"/>
          <a:lstStyle/>
          <a:p>
            <a:pPr marL="0" indent="0" algn="l">
              <a:buNone/>
            </a:pPr>
            <a:r>
              <a:rPr lang="en-US" sz="2800" b="1" dirty="0">
                <a:solidFill>
                  <a:srgbClr val="0F1E3D"/>
                </a:solidFill>
                <a:latin typeface="Calibri" pitchFamily="34" charset="0"/>
                <a:ea typeface="Calibri" pitchFamily="34" charset="-122"/>
                <a:cs typeface="Calibri" pitchFamily="34" charset="-120"/>
              </a:rPr>
              <a:t>Technologies &amp; Project Structure</a:t>
            </a:r>
            <a:endParaRPr lang="en-US" sz="2800" dirty="0"/>
          </a:p>
        </p:txBody>
      </p:sp>
      <p:sp>
        <p:nvSpPr>
          <p:cNvPr id="3" name="Text 1"/>
          <p:cNvSpPr/>
          <p:nvPr/>
        </p:nvSpPr>
        <p:spPr>
          <a:xfrm>
            <a:off x="548640" y="868680"/>
            <a:ext cx="11094415" cy="320040"/>
          </a:xfrm>
          <a:prstGeom prst="rect">
            <a:avLst/>
          </a:prstGeom>
          <a:noFill/>
          <a:ln/>
        </p:spPr>
        <p:txBody>
          <a:bodyPr wrap="square" lIns="0" tIns="0" rIns="0" bIns="0" rtlCol="0" anchor="ctr"/>
          <a:lstStyle/>
          <a:p>
            <a:pPr marL="0" indent="0" algn="l">
              <a:buNone/>
            </a:pPr>
            <a:r>
              <a:rPr lang="en-US" sz="1300" i="1" dirty="0">
                <a:solidFill>
                  <a:srgbClr val="5B6B85"/>
                </a:solidFill>
                <a:latin typeface="Calibri" pitchFamily="34" charset="0"/>
                <a:ea typeface="Calibri" pitchFamily="34" charset="-122"/>
                <a:cs typeface="Calibri" pitchFamily="34" charset="-120"/>
              </a:rPr>
              <a:t>Libraries used and how the project is organized</a:t>
            </a:r>
            <a:endParaRPr lang="en-US" sz="1300" dirty="0"/>
          </a:p>
        </p:txBody>
      </p:sp>
      <p:sp>
        <p:nvSpPr>
          <p:cNvPr id="4" name="Shape 2"/>
          <p:cNvSpPr/>
          <p:nvPr/>
        </p:nvSpPr>
        <p:spPr>
          <a:xfrm>
            <a:off x="274320" y="457200"/>
            <a:ext cx="109728" cy="365760"/>
          </a:xfrm>
          <a:prstGeom prst="rect">
            <a:avLst/>
          </a:prstGeom>
          <a:solidFill>
            <a:srgbClr val="00A8E8"/>
          </a:solidFill>
          <a:ln w="12700">
            <a:solidFill>
              <a:srgbClr val="00A8E8"/>
            </a:solidFill>
            <a:prstDash val="solid"/>
          </a:ln>
        </p:spPr>
      </p:sp>
      <p:sp>
        <p:nvSpPr>
          <p:cNvPr id="5" name="Text 3"/>
          <p:cNvSpPr/>
          <p:nvPr/>
        </p:nvSpPr>
        <p:spPr>
          <a:xfrm>
            <a:off x="548640" y="1417320"/>
            <a:ext cx="5486400" cy="411480"/>
          </a:xfrm>
          <a:prstGeom prst="rect">
            <a:avLst/>
          </a:prstGeom>
          <a:noFill/>
          <a:ln/>
        </p:spPr>
        <p:txBody>
          <a:bodyPr wrap="square" lIns="0" tIns="0" rIns="0" bIns="0" rtlCol="0" anchor="ctr"/>
          <a:lstStyle/>
          <a:p>
            <a:pPr marL="0" indent="0" algn="l">
              <a:buNone/>
            </a:pPr>
            <a:r>
              <a:rPr lang="en-US" sz="1800" b="1" dirty="0">
                <a:solidFill>
                  <a:srgbClr val="0F1E3D"/>
                </a:solidFill>
                <a:latin typeface="Calibri" pitchFamily="34" charset="0"/>
                <a:ea typeface="Calibri" pitchFamily="34" charset="-122"/>
                <a:cs typeface="Calibri" pitchFamily="34" charset="-120"/>
              </a:rPr>
              <a:t>Technologies</a:t>
            </a:r>
            <a:endParaRPr lang="en-US" sz="1800" dirty="0"/>
          </a:p>
        </p:txBody>
      </p:sp>
      <p:sp>
        <p:nvSpPr>
          <p:cNvPr id="6" name="Shape 4"/>
          <p:cNvSpPr/>
          <p:nvPr/>
        </p:nvSpPr>
        <p:spPr>
          <a:xfrm>
            <a:off x="548640" y="1920240"/>
            <a:ext cx="1737360" cy="548640"/>
          </a:xfrm>
          <a:prstGeom prst="rect">
            <a:avLst/>
          </a:prstGeom>
          <a:solidFill>
            <a:srgbClr val="FFFFFF"/>
          </a:solidFill>
          <a:ln w="12700">
            <a:solidFill>
              <a:srgbClr val="D6DBE5"/>
            </a:solidFill>
            <a:prstDash val="solid"/>
          </a:ln>
        </p:spPr>
      </p:sp>
      <p:sp>
        <p:nvSpPr>
          <p:cNvPr id="7" name="Shape 5"/>
          <p:cNvSpPr/>
          <p:nvPr/>
        </p:nvSpPr>
        <p:spPr>
          <a:xfrm>
            <a:off x="548640" y="1920240"/>
            <a:ext cx="73152" cy="548640"/>
          </a:xfrm>
          <a:prstGeom prst="rect">
            <a:avLst/>
          </a:prstGeom>
          <a:solidFill>
            <a:srgbClr val="00A8E8"/>
          </a:solidFill>
          <a:ln w="12700">
            <a:solidFill>
              <a:srgbClr val="00A8E8"/>
            </a:solidFill>
            <a:prstDash val="solid"/>
          </a:ln>
        </p:spPr>
      </p:sp>
      <p:sp>
        <p:nvSpPr>
          <p:cNvPr id="8" name="Text 6"/>
          <p:cNvSpPr/>
          <p:nvPr/>
        </p:nvSpPr>
        <p:spPr>
          <a:xfrm>
            <a:off x="731520" y="1920240"/>
            <a:ext cx="1508760" cy="548640"/>
          </a:xfrm>
          <a:prstGeom prst="rect">
            <a:avLst/>
          </a:prstGeom>
          <a:noFill/>
          <a:ln/>
        </p:spPr>
        <p:txBody>
          <a:bodyPr wrap="square" lIns="0" tIns="0" rIns="0" bIns="0" rtlCol="0" anchor="ctr"/>
          <a:lstStyle/>
          <a:p>
            <a:pPr marL="0" indent="0" algn="l">
              <a:buNone/>
            </a:pPr>
            <a:r>
              <a:rPr lang="en-US" sz="1300" b="1" dirty="0">
                <a:solidFill>
                  <a:srgbClr val="1E2761"/>
                </a:solidFill>
                <a:latin typeface="Consolas" pitchFamily="34" charset="0"/>
                <a:ea typeface="Consolas" pitchFamily="34" charset="-122"/>
                <a:cs typeface="Consolas" pitchFamily="34" charset="-120"/>
              </a:rPr>
              <a:t>Python 3</a:t>
            </a:r>
            <a:endParaRPr lang="en-US" sz="1300" dirty="0"/>
          </a:p>
        </p:txBody>
      </p:sp>
      <p:sp>
        <p:nvSpPr>
          <p:cNvPr id="9" name="Shape 7"/>
          <p:cNvSpPr/>
          <p:nvPr/>
        </p:nvSpPr>
        <p:spPr>
          <a:xfrm>
            <a:off x="2423160" y="1920240"/>
            <a:ext cx="1737360" cy="548640"/>
          </a:xfrm>
          <a:prstGeom prst="rect">
            <a:avLst/>
          </a:prstGeom>
          <a:solidFill>
            <a:srgbClr val="FFFFFF"/>
          </a:solidFill>
          <a:ln w="12700">
            <a:solidFill>
              <a:srgbClr val="D6DBE5"/>
            </a:solidFill>
            <a:prstDash val="solid"/>
          </a:ln>
        </p:spPr>
      </p:sp>
      <p:sp>
        <p:nvSpPr>
          <p:cNvPr id="10" name="Shape 8"/>
          <p:cNvSpPr/>
          <p:nvPr/>
        </p:nvSpPr>
        <p:spPr>
          <a:xfrm>
            <a:off x="2423160" y="1920240"/>
            <a:ext cx="73152" cy="548640"/>
          </a:xfrm>
          <a:prstGeom prst="rect">
            <a:avLst/>
          </a:prstGeom>
          <a:solidFill>
            <a:srgbClr val="00A8E8"/>
          </a:solidFill>
          <a:ln w="12700">
            <a:solidFill>
              <a:srgbClr val="00A8E8"/>
            </a:solidFill>
            <a:prstDash val="solid"/>
          </a:ln>
        </p:spPr>
      </p:sp>
      <p:sp>
        <p:nvSpPr>
          <p:cNvPr id="11" name="Text 9"/>
          <p:cNvSpPr/>
          <p:nvPr/>
        </p:nvSpPr>
        <p:spPr>
          <a:xfrm>
            <a:off x="2606040" y="1920240"/>
            <a:ext cx="1508760" cy="548640"/>
          </a:xfrm>
          <a:prstGeom prst="rect">
            <a:avLst/>
          </a:prstGeom>
          <a:noFill/>
          <a:ln/>
        </p:spPr>
        <p:txBody>
          <a:bodyPr wrap="square" lIns="0" tIns="0" rIns="0" bIns="0" rtlCol="0" anchor="ctr"/>
          <a:lstStyle/>
          <a:p>
            <a:pPr marL="0" indent="0" algn="l">
              <a:buNone/>
            </a:pPr>
            <a:r>
              <a:rPr lang="en-US" sz="1300" b="1" dirty="0">
                <a:solidFill>
                  <a:srgbClr val="1E2761"/>
                </a:solidFill>
                <a:latin typeface="Consolas" pitchFamily="34" charset="0"/>
                <a:ea typeface="Consolas" pitchFamily="34" charset="-122"/>
                <a:cs typeface="Consolas" pitchFamily="34" charset="-120"/>
              </a:rPr>
              <a:t>hashlib</a:t>
            </a:r>
            <a:endParaRPr lang="en-US" sz="1300" dirty="0"/>
          </a:p>
        </p:txBody>
      </p:sp>
      <p:sp>
        <p:nvSpPr>
          <p:cNvPr id="12" name="Shape 10"/>
          <p:cNvSpPr/>
          <p:nvPr/>
        </p:nvSpPr>
        <p:spPr>
          <a:xfrm>
            <a:off x="4297680" y="1920240"/>
            <a:ext cx="1737360" cy="548640"/>
          </a:xfrm>
          <a:prstGeom prst="rect">
            <a:avLst/>
          </a:prstGeom>
          <a:solidFill>
            <a:srgbClr val="FFFFFF"/>
          </a:solidFill>
          <a:ln w="12700">
            <a:solidFill>
              <a:srgbClr val="D6DBE5"/>
            </a:solidFill>
            <a:prstDash val="solid"/>
          </a:ln>
        </p:spPr>
      </p:sp>
      <p:sp>
        <p:nvSpPr>
          <p:cNvPr id="13" name="Shape 11"/>
          <p:cNvSpPr/>
          <p:nvPr/>
        </p:nvSpPr>
        <p:spPr>
          <a:xfrm>
            <a:off x="4297680" y="1920240"/>
            <a:ext cx="73152" cy="548640"/>
          </a:xfrm>
          <a:prstGeom prst="rect">
            <a:avLst/>
          </a:prstGeom>
          <a:solidFill>
            <a:srgbClr val="00A8E8"/>
          </a:solidFill>
          <a:ln w="12700">
            <a:solidFill>
              <a:srgbClr val="00A8E8"/>
            </a:solidFill>
            <a:prstDash val="solid"/>
          </a:ln>
        </p:spPr>
      </p:sp>
      <p:sp>
        <p:nvSpPr>
          <p:cNvPr id="14" name="Text 12"/>
          <p:cNvSpPr/>
          <p:nvPr/>
        </p:nvSpPr>
        <p:spPr>
          <a:xfrm>
            <a:off x="4480560" y="1920240"/>
            <a:ext cx="1508760" cy="548640"/>
          </a:xfrm>
          <a:prstGeom prst="rect">
            <a:avLst/>
          </a:prstGeom>
          <a:noFill/>
          <a:ln/>
        </p:spPr>
        <p:txBody>
          <a:bodyPr wrap="square" lIns="0" tIns="0" rIns="0" bIns="0" rtlCol="0" anchor="ctr"/>
          <a:lstStyle/>
          <a:p>
            <a:pPr marL="0" indent="0" algn="l">
              <a:buNone/>
            </a:pPr>
            <a:r>
              <a:rPr lang="en-US" sz="1300" b="1" dirty="0">
                <a:solidFill>
                  <a:srgbClr val="1E2761"/>
                </a:solidFill>
                <a:latin typeface="Consolas" pitchFamily="34" charset="0"/>
                <a:ea typeface="Consolas" pitchFamily="34" charset="-122"/>
                <a:cs typeface="Consolas" pitchFamily="34" charset="-120"/>
              </a:rPr>
              <a:t>json</a:t>
            </a:r>
            <a:endParaRPr lang="en-US" sz="1300" dirty="0"/>
          </a:p>
        </p:txBody>
      </p:sp>
      <p:sp>
        <p:nvSpPr>
          <p:cNvPr id="15" name="Shape 13"/>
          <p:cNvSpPr/>
          <p:nvPr/>
        </p:nvSpPr>
        <p:spPr>
          <a:xfrm>
            <a:off x="548640" y="2606040"/>
            <a:ext cx="1737360" cy="548640"/>
          </a:xfrm>
          <a:prstGeom prst="rect">
            <a:avLst/>
          </a:prstGeom>
          <a:solidFill>
            <a:srgbClr val="FFFFFF"/>
          </a:solidFill>
          <a:ln w="12700">
            <a:solidFill>
              <a:srgbClr val="D6DBE5"/>
            </a:solidFill>
            <a:prstDash val="solid"/>
          </a:ln>
        </p:spPr>
      </p:sp>
      <p:sp>
        <p:nvSpPr>
          <p:cNvPr id="16" name="Shape 14"/>
          <p:cNvSpPr/>
          <p:nvPr/>
        </p:nvSpPr>
        <p:spPr>
          <a:xfrm>
            <a:off x="548640" y="2606040"/>
            <a:ext cx="73152" cy="548640"/>
          </a:xfrm>
          <a:prstGeom prst="rect">
            <a:avLst/>
          </a:prstGeom>
          <a:solidFill>
            <a:srgbClr val="00A8E8"/>
          </a:solidFill>
          <a:ln w="12700">
            <a:solidFill>
              <a:srgbClr val="00A8E8"/>
            </a:solidFill>
            <a:prstDash val="solid"/>
          </a:ln>
        </p:spPr>
      </p:sp>
      <p:sp>
        <p:nvSpPr>
          <p:cNvPr id="17" name="Text 15"/>
          <p:cNvSpPr/>
          <p:nvPr/>
        </p:nvSpPr>
        <p:spPr>
          <a:xfrm>
            <a:off x="731520" y="2606040"/>
            <a:ext cx="1508760" cy="548640"/>
          </a:xfrm>
          <a:prstGeom prst="rect">
            <a:avLst/>
          </a:prstGeom>
          <a:noFill/>
          <a:ln/>
        </p:spPr>
        <p:txBody>
          <a:bodyPr wrap="square" lIns="0" tIns="0" rIns="0" bIns="0" rtlCol="0" anchor="ctr"/>
          <a:lstStyle/>
          <a:p>
            <a:pPr marL="0" indent="0" algn="l">
              <a:buNone/>
            </a:pPr>
            <a:r>
              <a:rPr lang="en-US" sz="1300" b="1" dirty="0">
                <a:solidFill>
                  <a:srgbClr val="1E2761"/>
                </a:solidFill>
                <a:latin typeface="Consolas" pitchFamily="34" charset="0"/>
                <a:ea typeface="Consolas" pitchFamily="34" charset="-122"/>
                <a:cs typeface="Consolas" pitchFamily="34" charset="-120"/>
              </a:rPr>
              <a:t>argparse</a:t>
            </a:r>
            <a:endParaRPr lang="en-US" sz="1300" dirty="0"/>
          </a:p>
        </p:txBody>
      </p:sp>
      <p:sp>
        <p:nvSpPr>
          <p:cNvPr id="18" name="Shape 16"/>
          <p:cNvSpPr/>
          <p:nvPr/>
        </p:nvSpPr>
        <p:spPr>
          <a:xfrm>
            <a:off x="2423160" y="2606040"/>
            <a:ext cx="1737360" cy="548640"/>
          </a:xfrm>
          <a:prstGeom prst="rect">
            <a:avLst/>
          </a:prstGeom>
          <a:solidFill>
            <a:srgbClr val="FFFFFF"/>
          </a:solidFill>
          <a:ln w="12700">
            <a:solidFill>
              <a:srgbClr val="D6DBE5"/>
            </a:solidFill>
            <a:prstDash val="solid"/>
          </a:ln>
        </p:spPr>
      </p:sp>
      <p:sp>
        <p:nvSpPr>
          <p:cNvPr id="19" name="Shape 17"/>
          <p:cNvSpPr/>
          <p:nvPr/>
        </p:nvSpPr>
        <p:spPr>
          <a:xfrm>
            <a:off x="2423160" y="2606040"/>
            <a:ext cx="73152" cy="548640"/>
          </a:xfrm>
          <a:prstGeom prst="rect">
            <a:avLst/>
          </a:prstGeom>
          <a:solidFill>
            <a:srgbClr val="00A8E8"/>
          </a:solidFill>
          <a:ln w="12700">
            <a:solidFill>
              <a:srgbClr val="00A8E8"/>
            </a:solidFill>
            <a:prstDash val="solid"/>
          </a:ln>
        </p:spPr>
      </p:sp>
      <p:sp>
        <p:nvSpPr>
          <p:cNvPr id="20" name="Text 18"/>
          <p:cNvSpPr/>
          <p:nvPr/>
        </p:nvSpPr>
        <p:spPr>
          <a:xfrm>
            <a:off x="2606040" y="2606040"/>
            <a:ext cx="1508760" cy="548640"/>
          </a:xfrm>
          <a:prstGeom prst="rect">
            <a:avLst/>
          </a:prstGeom>
          <a:noFill/>
          <a:ln/>
        </p:spPr>
        <p:txBody>
          <a:bodyPr wrap="square" lIns="0" tIns="0" rIns="0" bIns="0" rtlCol="0" anchor="ctr"/>
          <a:lstStyle/>
          <a:p>
            <a:pPr marL="0" indent="0" algn="l">
              <a:buNone/>
            </a:pPr>
            <a:r>
              <a:rPr lang="en-US" sz="1300" b="1" dirty="0">
                <a:solidFill>
                  <a:srgbClr val="1E2761"/>
                </a:solidFill>
                <a:latin typeface="Consolas" pitchFamily="34" charset="0"/>
                <a:ea typeface="Consolas" pitchFamily="34" charset="-122"/>
                <a:cs typeface="Consolas" pitchFamily="34" charset="-120"/>
              </a:rPr>
              <a:t>pathlib</a:t>
            </a:r>
            <a:endParaRPr lang="en-US" sz="1300" dirty="0"/>
          </a:p>
        </p:txBody>
      </p:sp>
      <p:sp>
        <p:nvSpPr>
          <p:cNvPr id="21" name="Shape 19"/>
          <p:cNvSpPr/>
          <p:nvPr/>
        </p:nvSpPr>
        <p:spPr>
          <a:xfrm>
            <a:off x="4297680" y="2606040"/>
            <a:ext cx="1737360" cy="548640"/>
          </a:xfrm>
          <a:prstGeom prst="rect">
            <a:avLst/>
          </a:prstGeom>
          <a:solidFill>
            <a:srgbClr val="FFFFFF"/>
          </a:solidFill>
          <a:ln w="12700">
            <a:solidFill>
              <a:srgbClr val="D6DBE5"/>
            </a:solidFill>
            <a:prstDash val="solid"/>
          </a:ln>
        </p:spPr>
      </p:sp>
      <p:sp>
        <p:nvSpPr>
          <p:cNvPr id="22" name="Shape 20"/>
          <p:cNvSpPr/>
          <p:nvPr/>
        </p:nvSpPr>
        <p:spPr>
          <a:xfrm>
            <a:off x="4297680" y="2606040"/>
            <a:ext cx="73152" cy="548640"/>
          </a:xfrm>
          <a:prstGeom prst="rect">
            <a:avLst/>
          </a:prstGeom>
          <a:solidFill>
            <a:srgbClr val="00A8E8"/>
          </a:solidFill>
          <a:ln w="12700">
            <a:solidFill>
              <a:srgbClr val="00A8E8"/>
            </a:solidFill>
            <a:prstDash val="solid"/>
          </a:ln>
        </p:spPr>
      </p:sp>
      <p:sp>
        <p:nvSpPr>
          <p:cNvPr id="23" name="Text 21"/>
          <p:cNvSpPr/>
          <p:nvPr/>
        </p:nvSpPr>
        <p:spPr>
          <a:xfrm>
            <a:off x="4480560" y="2606040"/>
            <a:ext cx="1508760" cy="548640"/>
          </a:xfrm>
          <a:prstGeom prst="rect">
            <a:avLst/>
          </a:prstGeom>
          <a:noFill/>
          <a:ln/>
        </p:spPr>
        <p:txBody>
          <a:bodyPr wrap="square" lIns="0" tIns="0" rIns="0" bIns="0" rtlCol="0" anchor="ctr"/>
          <a:lstStyle/>
          <a:p>
            <a:pPr marL="0" indent="0" algn="l">
              <a:buNone/>
            </a:pPr>
            <a:r>
              <a:rPr lang="en-US" sz="1300" b="1" dirty="0">
                <a:solidFill>
                  <a:srgbClr val="1E2761"/>
                </a:solidFill>
                <a:latin typeface="Consolas" pitchFamily="34" charset="0"/>
                <a:ea typeface="Consolas" pitchFamily="34" charset="-122"/>
                <a:cs typeface="Consolas" pitchFamily="34" charset="-120"/>
              </a:rPr>
              <a:t>datetime</a:t>
            </a:r>
            <a:endParaRPr lang="en-US" sz="1300" dirty="0"/>
          </a:p>
        </p:txBody>
      </p:sp>
      <p:sp>
        <p:nvSpPr>
          <p:cNvPr id="24" name="Shape 22"/>
          <p:cNvSpPr/>
          <p:nvPr/>
        </p:nvSpPr>
        <p:spPr>
          <a:xfrm>
            <a:off x="548640" y="3291840"/>
            <a:ext cx="1737360" cy="548640"/>
          </a:xfrm>
          <a:prstGeom prst="rect">
            <a:avLst/>
          </a:prstGeom>
          <a:solidFill>
            <a:srgbClr val="FFFFFF"/>
          </a:solidFill>
          <a:ln w="12700">
            <a:solidFill>
              <a:srgbClr val="D6DBE5"/>
            </a:solidFill>
            <a:prstDash val="solid"/>
          </a:ln>
        </p:spPr>
      </p:sp>
      <p:sp>
        <p:nvSpPr>
          <p:cNvPr id="25" name="Shape 23"/>
          <p:cNvSpPr/>
          <p:nvPr/>
        </p:nvSpPr>
        <p:spPr>
          <a:xfrm>
            <a:off x="548640" y="3291840"/>
            <a:ext cx="73152" cy="548640"/>
          </a:xfrm>
          <a:prstGeom prst="rect">
            <a:avLst/>
          </a:prstGeom>
          <a:solidFill>
            <a:srgbClr val="00A8E8"/>
          </a:solidFill>
          <a:ln w="12700">
            <a:solidFill>
              <a:srgbClr val="00A8E8"/>
            </a:solidFill>
            <a:prstDash val="solid"/>
          </a:ln>
        </p:spPr>
      </p:sp>
      <p:sp>
        <p:nvSpPr>
          <p:cNvPr id="26" name="Text 24"/>
          <p:cNvSpPr/>
          <p:nvPr/>
        </p:nvSpPr>
        <p:spPr>
          <a:xfrm>
            <a:off x="731520" y="3291840"/>
            <a:ext cx="1508760" cy="548640"/>
          </a:xfrm>
          <a:prstGeom prst="rect">
            <a:avLst/>
          </a:prstGeom>
          <a:noFill/>
          <a:ln/>
        </p:spPr>
        <p:txBody>
          <a:bodyPr wrap="square" lIns="0" tIns="0" rIns="0" bIns="0" rtlCol="0" anchor="ctr"/>
          <a:lstStyle/>
          <a:p>
            <a:pPr marL="0" indent="0" algn="l">
              <a:buNone/>
            </a:pPr>
            <a:r>
              <a:rPr lang="en-US" sz="1300" b="1" dirty="0">
                <a:solidFill>
                  <a:srgbClr val="1E2761"/>
                </a:solidFill>
                <a:latin typeface="Consolas" pitchFamily="34" charset="0"/>
                <a:ea typeface="Consolas" pitchFamily="34" charset="-122"/>
                <a:cs typeface="Consolas" pitchFamily="34" charset="-120"/>
              </a:rPr>
              <a:t>re</a:t>
            </a:r>
            <a:endParaRPr lang="en-US" sz="1300" dirty="0"/>
          </a:p>
        </p:txBody>
      </p:sp>
      <p:sp>
        <p:nvSpPr>
          <p:cNvPr id="27" name="Shape 25"/>
          <p:cNvSpPr/>
          <p:nvPr/>
        </p:nvSpPr>
        <p:spPr>
          <a:xfrm>
            <a:off x="2423160" y="3291840"/>
            <a:ext cx="1737360" cy="548640"/>
          </a:xfrm>
          <a:prstGeom prst="rect">
            <a:avLst/>
          </a:prstGeom>
          <a:solidFill>
            <a:srgbClr val="FFFFFF"/>
          </a:solidFill>
          <a:ln w="12700">
            <a:solidFill>
              <a:srgbClr val="D6DBE5"/>
            </a:solidFill>
            <a:prstDash val="solid"/>
          </a:ln>
        </p:spPr>
      </p:sp>
      <p:sp>
        <p:nvSpPr>
          <p:cNvPr id="28" name="Shape 26"/>
          <p:cNvSpPr/>
          <p:nvPr/>
        </p:nvSpPr>
        <p:spPr>
          <a:xfrm>
            <a:off x="2423160" y="3291840"/>
            <a:ext cx="73152" cy="548640"/>
          </a:xfrm>
          <a:prstGeom prst="rect">
            <a:avLst/>
          </a:prstGeom>
          <a:solidFill>
            <a:srgbClr val="00A8E8"/>
          </a:solidFill>
          <a:ln w="12700">
            <a:solidFill>
              <a:srgbClr val="00A8E8"/>
            </a:solidFill>
            <a:prstDash val="solid"/>
          </a:ln>
        </p:spPr>
      </p:sp>
      <p:sp>
        <p:nvSpPr>
          <p:cNvPr id="29" name="Text 27"/>
          <p:cNvSpPr/>
          <p:nvPr/>
        </p:nvSpPr>
        <p:spPr>
          <a:xfrm>
            <a:off x="2606040" y="3291840"/>
            <a:ext cx="1508760" cy="548640"/>
          </a:xfrm>
          <a:prstGeom prst="rect">
            <a:avLst/>
          </a:prstGeom>
          <a:noFill/>
          <a:ln/>
        </p:spPr>
        <p:txBody>
          <a:bodyPr wrap="square" lIns="0" tIns="0" rIns="0" bIns="0" rtlCol="0" anchor="ctr"/>
          <a:lstStyle/>
          <a:p>
            <a:pPr marL="0" indent="0" algn="l">
              <a:buNone/>
            </a:pPr>
            <a:r>
              <a:rPr lang="en-US" sz="1300" b="1" dirty="0">
                <a:solidFill>
                  <a:srgbClr val="1E2761"/>
                </a:solidFill>
                <a:latin typeface="Consolas" pitchFamily="34" charset="0"/>
                <a:ea typeface="Consolas" pitchFamily="34" charset="-122"/>
                <a:cs typeface="Consolas" pitchFamily="34" charset="-120"/>
              </a:rPr>
              <a:t>subprocess</a:t>
            </a:r>
            <a:endParaRPr lang="en-US" sz="1300" dirty="0"/>
          </a:p>
        </p:txBody>
      </p:sp>
      <p:sp>
        <p:nvSpPr>
          <p:cNvPr id="30" name="Shape 28"/>
          <p:cNvSpPr/>
          <p:nvPr/>
        </p:nvSpPr>
        <p:spPr>
          <a:xfrm>
            <a:off x="4297680" y="3291840"/>
            <a:ext cx="1737360" cy="548640"/>
          </a:xfrm>
          <a:prstGeom prst="rect">
            <a:avLst/>
          </a:prstGeom>
          <a:solidFill>
            <a:srgbClr val="FFFFFF"/>
          </a:solidFill>
          <a:ln w="12700">
            <a:solidFill>
              <a:srgbClr val="D6DBE5"/>
            </a:solidFill>
            <a:prstDash val="solid"/>
          </a:ln>
        </p:spPr>
      </p:sp>
      <p:sp>
        <p:nvSpPr>
          <p:cNvPr id="31" name="Shape 29"/>
          <p:cNvSpPr/>
          <p:nvPr/>
        </p:nvSpPr>
        <p:spPr>
          <a:xfrm>
            <a:off x="4297680" y="3291840"/>
            <a:ext cx="73152" cy="548640"/>
          </a:xfrm>
          <a:prstGeom prst="rect">
            <a:avLst/>
          </a:prstGeom>
          <a:solidFill>
            <a:srgbClr val="00A8E8"/>
          </a:solidFill>
          <a:ln w="12700">
            <a:solidFill>
              <a:srgbClr val="00A8E8"/>
            </a:solidFill>
            <a:prstDash val="solid"/>
          </a:ln>
        </p:spPr>
      </p:sp>
      <p:sp>
        <p:nvSpPr>
          <p:cNvPr id="32" name="Text 30"/>
          <p:cNvSpPr/>
          <p:nvPr/>
        </p:nvSpPr>
        <p:spPr>
          <a:xfrm>
            <a:off x="4480560" y="3291840"/>
            <a:ext cx="1508760" cy="548640"/>
          </a:xfrm>
          <a:prstGeom prst="rect">
            <a:avLst/>
          </a:prstGeom>
          <a:noFill/>
          <a:ln/>
        </p:spPr>
        <p:txBody>
          <a:bodyPr wrap="square" lIns="0" tIns="0" rIns="0" bIns="0" rtlCol="0" anchor="ctr"/>
          <a:lstStyle/>
          <a:p>
            <a:pPr marL="0" indent="0" algn="l">
              <a:buNone/>
            </a:pPr>
            <a:r>
              <a:rPr lang="en-US" sz="1300" b="1" dirty="0">
                <a:solidFill>
                  <a:srgbClr val="1E2761"/>
                </a:solidFill>
                <a:latin typeface="Consolas" pitchFamily="34" charset="0"/>
                <a:ea typeface="Consolas" pitchFamily="34" charset="-122"/>
                <a:cs typeface="Consolas" pitchFamily="34" charset="-120"/>
              </a:rPr>
              <a:t>os</a:t>
            </a:r>
            <a:endParaRPr lang="en-US" sz="1300" dirty="0"/>
          </a:p>
        </p:txBody>
      </p:sp>
      <p:sp>
        <p:nvSpPr>
          <p:cNvPr id="33" name="Text 31"/>
          <p:cNvSpPr/>
          <p:nvPr/>
        </p:nvSpPr>
        <p:spPr>
          <a:xfrm>
            <a:off x="6355080" y="1417320"/>
            <a:ext cx="5486400" cy="411480"/>
          </a:xfrm>
          <a:prstGeom prst="rect">
            <a:avLst/>
          </a:prstGeom>
          <a:noFill/>
          <a:ln/>
        </p:spPr>
        <p:txBody>
          <a:bodyPr wrap="square" lIns="0" tIns="0" rIns="0" bIns="0" rtlCol="0" anchor="ctr"/>
          <a:lstStyle/>
          <a:p>
            <a:pPr marL="0" indent="0" algn="l">
              <a:buNone/>
            </a:pPr>
            <a:r>
              <a:rPr lang="en-US" sz="1800" b="1" dirty="0">
                <a:solidFill>
                  <a:srgbClr val="0F1E3D"/>
                </a:solidFill>
                <a:latin typeface="Calibri" pitchFamily="34" charset="0"/>
                <a:ea typeface="Calibri" pitchFamily="34" charset="-122"/>
                <a:cs typeface="Calibri" pitchFamily="34" charset="-120"/>
              </a:rPr>
              <a:t>Project structure</a:t>
            </a:r>
            <a:endParaRPr lang="en-US" sz="1800" dirty="0"/>
          </a:p>
        </p:txBody>
      </p:sp>
      <p:sp>
        <p:nvSpPr>
          <p:cNvPr id="34" name="Shape 32"/>
          <p:cNvSpPr/>
          <p:nvPr/>
        </p:nvSpPr>
        <p:spPr>
          <a:xfrm>
            <a:off x="6355080" y="1920240"/>
            <a:ext cx="5349240" cy="4251960"/>
          </a:xfrm>
          <a:prstGeom prst="rect">
            <a:avLst/>
          </a:prstGeom>
          <a:solidFill>
            <a:srgbClr val="0B1730"/>
          </a:solidFill>
          <a:ln w="12700">
            <a:solidFill>
              <a:srgbClr val="0B1730"/>
            </a:solidFill>
            <a:prstDash val="solid"/>
          </a:ln>
          <a:effectLst>
            <a:outerShdw blurRad="152400" dist="50800" dir="5400000" algn="bl" rotWithShape="0">
              <a:srgbClr val="000000">
                <a:alpha val="20000"/>
              </a:srgbClr>
            </a:outerShdw>
          </a:effectLst>
        </p:spPr>
      </p:sp>
      <p:sp>
        <p:nvSpPr>
          <p:cNvPr id="35" name="Shape 33"/>
          <p:cNvSpPr/>
          <p:nvPr/>
        </p:nvSpPr>
        <p:spPr>
          <a:xfrm>
            <a:off x="6355080" y="1920240"/>
            <a:ext cx="5349240" cy="365760"/>
          </a:xfrm>
          <a:prstGeom prst="rect">
            <a:avLst/>
          </a:prstGeom>
          <a:solidFill>
            <a:srgbClr val="1A2A4F"/>
          </a:solidFill>
          <a:ln w="12700">
            <a:solidFill>
              <a:srgbClr val="1A2A4F"/>
            </a:solidFill>
            <a:prstDash val="solid"/>
          </a:ln>
        </p:spPr>
      </p:sp>
      <p:sp>
        <p:nvSpPr>
          <p:cNvPr id="36" name="Text 34"/>
          <p:cNvSpPr/>
          <p:nvPr/>
        </p:nvSpPr>
        <p:spPr>
          <a:xfrm>
            <a:off x="6355080" y="1920240"/>
            <a:ext cx="5349240" cy="365760"/>
          </a:xfrm>
          <a:prstGeom prst="rect">
            <a:avLst/>
          </a:prstGeom>
          <a:noFill/>
          <a:ln/>
        </p:spPr>
        <p:txBody>
          <a:bodyPr wrap="square" lIns="0" tIns="0" rIns="0" bIns="0" rtlCol="0" anchor="ctr"/>
          <a:lstStyle/>
          <a:p>
            <a:pPr marL="0" indent="0" algn="ctr">
              <a:buNone/>
            </a:pPr>
            <a:r>
              <a:rPr lang="en-US" sz="1000" dirty="0">
                <a:solidFill>
                  <a:srgbClr val="CADCFC"/>
                </a:solidFill>
                <a:latin typeface="Consolas" pitchFamily="34" charset="0"/>
                <a:ea typeface="Consolas" pitchFamily="34" charset="-122"/>
                <a:cs typeface="Consolas" pitchFamily="34" charset="-120"/>
              </a:rPr>
              <a:t>Project folder</a:t>
            </a:r>
            <a:endParaRPr lang="en-US" sz="1000" dirty="0"/>
          </a:p>
        </p:txBody>
      </p:sp>
      <p:sp>
        <p:nvSpPr>
          <p:cNvPr id="37" name="Text 35"/>
          <p:cNvSpPr/>
          <p:nvPr/>
        </p:nvSpPr>
        <p:spPr>
          <a:xfrm>
            <a:off x="6537960" y="2468880"/>
            <a:ext cx="5029200" cy="3566160"/>
          </a:xfrm>
          <a:prstGeom prst="rect">
            <a:avLst/>
          </a:prstGeom>
          <a:noFill/>
          <a:ln/>
        </p:spPr>
        <p:txBody>
          <a:bodyPr wrap="square" lIns="0" tIns="0" rIns="0" bIns="0" rtlCol="0" anchor="t"/>
          <a:lstStyle/>
          <a:p>
            <a:pPr marL="0" indent="0" algn="l">
              <a:spcAft>
                <a:spcPts val="600"/>
              </a:spcAft>
              <a:buNone/>
            </a:pPr>
            <a:r>
              <a:rPr lang="en-US" sz="1300" b="1" dirty="0">
                <a:solidFill>
                  <a:srgbClr val="00A8E8"/>
                </a:solidFill>
                <a:latin typeface="Consolas" pitchFamily="34" charset="0"/>
                <a:ea typeface="Consolas" pitchFamily="34" charset="-122"/>
                <a:cs typeface="Consolas" pitchFamily="34" charset="-120"/>
              </a:rPr>
              <a:t>information-security-final-project/</a:t>
            </a:r>
            <a:endParaRPr lang="en-US" sz="1300" dirty="0"/>
          </a:p>
          <a:p>
            <a:pPr marL="0" indent="0" algn="l">
              <a:spcAft>
                <a:spcPts val="600"/>
              </a:spcAft>
              <a:buNone/>
            </a:pPr>
            <a:r>
              <a:rPr lang="en-US" sz="1300" dirty="0">
                <a:solidFill>
                  <a:srgbClr val="FFFFFF"/>
                </a:solidFill>
                <a:latin typeface="Consolas" pitchFamily="34" charset="0"/>
                <a:ea typeface="Consolas" pitchFamily="34" charset="-122"/>
                <a:cs typeface="Consolas" pitchFamily="34" charset="-120"/>
              </a:rPr>
              <a:t>├── simple-intrusion-detection-system/</a:t>
            </a:r>
            <a:endParaRPr lang="en-US" sz="1300" dirty="0"/>
          </a:p>
          <a:p>
            <a:pPr marL="0" indent="0" algn="l">
              <a:spcAft>
                <a:spcPts val="600"/>
              </a:spcAft>
              <a:buNone/>
            </a:pPr>
            <a:r>
              <a:rPr lang="en-US" sz="1300" dirty="0">
                <a:solidFill>
                  <a:srgbClr val="FFFFFF"/>
                </a:solidFill>
                <a:latin typeface="Consolas" pitchFamily="34" charset="0"/>
                <a:ea typeface="Consolas" pitchFamily="34" charset="-122"/>
                <a:cs typeface="Consolas" pitchFamily="34" charset="-120"/>
              </a:rPr>
              <a:t>├── file-integrity-checker/</a:t>
            </a:r>
            <a:endParaRPr lang="en-US" sz="1300" dirty="0"/>
          </a:p>
          <a:p>
            <a:pPr marL="0" indent="0" algn="l">
              <a:spcAft>
                <a:spcPts val="600"/>
              </a:spcAft>
              <a:buNone/>
            </a:pPr>
            <a:r>
              <a:rPr lang="en-US" sz="1300" dirty="0">
                <a:solidFill>
                  <a:srgbClr val="FFFFFF"/>
                </a:solidFill>
                <a:latin typeface="Consolas" pitchFamily="34" charset="0"/>
                <a:ea typeface="Consolas" pitchFamily="34" charset="-122"/>
                <a:cs typeface="Consolas" pitchFamily="34" charset="-120"/>
              </a:rPr>
              <a:t>├── screenshots/</a:t>
            </a:r>
            <a:endParaRPr lang="en-US" sz="1300" dirty="0"/>
          </a:p>
          <a:p>
            <a:pPr marL="0" indent="0" algn="l">
              <a:spcAft>
                <a:spcPts val="600"/>
              </a:spcAft>
              <a:buNone/>
            </a:pPr>
            <a:r>
              <a:rPr lang="en-US" sz="1300" dirty="0">
                <a:solidFill>
                  <a:srgbClr val="FFFFFF"/>
                </a:solidFill>
                <a:latin typeface="Consolas" pitchFamily="34" charset="0"/>
                <a:ea typeface="Consolas" pitchFamily="34" charset="-122"/>
                <a:cs typeface="Consolas" pitchFamily="34" charset="-120"/>
              </a:rPr>
              <a:t>├── presentation/</a:t>
            </a:r>
            <a:endParaRPr lang="en-US" sz="1300" dirty="0"/>
          </a:p>
          <a:p>
            <a:pPr marL="0" indent="0" algn="l">
              <a:spcAft>
                <a:spcPts val="600"/>
              </a:spcAft>
              <a:buNone/>
            </a:pPr>
            <a:r>
              <a:rPr lang="en-US" sz="1300" dirty="0">
                <a:solidFill>
                  <a:srgbClr val="FFFFFF"/>
                </a:solidFill>
                <a:latin typeface="Consolas" pitchFamily="34" charset="0"/>
                <a:ea typeface="Consolas" pitchFamily="34" charset="-122"/>
                <a:cs typeface="Consolas" pitchFamily="34" charset="-120"/>
              </a:rPr>
              <a:t>└── README.md</a:t>
            </a:r>
            <a:endParaRPr lang="en-US" sz="1300" dirty="0"/>
          </a:p>
        </p:txBody>
      </p:sp>
      <p:sp>
        <p:nvSpPr>
          <p:cNvPr id="38" name="Shape 36"/>
          <p:cNvSpPr/>
          <p:nvPr/>
        </p:nvSpPr>
        <p:spPr>
          <a:xfrm>
            <a:off x="0" y="6537960"/>
            <a:ext cx="12191695" cy="320040"/>
          </a:xfrm>
          <a:prstGeom prst="rect">
            <a:avLst/>
          </a:prstGeom>
          <a:solidFill>
            <a:srgbClr val="0F1E3D"/>
          </a:solidFill>
          <a:ln w="12700">
            <a:solidFill>
              <a:srgbClr val="0F1E3D"/>
            </a:solidFill>
            <a:prstDash val="solid"/>
          </a:ln>
        </p:spPr>
      </p:sp>
      <p:sp>
        <p:nvSpPr>
          <p:cNvPr id="39" name="Text 37"/>
          <p:cNvSpPr/>
          <p:nvPr/>
        </p:nvSpPr>
        <p:spPr>
          <a:xfrm>
            <a:off x="457200" y="6547104"/>
            <a:ext cx="7315200" cy="30175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Information Security Final Project  |  Farid &amp; Sami</a:t>
            </a:r>
            <a:endParaRPr lang="en-US" sz="900" dirty="0"/>
          </a:p>
        </p:txBody>
      </p:sp>
      <p:sp>
        <p:nvSpPr>
          <p:cNvPr id="40" name="Text 38"/>
          <p:cNvSpPr/>
          <p:nvPr/>
        </p:nvSpPr>
        <p:spPr>
          <a:xfrm>
            <a:off x="10820095" y="6547104"/>
            <a:ext cx="914400" cy="30175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640080"/>
          </a:xfrm>
          <a:prstGeom prst="rect">
            <a:avLst/>
          </a:prstGeom>
          <a:noFill/>
          <a:ln/>
        </p:spPr>
        <p:txBody>
          <a:bodyPr wrap="square" lIns="0" tIns="0" rIns="0" bIns="0" rtlCol="0" anchor="ctr"/>
          <a:lstStyle/>
          <a:p>
            <a:pPr marL="0" indent="0" algn="l">
              <a:buNone/>
            </a:pPr>
            <a:r>
              <a:rPr lang="en-US" sz="2800" b="1" dirty="0">
                <a:solidFill>
                  <a:srgbClr val="0F1E3D"/>
                </a:solidFill>
                <a:latin typeface="Calibri" pitchFamily="34" charset="0"/>
                <a:ea typeface="Calibri" pitchFamily="34" charset="-122"/>
                <a:cs typeface="Calibri" pitchFamily="34" charset="-120"/>
              </a:rPr>
              <a:t>Demo Plan &amp; Results</a:t>
            </a:r>
            <a:endParaRPr lang="en-US" sz="2800" dirty="0"/>
          </a:p>
        </p:txBody>
      </p:sp>
      <p:sp>
        <p:nvSpPr>
          <p:cNvPr id="3" name="Text 1"/>
          <p:cNvSpPr/>
          <p:nvPr/>
        </p:nvSpPr>
        <p:spPr>
          <a:xfrm>
            <a:off x="548640" y="868680"/>
            <a:ext cx="11094415" cy="320040"/>
          </a:xfrm>
          <a:prstGeom prst="rect">
            <a:avLst/>
          </a:prstGeom>
          <a:noFill/>
          <a:ln/>
        </p:spPr>
        <p:txBody>
          <a:bodyPr wrap="square" lIns="0" tIns="0" rIns="0" bIns="0" rtlCol="0" anchor="ctr"/>
          <a:lstStyle/>
          <a:p>
            <a:pPr marL="0" indent="0" algn="l">
              <a:buNone/>
            </a:pPr>
            <a:r>
              <a:rPr lang="en-US" sz="1300" i="1" dirty="0">
                <a:solidFill>
                  <a:srgbClr val="5B6B85"/>
                </a:solidFill>
                <a:latin typeface="Calibri" pitchFamily="34" charset="0"/>
                <a:ea typeface="Calibri" pitchFamily="34" charset="-122"/>
                <a:cs typeface="Calibri" pitchFamily="34" charset="-120"/>
              </a:rPr>
              <a:t>What we will demonstrate and what we observed</a:t>
            </a:r>
            <a:endParaRPr lang="en-US" sz="1300" dirty="0"/>
          </a:p>
        </p:txBody>
      </p:sp>
      <p:sp>
        <p:nvSpPr>
          <p:cNvPr id="4" name="Shape 2"/>
          <p:cNvSpPr/>
          <p:nvPr/>
        </p:nvSpPr>
        <p:spPr>
          <a:xfrm>
            <a:off x="274320" y="457200"/>
            <a:ext cx="109728" cy="365760"/>
          </a:xfrm>
          <a:prstGeom prst="rect">
            <a:avLst/>
          </a:prstGeom>
          <a:solidFill>
            <a:srgbClr val="00A8E8"/>
          </a:solidFill>
          <a:ln w="12700">
            <a:solidFill>
              <a:srgbClr val="00A8E8"/>
            </a:solidFill>
            <a:prstDash val="solid"/>
          </a:ln>
        </p:spPr>
      </p:sp>
      <p:sp>
        <p:nvSpPr>
          <p:cNvPr id="5" name="Text 3"/>
          <p:cNvSpPr/>
          <p:nvPr/>
        </p:nvSpPr>
        <p:spPr>
          <a:xfrm>
            <a:off x="548640" y="1417320"/>
            <a:ext cx="5486400" cy="411480"/>
          </a:xfrm>
          <a:prstGeom prst="rect">
            <a:avLst/>
          </a:prstGeom>
          <a:noFill/>
          <a:ln/>
        </p:spPr>
        <p:txBody>
          <a:bodyPr wrap="square" lIns="0" tIns="0" rIns="0" bIns="0" rtlCol="0" anchor="ctr"/>
          <a:lstStyle/>
          <a:p>
            <a:pPr marL="0" indent="0" algn="l">
              <a:buNone/>
            </a:pPr>
            <a:r>
              <a:rPr lang="en-US" sz="1800" b="1" dirty="0">
                <a:solidFill>
                  <a:srgbClr val="0F1E3D"/>
                </a:solidFill>
                <a:latin typeface="Calibri" pitchFamily="34" charset="0"/>
                <a:ea typeface="Calibri" pitchFamily="34" charset="-122"/>
                <a:cs typeface="Calibri" pitchFamily="34" charset="-120"/>
              </a:rPr>
              <a:t>Demo plan</a:t>
            </a:r>
            <a:endParaRPr lang="en-US" sz="1800" dirty="0"/>
          </a:p>
        </p:txBody>
      </p:sp>
      <p:sp>
        <p:nvSpPr>
          <p:cNvPr id="6" name="Shape 4"/>
          <p:cNvSpPr/>
          <p:nvPr/>
        </p:nvSpPr>
        <p:spPr>
          <a:xfrm>
            <a:off x="548640" y="1920240"/>
            <a:ext cx="365760" cy="365760"/>
          </a:xfrm>
          <a:prstGeom prst="ellipse">
            <a:avLst/>
          </a:prstGeom>
          <a:solidFill>
            <a:srgbClr val="0F1E3D"/>
          </a:solidFill>
          <a:ln w="12700">
            <a:solidFill>
              <a:srgbClr val="0F1E3D"/>
            </a:solidFill>
            <a:prstDash val="solid"/>
          </a:ln>
        </p:spPr>
      </p:sp>
      <p:sp>
        <p:nvSpPr>
          <p:cNvPr id="7" name="Text 5"/>
          <p:cNvSpPr/>
          <p:nvPr/>
        </p:nvSpPr>
        <p:spPr>
          <a:xfrm>
            <a:off x="548640" y="1920240"/>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1051560" y="1920240"/>
            <a:ext cx="5029200" cy="365760"/>
          </a:xfrm>
          <a:prstGeom prst="rect">
            <a:avLst/>
          </a:prstGeom>
          <a:noFill/>
          <a:ln/>
        </p:spPr>
        <p:txBody>
          <a:bodyPr wrap="square" lIns="0" tIns="0" rIns="0" bIns="0" rtlCol="0" anchor="ctr"/>
          <a:lstStyle/>
          <a:p>
            <a:pPr marL="0" indent="0" algn="l">
              <a:buNone/>
            </a:pPr>
            <a:r>
              <a:rPr lang="en-US" sz="1250" dirty="0">
                <a:solidFill>
                  <a:srgbClr val="1A2138"/>
                </a:solidFill>
                <a:latin typeface="Calibri" pitchFamily="34" charset="0"/>
                <a:ea typeface="Calibri" pitchFamily="34" charset="-122"/>
                <a:cs typeface="Calibri" pitchFamily="34" charset="-120"/>
              </a:rPr>
              <a:t>Run the IDS menu</a:t>
            </a:r>
            <a:endParaRPr lang="en-US" sz="1250" dirty="0"/>
          </a:p>
        </p:txBody>
      </p:sp>
      <p:sp>
        <p:nvSpPr>
          <p:cNvPr id="9" name="Shape 7"/>
          <p:cNvSpPr/>
          <p:nvPr/>
        </p:nvSpPr>
        <p:spPr>
          <a:xfrm>
            <a:off x="548640" y="2423160"/>
            <a:ext cx="365760" cy="365760"/>
          </a:xfrm>
          <a:prstGeom prst="ellipse">
            <a:avLst/>
          </a:prstGeom>
          <a:solidFill>
            <a:srgbClr val="0F1E3D"/>
          </a:solidFill>
          <a:ln w="12700">
            <a:solidFill>
              <a:srgbClr val="0F1E3D"/>
            </a:solidFill>
            <a:prstDash val="solid"/>
          </a:ln>
        </p:spPr>
      </p:sp>
      <p:sp>
        <p:nvSpPr>
          <p:cNvPr id="10" name="Text 8"/>
          <p:cNvSpPr/>
          <p:nvPr/>
        </p:nvSpPr>
        <p:spPr>
          <a:xfrm>
            <a:off x="548640" y="2423160"/>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Text 9"/>
          <p:cNvSpPr/>
          <p:nvPr/>
        </p:nvSpPr>
        <p:spPr>
          <a:xfrm>
            <a:off x="1051560" y="2423160"/>
            <a:ext cx="5029200" cy="365760"/>
          </a:xfrm>
          <a:prstGeom prst="rect">
            <a:avLst/>
          </a:prstGeom>
          <a:noFill/>
          <a:ln/>
        </p:spPr>
        <p:txBody>
          <a:bodyPr wrap="square" lIns="0" tIns="0" rIns="0" bIns="0" rtlCol="0" anchor="ctr"/>
          <a:lstStyle/>
          <a:p>
            <a:pPr marL="0" indent="0" algn="l">
              <a:buNone/>
            </a:pPr>
            <a:r>
              <a:rPr lang="en-US" sz="1250" dirty="0">
                <a:solidFill>
                  <a:srgbClr val="1A2138"/>
                </a:solidFill>
                <a:latin typeface="Calibri" pitchFamily="34" charset="0"/>
                <a:ea typeface="Calibri" pitchFamily="34" charset="-122"/>
                <a:cs typeface="Calibri" pitchFamily="34" charset="-120"/>
              </a:rPr>
              <a:t>Create a sample authentication log</a:t>
            </a:r>
            <a:endParaRPr lang="en-US" sz="1250" dirty="0"/>
          </a:p>
        </p:txBody>
      </p:sp>
      <p:sp>
        <p:nvSpPr>
          <p:cNvPr id="12" name="Shape 10"/>
          <p:cNvSpPr/>
          <p:nvPr/>
        </p:nvSpPr>
        <p:spPr>
          <a:xfrm>
            <a:off x="548640" y="2926080"/>
            <a:ext cx="365760" cy="365760"/>
          </a:xfrm>
          <a:prstGeom prst="ellipse">
            <a:avLst/>
          </a:prstGeom>
          <a:solidFill>
            <a:srgbClr val="0F1E3D"/>
          </a:solidFill>
          <a:ln w="12700">
            <a:solidFill>
              <a:srgbClr val="0F1E3D"/>
            </a:solidFill>
            <a:prstDash val="solid"/>
          </a:ln>
        </p:spPr>
      </p:sp>
      <p:sp>
        <p:nvSpPr>
          <p:cNvPr id="13" name="Text 11"/>
          <p:cNvSpPr/>
          <p:nvPr/>
        </p:nvSpPr>
        <p:spPr>
          <a:xfrm>
            <a:off x="548640" y="2926080"/>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4" name="Text 12"/>
          <p:cNvSpPr/>
          <p:nvPr/>
        </p:nvSpPr>
        <p:spPr>
          <a:xfrm>
            <a:off x="1051560" y="2926080"/>
            <a:ext cx="5029200" cy="365760"/>
          </a:xfrm>
          <a:prstGeom prst="rect">
            <a:avLst/>
          </a:prstGeom>
          <a:noFill/>
          <a:ln/>
        </p:spPr>
        <p:txBody>
          <a:bodyPr wrap="square" lIns="0" tIns="0" rIns="0" bIns="0" rtlCol="0" anchor="ctr"/>
          <a:lstStyle/>
          <a:p>
            <a:pPr marL="0" indent="0" algn="l">
              <a:buNone/>
            </a:pPr>
            <a:r>
              <a:rPr lang="en-US" sz="1250" dirty="0">
                <a:solidFill>
                  <a:srgbClr val="1A2138"/>
                </a:solidFill>
                <a:latin typeface="Calibri" pitchFamily="34" charset="0"/>
                <a:ea typeface="Calibri" pitchFamily="34" charset="-122"/>
                <a:cs typeface="Calibri" pitchFamily="34" charset="-120"/>
              </a:rPr>
              <a:t>Detect failed logins</a:t>
            </a:r>
            <a:endParaRPr lang="en-US" sz="1250" dirty="0"/>
          </a:p>
        </p:txBody>
      </p:sp>
      <p:sp>
        <p:nvSpPr>
          <p:cNvPr id="15" name="Shape 13"/>
          <p:cNvSpPr/>
          <p:nvPr/>
        </p:nvSpPr>
        <p:spPr>
          <a:xfrm>
            <a:off x="548640" y="3429000"/>
            <a:ext cx="365760" cy="365760"/>
          </a:xfrm>
          <a:prstGeom prst="ellipse">
            <a:avLst/>
          </a:prstGeom>
          <a:solidFill>
            <a:srgbClr val="0F1E3D"/>
          </a:solidFill>
          <a:ln w="12700">
            <a:solidFill>
              <a:srgbClr val="0F1E3D"/>
            </a:solidFill>
            <a:prstDash val="solid"/>
          </a:ln>
        </p:spPr>
      </p:sp>
      <p:sp>
        <p:nvSpPr>
          <p:cNvPr id="16" name="Text 14"/>
          <p:cNvSpPr/>
          <p:nvPr/>
        </p:nvSpPr>
        <p:spPr>
          <a:xfrm>
            <a:off x="548640" y="3429000"/>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Text 15"/>
          <p:cNvSpPr/>
          <p:nvPr/>
        </p:nvSpPr>
        <p:spPr>
          <a:xfrm>
            <a:off x="1051560" y="3429000"/>
            <a:ext cx="5029200" cy="365760"/>
          </a:xfrm>
          <a:prstGeom prst="rect">
            <a:avLst/>
          </a:prstGeom>
          <a:noFill/>
          <a:ln/>
        </p:spPr>
        <p:txBody>
          <a:bodyPr wrap="square" lIns="0" tIns="0" rIns="0" bIns="0" rtlCol="0" anchor="ctr"/>
          <a:lstStyle/>
          <a:p>
            <a:pPr marL="0" indent="0" algn="l">
              <a:buNone/>
            </a:pPr>
            <a:r>
              <a:rPr lang="en-US" sz="1250" dirty="0">
                <a:solidFill>
                  <a:srgbClr val="1A2138"/>
                </a:solidFill>
                <a:latin typeface="Calibri" pitchFamily="34" charset="0"/>
                <a:ea typeface="Calibri" pitchFamily="34" charset="-122"/>
                <a:cs typeface="Calibri" pitchFamily="34" charset="-120"/>
              </a:rPr>
              <a:t>Create a process baseline</a:t>
            </a:r>
            <a:endParaRPr lang="en-US" sz="1250" dirty="0"/>
          </a:p>
        </p:txBody>
      </p:sp>
      <p:sp>
        <p:nvSpPr>
          <p:cNvPr id="18" name="Shape 16"/>
          <p:cNvSpPr/>
          <p:nvPr/>
        </p:nvSpPr>
        <p:spPr>
          <a:xfrm>
            <a:off x="548640" y="3931920"/>
            <a:ext cx="365760" cy="365760"/>
          </a:xfrm>
          <a:prstGeom prst="ellipse">
            <a:avLst/>
          </a:prstGeom>
          <a:solidFill>
            <a:srgbClr val="0F1E3D"/>
          </a:solidFill>
          <a:ln w="12700">
            <a:solidFill>
              <a:srgbClr val="0F1E3D"/>
            </a:solidFill>
            <a:prstDash val="solid"/>
          </a:ln>
        </p:spPr>
      </p:sp>
      <p:sp>
        <p:nvSpPr>
          <p:cNvPr id="19" name="Text 17"/>
          <p:cNvSpPr/>
          <p:nvPr/>
        </p:nvSpPr>
        <p:spPr>
          <a:xfrm>
            <a:off x="548640" y="3931920"/>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8"/>
          <p:cNvSpPr/>
          <p:nvPr/>
        </p:nvSpPr>
        <p:spPr>
          <a:xfrm>
            <a:off x="1051560" y="3931920"/>
            <a:ext cx="5029200" cy="365760"/>
          </a:xfrm>
          <a:prstGeom prst="rect">
            <a:avLst/>
          </a:prstGeom>
          <a:noFill/>
          <a:ln/>
        </p:spPr>
        <p:txBody>
          <a:bodyPr wrap="square" lIns="0" tIns="0" rIns="0" bIns="0" rtlCol="0" anchor="ctr"/>
          <a:lstStyle/>
          <a:p>
            <a:pPr marL="0" indent="0" algn="l">
              <a:buNone/>
            </a:pPr>
            <a:r>
              <a:rPr lang="en-US" sz="1250" dirty="0">
                <a:solidFill>
                  <a:srgbClr val="1A2138"/>
                </a:solidFill>
                <a:latin typeface="Calibri" pitchFamily="34" charset="0"/>
                <a:ea typeface="Calibri" pitchFamily="34" charset="-122"/>
                <a:cs typeface="Calibri" pitchFamily="34" charset="-120"/>
              </a:rPr>
              <a:t>Show IDS alerts in ids_alerts.log</a:t>
            </a:r>
            <a:endParaRPr lang="en-US" sz="1250" dirty="0"/>
          </a:p>
        </p:txBody>
      </p:sp>
      <p:sp>
        <p:nvSpPr>
          <p:cNvPr id="21" name="Shape 19"/>
          <p:cNvSpPr/>
          <p:nvPr/>
        </p:nvSpPr>
        <p:spPr>
          <a:xfrm>
            <a:off x="548640" y="4434840"/>
            <a:ext cx="365760" cy="365760"/>
          </a:xfrm>
          <a:prstGeom prst="ellipse">
            <a:avLst/>
          </a:prstGeom>
          <a:solidFill>
            <a:srgbClr val="0F1E3D"/>
          </a:solidFill>
          <a:ln w="12700">
            <a:solidFill>
              <a:srgbClr val="0F1E3D"/>
            </a:solidFill>
            <a:prstDash val="solid"/>
          </a:ln>
        </p:spPr>
      </p:sp>
      <p:sp>
        <p:nvSpPr>
          <p:cNvPr id="22" name="Text 20"/>
          <p:cNvSpPr/>
          <p:nvPr/>
        </p:nvSpPr>
        <p:spPr>
          <a:xfrm>
            <a:off x="548640" y="4434840"/>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3" name="Text 21"/>
          <p:cNvSpPr/>
          <p:nvPr/>
        </p:nvSpPr>
        <p:spPr>
          <a:xfrm>
            <a:off x="1051560" y="4434840"/>
            <a:ext cx="5029200" cy="365760"/>
          </a:xfrm>
          <a:prstGeom prst="rect">
            <a:avLst/>
          </a:prstGeom>
          <a:noFill/>
          <a:ln/>
        </p:spPr>
        <p:txBody>
          <a:bodyPr wrap="square" lIns="0" tIns="0" rIns="0" bIns="0" rtlCol="0" anchor="ctr"/>
          <a:lstStyle/>
          <a:p>
            <a:pPr marL="0" indent="0" algn="l">
              <a:buNone/>
            </a:pPr>
            <a:r>
              <a:rPr lang="en-US" sz="1250" dirty="0">
                <a:solidFill>
                  <a:srgbClr val="1A2138"/>
                </a:solidFill>
                <a:latin typeface="Calibri" pitchFamily="34" charset="0"/>
                <a:ea typeface="Calibri" pitchFamily="34" charset="-122"/>
                <a:cs typeface="Calibri" pitchFamily="34" charset="-120"/>
              </a:rPr>
              <a:t>Run the file integrity checker</a:t>
            </a:r>
            <a:endParaRPr lang="en-US" sz="1250" dirty="0"/>
          </a:p>
        </p:txBody>
      </p:sp>
      <p:sp>
        <p:nvSpPr>
          <p:cNvPr id="24" name="Shape 22"/>
          <p:cNvSpPr/>
          <p:nvPr/>
        </p:nvSpPr>
        <p:spPr>
          <a:xfrm>
            <a:off x="548640" y="4937760"/>
            <a:ext cx="365760" cy="365760"/>
          </a:xfrm>
          <a:prstGeom prst="ellipse">
            <a:avLst/>
          </a:prstGeom>
          <a:solidFill>
            <a:srgbClr val="0F1E3D"/>
          </a:solidFill>
          <a:ln w="12700">
            <a:solidFill>
              <a:srgbClr val="0F1E3D"/>
            </a:solidFill>
            <a:prstDash val="solid"/>
          </a:ln>
        </p:spPr>
      </p:sp>
      <p:sp>
        <p:nvSpPr>
          <p:cNvPr id="25" name="Text 23"/>
          <p:cNvSpPr/>
          <p:nvPr/>
        </p:nvSpPr>
        <p:spPr>
          <a:xfrm>
            <a:off x="548640" y="4937760"/>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6" name="Text 24"/>
          <p:cNvSpPr/>
          <p:nvPr/>
        </p:nvSpPr>
        <p:spPr>
          <a:xfrm>
            <a:off x="1051560" y="4937760"/>
            <a:ext cx="5029200" cy="365760"/>
          </a:xfrm>
          <a:prstGeom prst="rect">
            <a:avLst/>
          </a:prstGeom>
          <a:noFill/>
          <a:ln/>
        </p:spPr>
        <p:txBody>
          <a:bodyPr wrap="square" lIns="0" tIns="0" rIns="0" bIns="0" rtlCol="0" anchor="ctr"/>
          <a:lstStyle/>
          <a:p>
            <a:pPr marL="0" indent="0" algn="l">
              <a:buNone/>
            </a:pPr>
            <a:r>
              <a:rPr lang="en-US" sz="1250" dirty="0">
                <a:solidFill>
                  <a:srgbClr val="1A2138"/>
                </a:solidFill>
                <a:latin typeface="Calibri" pitchFamily="34" charset="0"/>
                <a:ea typeface="Calibri" pitchFamily="34" charset="-122"/>
                <a:cs typeface="Calibri" pitchFamily="34" charset="-120"/>
              </a:rPr>
              <a:t>Modify a file to simulate tampering</a:t>
            </a:r>
            <a:endParaRPr lang="en-US" sz="1250" dirty="0"/>
          </a:p>
        </p:txBody>
      </p:sp>
      <p:sp>
        <p:nvSpPr>
          <p:cNvPr id="27" name="Shape 25"/>
          <p:cNvSpPr/>
          <p:nvPr/>
        </p:nvSpPr>
        <p:spPr>
          <a:xfrm>
            <a:off x="548640" y="5440680"/>
            <a:ext cx="365760" cy="365760"/>
          </a:xfrm>
          <a:prstGeom prst="ellipse">
            <a:avLst/>
          </a:prstGeom>
          <a:solidFill>
            <a:srgbClr val="0F1E3D"/>
          </a:solidFill>
          <a:ln w="12700">
            <a:solidFill>
              <a:srgbClr val="0F1E3D"/>
            </a:solidFill>
            <a:prstDash val="solid"/>
          </a:ln>
        </p:spPr>
      </p:sp>
      <p:sp>
        <p:nvSpPr>
          <p:cNvPr id="28" name="Text 26"/>
          <p:cNvSpPr/>
          <p:nvPr/>
        </p:nvSpPr>
        <p:spPr>
          <a:xfrm>
            <a:off x="548640" y="5440680"/>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9" name="Text 27"/>
          <p:cNvSpPr/>
          <p:nvPr/>
        </p:nvSpPr>
        <p:spPr>
          <a:xfrm>
            <a:off x="1051560" y="5440680"/>
            <a:ext cx="5029200" cy="365760"/>
          </a:xfrm>
          <a:prstGeom prst="rect">
            <a:avLst/>
          </a:prstGeom>
          <a:noFill/>
          <a:ln/>
        </p:spPr>
        <p:txBody>
          <a:bodyPr wrap="square" lIns="0" tIns="0" rIns="0" bIns="0" rtlCol="0" anchor="ctr"/>
          <a:lstStyle/>
          <a:p>
            <a:pPr marL="0" indent="0" algn="l">
              <a:buNone/>
            </a:pPr>
            <a:r>
              <a:rPr lang="en-US" sz="1250" dirty="0">
                <a:solidFill>
                  <a:srgbClr val="1A2138"/>
                </a:solidFill>
                <a:latin typeface="Calibri" pitchFamily="34" charset="0"/>
                <a:ea typeface="Calibri" pitchFamily="34" charset="-122"/>
                <a:cs typeface="Calibri" pitchFamily="34" charset="-120"/>
              </a:rPr>
              <a:t>Show integrity logs</a:t>
            </a:r>
            <a:endParaRPr lang="en-US" sz="1250" dirty="0"/>
          </a:p>
        </p:txBody>
      </p:sp>
      <p:sp>
        <p:nvSpPr>
          <p:cNvPr id="30" name="Text 28"/>
          <p:cNvSpPr/>
          <p:nvPr/>
        </p:nvSpPr>
        <p:spPr>
          <a:xfrm>
            <a:off x="6355080" y="1417320"/>
            <a:ext cx="5486400" cy="411480"/>
          </a:xfrm>
          <a:prstGeom prst="rect">
            <a:avLst/>
          </a:prstGeom>
          <a:noFill/>
          <a:ln/>
        </p:spPr>
        <p:txBody>
          <a:bodyPr wrap="square" lIns="0" tIns="0" rIns="0" bIns="0" rtlCol="0" anchor="ctr"/>
          <a:lstStyle/>
          <a:p>
            <a:pPr marL="0" indent="0" algn="l">
              <a:buNone/>
            </a:pPr>
            <a:r>
              <a:rPr lang="en-US" sz="1800" b="1" dirty="0">
                <a:solidFill>
                  <a:srgbClr val="0F1E3D"/>
                </a:solidFill>
                <a:latin typeface="Calibri" pitchFamily="34" charset="0"/>
                <a:ea typeface="Calibri" pitchFamily="34" charset="-122"/>
                <a:cs typeface="Calibri" pitchFamily="34" charset="-120"/>
              </a:rPr>
              <a:t>Results</a:t>
            </a:r>
            <a:endParaRPr lang="en-US" sz="1800" dirty="0"/>
          </a:p>
        </p:txBody>
      </p:sp>
      <p:sp>
        <p:nvSpPr>
          <p:cNvPr id="31" name="Shape 29"/>
          <p:cNvSpPr/>
          <p:nvPr/>
        </p:nvSpPr>
        <p:spPr>
          <a:xfrm>
            <a:off x="6355080" y="1920240"/>
            <a:ext cx="5349240" cy="868680"/>
          </a:xfrm>
          <a:prstGeom prst="rect">
            <a:avLst/>
          </a:prstGeom>
          <a:solidFill>
            <a:srgbClr val="FFFFFF"/>
          </a:solidFill>
          <a:ln w="12700">
            <a:solidFill>
              <a:srgbClr val="D6DBE5"/>
            </a:solidFill>
            <a:prstDash val="solid"/>
          </a:ln>
          <a:effectLst>
            <a:outerShdw blurRad="76200" dist="25400" dir="5400000" algn="bl" rotWithShape="0">
              <a:srgbClr val="000000">
                <a:alpha val="5000"/>
              </a:srgbClr>
            </a:outerShdw>
          </a:effectLst>
        </p:spPr>
      </p:sp>
      <p:sp>
        <p:nvSpPr>
          <p:cNvPr id="32" name="Shape 30"/>
          <p:cNvSpPr/>
          <p:nvPr/>
        </p:nvSpPr>
        <p:spPr>
          <a:xfrm>
            <a:off x="6355080" y="1920240"/>
            <a:ext cx="91440" cy="868680"/>
          </a:xfrm>
          <a:prstGeom prst="rect">
            <a:avLst/>
          </a:prstGeom>
          <a:solidFill>
            <a:srgbClr val="2DB55D"/>
          </a:solidFill>
          <a:ln w="12700">
            <a:solidFill>
              <a:srgbClr val="2DB55D"/>
            </a:solidFill>
            <a:prstDash val="solid"/>
          </a:ln>
        </p:spPr>
      </p:sp>
      <p:pic>
        <p:nvPicPr>
          <p:cNvPr id="33" name="Image 0" descr="preencoded.png"/>
          <p:cNvPicPr>
            <a:picLocks noChangeAspect="1"/>
          </p:cNvPicPr>
          <p:nvPr/>
        </p:nvPicPr>
        <p:blipFill>
          <a:blip r:embed="rId3"/>
          <a:stretch>
            <a:fillRect/>
          </a:stretch>
        </p:blipFill>
        <p:spPr>
          <a:xfrm>
            <a:off x="6583680" y="2167128"/>
            <a:ext cx="365760" cy="365760"/>
          </a:xfrm>
          <a:prstGeom prst="rect">
            <a:avLst/>
          </a:prstGeom>
        </p:spPr>
      </p:pic>
      <p:sp>
        <p:nvSpPr>
          <p:cNvPr id="34" name="Text 31"/>
          <p:cNvSpPr/>
          <p:nvPr/>
        </p:nvSpPr>
        <p:spPr>
          <a:xfrm>
            <a:off x="7086600" y="1920240"/>
            <a:ext cx="4572000" cy="868680"/>
          </a:xfrm>
          <a:prstGeom prst="rect">
            <a:avLst/>
          </a:prstGeom>
          <a:noFill/>
          <a:ln/>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Suspicious login attempts detected</a:t>
            </a:r>
            <a:endParaRPr lang="en-US" sz="1300" dirty="0"/>
          </a:p>
        </p:txBody>
      </p:sp>
      <p:sp>
        <p:nvSpPr>
          <p:cNvPr id="35" name="Shape 32"/>
          <p:cNvSpPr/>
          <p:nvPr/>
        </p:nvSpPr>
        <p:spPr>
          <a:xfrm>
            <a:off x="6355080" y="2926080"/>
            <a:ext cx="5349240" cy="868680"/>
          </a:xfrm>
          <a:prstGeom prst="rect">
            <a:avLst/>
          </a:prstGeom>
          <a:solidFill>
            <a:srgbClr val="FFFFFF"/>
          </a:solidFill>
          <a:ln w="12700">
            <a:solidFill>
              <a:srgbClr val="D6DBE5"/>
            </a:solidFill>
            <a:prstDash val="solid"/>
          </a:ln>
          <a:effectLst>
            <a:outerShdw blurRad="76200" dist="25400" dir="5400000" algn="bl" rotWithShape="0">
              <a:srgbClr val="000000">
                <a:alpha val="5000"/>
              </a:srgbClr>
            </a:outerShdw>
          </a:effectLst>
        </p:spPr>
      </p:sp>
      <p:sp>
        <p:nvSpPr>
          <p:cNvPr id="36" name="Shape 33"/>
          <p:cNvSpPr/>
          <p:nvPr/>
        </p:nvSpPr>
        <p:spPr>
          <a:xfrm>
            <a:off x="6355080" y="2926080"/>
            <a:ext cx="91440" cy="868680"/>
          </a:xfrm>
          <a:prstGeom prst="rect">
            <a:avLst/>
          </a:prstGeom>
          <a:solidFill>
            <a:srgbClr val="2DB55D"/>
          </a:solidFill>
          <a:ln w="12700">
            <a:solidFill>
              <a:srgbClr val="2DB55D"/>
            </a:solidFill>
            <a:prstDash val="solid"/>
          </a:ln>
        </p:spPr>
      </p:sp>
      <p:pic>
        <p:nvPicPr>
          <p:cNvPr id="37" name="Image 1" descr="preencoded.png"/>
          <p:cNvPicPr>
            <a:picLocks noChangeAspect="1"/>
          </p:cNvPicPr>
          <p:nvPr/>
        </p:nvPicPr>
        <p:blipFill>
          <a:blip r:embed="rId3"/>
          <a:stretch>
            <a:fillRect/>
          </a:stretch>
        </p:blipFill>
        <p:spPr>
          <a:xfrm>
            <a:off x="6583680" y="3172968"/>
            <a:ext cx="365760" cy="365760"/>
          </a:xfrm>
          <a:prstGeom prst="rect">
            <a:avLst/>
          </a:prstGeom>
        </p:spPr>
      </p:pic>
      <p:sp>
        <p:nvSpPr>
          <p:cNvPr id="38" name="Text 34"/>
          <p:cNvSpPr/>
          <p:nvPr/>
        </p:nvSpPr>
        <p:spPr>
          <a:xfrm>
            <a:off x="7086600" y="2926080"/>
            <a:ext cx="4572000" cy="868680"/>
          </a:xfrm>
          <a:prstGeom prst="rect">
            <a:avLst/>
          </a:prstGeom>
          <a:noFill/>
          <a:ln/>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Process changes monitored</a:t>
            </a:r>
            <a:endParaRPr lang="en-US" sz="1300" dirty="0"/>
          </a:p>
        </p:txBody>
      </p:sp>
      <p:sp>
        <p:nvSpPr>
          <p:cNvPr id="39" name="Shape 35"/>
          <p:cNvSpPr/>
          <p:nvPr/>
        </p:nvSpPr>
        <p:spPr>
          <a:xfrm>
            <a:off x="6355080" y="3931920"/>
            <a:ext cx="5349240" cy="868680"/>
          </a:xfrm>
          <a:prstGeom prst="rect">
            <a:avLst/>
          </a:prstGeom>
          <a:solidFill>
            <a:srgbClr val="FFFFFF"/>
          </a:solidFill>
          <a:ln w="12700">
            <a:solidFill>
              <a:srgbClr val="D6DBE5"/>
            </a:solidFill>
            <a:prstDash val="solid"/>
          </a:ln>
          <a:effectLst>
            <a:outerShdw blurRad="76200" dist="25400" dir="5400000" algn="bl" rotWithShape="0">
              <a:srgbClr val="000000">
                <a:alpha val="5000"/>
              </a:srgbClr>
            </a:outerShdw>
          </a:effectLst>
        </p:spPr>
      </p:sp>
      <p:sp>
        <p:nvSpPr>
          <p:cNvPr id="40" name="Shape 36"/>
          <p:cNvSpPr/>
          <p:nvPr/>
        </p:nvSpPr>
        <p:spPr>
          <a:xfrm>
            <a:off x="6355080" y="3931920"/>
            <a:ext cx="91440" cy="868680"/>
          </a:xfrm>
          <a:prstGeom prst="rect">
            <a:avLst/>
          </a:prstGeom>
          <a:solidFill>
            <a:srgbClr val="2DB55D"/>
          </a:solidFill>
          <a:ln w="12700">
            <a:solidFill>
              <a:srgbClr val="2DB55D"/>
            </a:solidFill>
            <a:prstDash val="solid"/>
          </a:ln>
        </p:spPr>
      </p:sp>
      <p:pic>
        <p:nvPicPr>
          <p:cNvPr id="41" name="Image 2" descr="preencoded.png"/>
          <p:cNvPicPr>
            <a:picLocks noChangeAspect="1"/>
          </p:cNvPicPr>
          <p:nvPr/>
        </p:nvPicPr>
        <p:blipFill>
          <a:blip r:embed="rId3"/>
          <a:stretch>
            <a:fillRect/>
          </a:stretch>
        </p:blipFill>
        <p:spPr>
          <a:xfrm>
            <a:off x="6583680" y="4178808"/>
            <a:ext cx="365760" cy="365760"/>
          </a:xfrm>
          <a:prstGeom prst="rect">
            <a:avLst/>
          </a:prstGeom>
        </p:spPr>
      </p:pic>
      <p:sp>
        <p:nvSpPr>
          <p:cNvPr id="42" name="Text 37"/>
          <p:cNvSpPr/>
          <p:nvPr/>
        </p:nvSpPr>
        <p:spPr>
          <a:xfrm>
            <a:off x="7086600" y="3931920"/>
            <a:ext cx="4572000" cy="868680"/>
          </a:xfrm>
          <a:prstGeom prst="rect">
            <a:avLst/>
          </a:prstGeom>
          <a:noFill/>
          <a:ln/>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File modifications detected</a:t>
            </a:r>
            <a:endParaRPr lang="en-US" sz="1300" dirty="0"/>
          </a:p>
        </p:txBody>
      </p:sp>
      <p:sp>
        <p:nvSpPr>
          <p:cNvPr id="43" name="Shape 38"/>
          <p:cNvSpPr/>
          <p:nvPr/>
        </p:nvSpPr>
        <p:spPr>
          <a:xfrm>
            <a:off x="6355080" y="4937760"/>
            <a:ext cx="5349240" cy="868680"/>
          </a:xfrm>
          <a:prstGeom prst="rect">
            <a:avLst/>
          </a:prstGeom>
          <a:solidFill>
            <a:srgbClr val="FFFFFF"/>
          </a:solidFill>
          <a:ln w="12700">
            <a:solidFill>
              <a:srgbClr val="D6DBE5"/>
            </a:solidFill>
            <a:prstDash val="solid"/>
          </a:ln>
          <a:effectLst>
            <a:outerShdw blurRad="76200" dist="25400" dir="5400000" algn="bl" rotWithShape="0">
              <a:srgbClr val="000000">
                <a:alpha val="5000"/>
              </a:srgbClr>
            </a:outerShdw>
          </a:effectLst>
        </p:spPr>
      </p:sp>
      <p:sp>
        <p:nvSpPr>
          <p:cNvPr id="44" name="Shape 39"/>
          <p:cNvSpPr/>
          <p:nvPr/>
        </p:nvSpPr>
        <p:spPr>
          <a:xfrm>
            <a:off x="6355080" y="4937760"/>
            <a:ext cx="91440" cy="868680"/>
          </a:xfrm>
          <a:prstGeom prst="rect">
            <a:avLst/>
          </a:prstGeom>
          <a:solidFill>
            <a:srgbClr val="2DB55D"/>
          </a:solidFill>
          <a:ln w="12700">
            <a:solidFill>
              <a:srgbClr val="2DB55D"/>
            </a:solidFill>
            <a:prstDash val="solid"/>
          </a:ln>
        </p:spPr>
      </p:sp>
      <p:pic>
        <p:nvPicPr>
          <p:cNvPr id="45" name="Image 3" descr="preencoded.png"/>
          <p:cNvPicPr>
            <a:picLocks noChangeAspect="1"/>
          </p:cNvPicPr>
          <p:nvPr/>
        </p:nvPicPr>
        <p:blipFill>
          <a:blip r:embed="rId3"/>
          <a:stretch>
            <a:fillRect/>
          </a:stretch>
        </p:blipFill>
        <p:spPr>
          <a:xfrm>
            <a:off x="6583680" y="5184648"/>
            <a:ext cx="365760" cy="365760"/>
          </a:xfrm>
          <a:prstGeom prst="rect">
            <a:avLst/>
          </a:prstGeom>
        </p:spPr>
      </p:pic>
      <p:sp>
        <p:nvSpPr>
          <p:cNvPr id="46" name="Text 40"/>
          <p:cNvSpPr/>
          <p:nvPr/>
        </p:nvSpPr>
        <p:spPr>
          <a:xfrm>
            <a:off x="7086600" y="4937760"/>
            <a:ext cx="4572000" cy="868680"/>
          </a:xfrm>
          <a:prstGeom prst="rect">
            <a:avLst/>
          </a:prstGeom>
          <a:noFill/>
          <a:ln/>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Security logs saved successfully</a:t>
            </a:r>
            <a:endParaRPr lang="en-US" sz="1300" dirty="0"/>
          </a:p>
        </p:txBody>
      </p:sp>
      <p:sp>
        <p:nvSpPr>
          <p:cNvPr id="47" name="Shape 41"/>
          <p:cNvSpPr/>
          <p:nvPr/>
        </p:nvSpPr>
        <p:spPr>
          <a:xfrm>
            <a:off x="0" y="6537960"/>
            <a:ext cx="12191695" cy="320040"/>
          </a:xfrm>
          <a:prstGeom prst="rect">
            <a:avLst/>
          </a:prstGeom>
          <a:solidFill>
            <a:srgbClr val="0F1E3D"/>
          </a:solidFill>
          <a:ln w="12700">
            <a:solidFill>
              <a:srgbClr val="0F1E3D"/>
            </a:solidFill>
            <a:prstDash val="solid"/>
          </a:ln>
        </p:spPr>
      </p:sp>
      <p:sp>
        <p:nvSpPr>
          <p:cNvPr id="48" name="Text 42"/>
          <p:cNvSpPr/>
          <p:nvPr/>
        </p:nvSpPr>
        <p:spPr>
          <a:xfrm>
            <a:off x="457200" y="6547104"/>
            <a:ext cx="7315200" cy="30175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Information Security Final Project  |  Farid &amp; Sami</a:t>
            </a:r>
            <a:endParaRPr lang="en-US" sz="900" dirty="0"/>
          </a:p>
        </p:txBody>
      </p:sp>
      <p:sp>
        <p:nvSpPr>
          <p:cNvPr id="49" name="Text 43"/>
          <p:cNvSpPr/>
          <p:nvPr/>
        </p:nvSpPr>
        <p:spPr>
          <a:xfrm>
            <a:off x="10820095" y="6547104"/>
            <a:ext cx="914400" cy="30175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640080"/>
          </a:xfrm>
          <a:prstGeom prst="rect">
            <a:avLst/>
          </a:prstGeom>
          <a:noFill/>
          <a:ln/>
        </p:spPr>
        <p:txBody>
          <a:bodyPr wrap="square" lIns="0" tIns="0" rIns="0" bIns="0" rtlCol="0" anchor="ctr"/>
          <a:lstStyle/>
          <a:p>
            <a:pPr marL="0" indent="0" algn="l">
              <a:buNone/>
            </a:pPr>
            <a:r>
              <a:rPr lang="en-US" sz="2800" b="1" dirty="0">
                <a:solidFill>
                  <a:srgbClr val="0F1E3D"/>
                </a:solidFill>
                <a:latin typeface="Calibri" pitchFamily="34" charset="0"/>
                <a:ea typeface="Calibri" pitchFamily="34" charset="-122"/>
                <a:cs typeface="Calibri" pitchFamily="34" charset="-120"/>
              </a:rPr>
              <a:t>Limitations &amp; Future Improvements</a:t>
            </a:r>
            <a:endParaRPr lang="en-US" sz="2800" dirty="0"/>
          </a:p>
        </p:txBody>
      </p:sp>
      <p:sp>
        <p:nvSpPr>
          <p:cNvPr id="3" name="Text 1"/>
          <p:cNvSpPr/>
          <p:nvPr/>
        </p:nvSpPr>
        <p:spPr>
          <a:xfrm>
            <a:off x="548640" y="868680"/>
            <a:ext cx="11094415" cy="320040"/>
          </a:xfrm>
          <a:prstGeom prst="rect">
            <a:avLst/>
          </a:prstGeom>
          <a:noFill/>
          <a:ln/>
        </p:spPr>
        <p:txBody>
          <a:bodyPr wrap="square" lIns="0" tIns="0" rIns="0" bIns="0" rtlCol="0" anchor="ctr"/>
          <a:lstStyle/>
          <a:p>
            <a:pPr marL="0" indent="0" algn="l">
              <a:buNone/>
            </a:pPr>
            <a:r>
              <a:rPr lang="en-US" sz="1300" i="1" dirty="0">
                <a:solidFill>
                  <a:srgbClr val="5B6B85"/>
                </a:solidFill>
                <a:latin typeface="Calibri" pitchFamily="34" charset="0"/>
                <a:ea typeface="Calibri" pitchFamily="34" charset="-122"/>
                <a:cs typeface="Calibri" pitchFamily="34" charset="-120"/>
              </a:rPr>
              <a:t>Honest reflection and next steps</a:t>
            </a:r>
            <a:endParaRPr lang="en-US" sz="1300" dirty="0"/>
          </a:p>
        </p:txBody>
      </p:sp>
      <p:sp>
        <p:nvSpPr>
          <p:cNvPr id="4" name="Shape 2"/>
          <p:cNvSpPr/>
          <p:nvPr/>
        </p:nvSpPr>
        <p:spPr>
          <a:xfrm>
            <a:off x="274320" y="457200"/>
            <a:ext cx="109728" cy="365760"/>
          </a:xfrm>
          <a:prstGeom prst="rect">
            <a:avLst/>
          </a:prstGeom>
          <a:solidFill>
            <a:srgbClr val="00A8E8"/>
          </a:solidFill>
          <a:ln w="12700">
            <a:solidFill>
              <a:srgbClr val="00A8E8"/>
            </a:solidFill>
            <a:prstDash val="solid"/>
          </a:ln>
        </p:spPr>
      </p:sp>
      <p:sp>
        <p:nvSpPr>
          <p:cNvPr id="5" name="Shape 3"/>
          <p:cNvSpPr/>
          <p:nvPr/>
        </p:nvSpPr>
        <p:spPr>
          <a:xfrm>
            <a:off x="548640" y="1417320"/>
            <a:ext cx="5440680" cy="4663440"/>
          </a:xfrm>
          <a:prstGeom prst="rect">
            <a:avLst/>
          </a:prstGeom>
          <a:solidFill>
            <a:srgbClr val="FFFFFF"/>
          </a:solidFill>
          <a:ln w="12700">
            <a:solidFill>
              <a:srgbClr val="D6DBE5"/>
            </a:solidFill>
            <a:prstDash val="solid"/>
          </a:ln>
          <a:effectLst>
            <a:outerShdw blurRad="127000" dist="38100" dir="5400000" algn="bl" rotWithShape="0">
              <a:srgbClr val="000000">
                <a:alpha val="8000"/>
              </a:srgbClr>
            </a:outerShdw>
          </a:effectLst>
        </p:spPr>
      </p:sp>
      <p:sp>
        <p:nvSpPr>
          <p:cNvPr id="6" name="Shape 4"/>
          <p:cNvSpPr/>
          <p:nvPr/>
        </p:nvSpPr>
        <p:spPr>
          <a:xfrm>
            <a:off x="548640" y="1417320"/>
            <a:ext cx="5440680" cy="731520"/>
          </a:xfrm>
          <a:prstGeom prst="rect">
            <a:avLst/>
          </a:prstGeom>
          <a:solidFill>
            <a:srgbClr val="2C3E5C"/>
          </a:solidFill>
          <a:ln w="12700">
            <a:solidFill>
              <a:srgbClr val="2C3E5C"/>
            </a:solidFill>
            <a:prstDash val="solid"/>
          </a:ln>
        </p:spPr>
      </p:sp>
      <p:pic>
        <p:nvPicPr>
          <p:cNvPr id="7" name="Image 0" descr="preencoded.png"/>
          <p:cNvPicPr>
            <a:picLocks noChangeAspect="1"/>
          </p:cNvPicPr>
          <p:nvPr/>
        </p:nvPicPr>
        <p:blipFill>
          <a:blip r:embed="rId3"/>
          <a:stretch>
            <a:fillRect/>
          </a:stretch>
        </p:blipFill>
        <p:spPr>
          <a:xfrm>
            <a:off x="777240" y="1600200"/>
            <a:ext cx="365760" cy="365760"/>
          </a:xfrm>
          <a:prstGeom prst="rect">
            <a:avLst/>
          </a:prstGeom>
        </p:spPr>
      </p:pic>
      <p:sp>
        <p:nvSpPr>
          <p:cNvPr id="8" name="Text 5"/>
          <p:cNvSpPr/>
          <p:nvPr/>
        </p:nvSpPr>
        <p:spPr>
          <a:xfrm>
            <a:off x="1280160" y="1417320"/>
            <a:ext cx="4114800" cy="731520"/>
          </a:xfrm>
          <a:prstGeom prst="rect">
            <a:avLst/>
          </a:prstGeom>
          <a:noFill/>
          <a:ln/>
        </p:spPr>
        <p:txBody>
          <a:bodyPr wrap="square" lIns="0" tIns="0" rIns="0" bIns="0"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Limitations</a:t>
            </a:r>
            <a:endParaRPr lang="en-US" sz="1800" dirty="0"/>
          </a:p>
        </p:txBody>
      </p:sp>
      <p:sp>
        <p:nvSpPr>
          <p:cNvPr id="9" name="Shape 6"/>
          <p:cNvSpPr/>
          <p:nvPr/>
        </p:nvSpPr>
        <p:spPr>
          <a:xfrm>
            <a:off x="868680" y="2606040"/>
            <a:ext cx="164592" cy="164592"/>
          </a:xfrm>
          <a:prstGeom prst="ellipse">
            <a:avLst/>
          </a:prstGeom>
          <a:solidFill>
            <a:srgbClr val="D64545"/>
          </a:solidFill>
          <a:ln w="12700">
            <a:solidFill>
              <a:srgbClr val="D64545"/>
            </a:solidFill>
            <a:prstDash val="solid"/>
          </a:ln>
        </p:spPr>
      </p:sp>
      <p:sp>
        <p:nvSpPr>
          <p:cNvPr id="10" name="Text 7"/>
          <p:cNvSpPr/>
          <p:nvPr/>
        </p:nvSpPr>
        <p:spPr>
          <a:xfrm>
            <a:off x="1188720" y="246888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This is a simple educational IDS</a:t>
            </a:r>
            <a:endParaRPr lang="en-US" sz="1300" dirty="0"/>
          </a:p>
        </p:txBody>
      </p:sp>
      <p:sp>
        <p:nvSpPr>
          <p:cNvPr id="11" name="Shape 8"/>
          <p:cNvSpPr/>
          <p:nvPr/>
        </p:nvSpPr>
        <p:spPr>
          <a:xfrm>
            <a:off x="868680" y="3383280"/>
            <a:ext cx="164592" cy="164592"/>
          </a:xfrm>
          <a:prstGeom prst="ellipse">
            <a:avLst/>
          </a:prstGeom>
          <a:solidFill>
            <a:srgbClr val="D64545"/>
          </a:solidFill>
          <a:ln w="12700">
            <a:solidFill>
              <a:srgbClr val="D64545"/>
            </a:solidFill>
            <a:prstDash val="solid"/>
          </a:ln>
        </p:spPr>
      </p:sp>
      <p:sp>
        <p:nvSpPr>
          <p:cNvPr id="12" name="Text 9"/>
          <p:cNvSpPr/>
          <p:nvPr/>
        </p:nvSpPr>
        <p:spPr>
          <a:xfrm>
            <a:off x="1188720" y="324612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It does not block attacks automatically</a:t>
            </a:r>
            <a:endParaRPr lang="en-US" sz="1300" dirty="0"/>
          </a:p>
        </p:txBody>
      </p:sp>
      <p:sp>
        <p:nvSpPr>
          <p:cNvPr id="13" name="Shape 10"/>
          <p:cNvSpPr/>
          <p:nvPr/>
        </p:nvSpPr>
        <p:spPr>
          <a:xfrm>
            <a:off x="868680" y="4160520"/>
            <a:ext cx="164592" cy="164592"/>
          </a:xfrm>
          <a:prstGeom prst="ellipse">
            <a:avLst/>
          </a:prstGeom>
          <a:solidFill>
            <a:srgbClr val="D64545"/>
          </a:solidFill>
          <a:ln w="12700">
            <a:solidFill>
              <a:srgbClr val="D64545"/>
            </a:solidFill>
            <a:prstDash val="solid"/>
          </a:ln>
        </p:spPr>
      </p:sp>
      <p:sp>
        <p:nvSpPr>
          <p:cNvPr id="14" name="Text 11"/>
          <p:cNvSpPr/>
          <p:nvPr/>
        </p:nvSpPr>
        <p:spPr>
          <a:xfrm>
            <a:off x="1188720" y="402336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It depends on available log files</a:t>
            </a:r>
            <a:endParaRPr lang="en-US" sz="1300" dirty="0"/>
          </a:p>
        </p:txBody>
      </p:sp>
      <p:sp>
        <p:nvSpPr>
          <p:cNvPr id="15" name="Shape 12"/>
          <p:cNvSpPr/>
          <p:nvPr/>
        </p:nvSpPr>
        <p:spPr>
          <a:xfrm>
            <a:off x="868680" y="4937760"/>
            <a:ext cx="164592" cy="164592"/>
          </a:xfrm>
          <a:prstGeom prst="ellipse">
            <a:avLst/>
          </a:prstGeom>
          <a:solidFill>
            <a:srgbClr val="D64545"/>
          </a:solidFill>
          <a:ln w="12700">
            <a:solidFill>
              <a:srgbClr val="D64545"/>
            </a:solidFill>
            <a:prstDash val="solid"/>
          </a:ln>
        </p:spPr>
      </p:sp>
      <p:sp>
        <p:nvSpPr>
          <p:cNvPr id="16" name="Text 13"/>
          <p:cNvSpPr/>
          <p:nvPr/>
        </p:nvSpPr>
        <p:spPr>
          <a:xfrm>
            <a:off x="1188720" y="4800600"/>
            <a:ext cx="4572000" cy="457200"/>
          </a:xfrm>
          <a:prstGeom prst="rect">
            <a:avLst/>
          </a:prstGeom>
          <a:noFill/>
          <a:ln/>
        </p:spPr>
        <p:txBody>
          <a:bodyPr wrap="square" lIns="0" tIns="0" rIns="0" bIns="0" rtlCol="0" anchor="ctr"/>
          <a:lstStyle/>
          <a:p>
            <a:pPr marL="0" indent="0" algn="l">
              <a:buNone/>
            </a:pPr>
            <a:r>
              <a:rPr lang="en-US" sz="1300" dirty="0">
                <a:solidFill>
                  <a:srgbClr val="1A2138"/>
                </a:solidFill>
                <a:latin typeface="Calibri" pitchFamily="34" charset="0"/>
                <a:ea typeface="Calibri" pitchFamily="34" charset="-122"/>
                <a:cs typeface="Calibri" pitchFamily="34" charset="-120"/>
              </a:rPr>
              <a:t>Process monitoring is basic</a:t>
            </a:r>
            <a:endParaRPr lang="en-US" sz="1300" dirty="0"/>
          </a:p>
        </p:txBody>
      </p:sp>
      <p:sp>
        <p:nvSpPr>
          <p:cNvPr id="17" name="Shape 14"/>
          <p:cNvSpPr/>
          <p:nvPr/>
        </p:nvSpPr>
        <p:spPr>
          <a:xfrm>
            <a:off x="6172200" y="1417320"/>
            <a:ext cx="5440680" cy="4663440"/>
          </a:xfrm>
          <a:prstGeom prst="rect">
            <a:avLst/>
          </a:prstGeom>
          <a:solidFill>
            <a:srgbClr val="FFFFFF"/>
          </a:solidFill>
          <a:ln w="12700">
            <a:solidFill>
              <a:srgbClr val="D6DBE5"/>
            </a:solidFill>
            <a:prstDash val="solid"/>
          </a:ln>
          <a:effectLst>
            <a:outerShdw blurRad="127000" dist="38100" dir="5400000" algn="bl" rotWithShape="0">
              <a:srgbClr val="000000">
                <a:alpha val="8000"/>
              </a:srgbClr>
            </a:outerShdw>
          </a:effectLst>
        </p:spPr>
      </p:sp>
      <p:sp>
        <p:nvSpPr>
          <p:cNvPr id="18" name="Shape 15"/>
          <p:cNvSpPr/>
          <p:nvPr/>
        </p:nvSpPr>
        <p:spPr>
          <a:xfrm>
            <a:off x="6172200" y="1417320"/>
            <a:ext cx="5440680" cy="731520"/>
          </a:xfrm>
          <a:prstGeom prst="rect">
            <a:avLst/>
          </a:prstGeom>
          <a:solidFill>
            <a:srgbClr val="1E2761"/>
          </a:solidFill>
          <a:ln w="12700">
            <a:solidFill>
              <a:srgbClr val="1E2761"/>
            </a:solidFill>
            <a:prstDash val="solid"/>
          </a:ln>
        </p:spPr>
      </p:sp>
      <p:pic>
        <p:nvPicPr>
          <p:cNvPr id="19" name="Image 1" descr="preencoded.png"/>
          <p:cNvPicPr>
            <a:picLocks noChangeAspect="1"/>
          </p:cNvPicPr>
          <p:nvPr/>
        </p:nvPicPr>
        <p:blipFill>
          <a:blip r:embed="rId4"/>
          <a:stretch>
            <a:fillRect/>
          </a:stretch>
        </p:blipFill>
        <p:spPr>
          <a:xfrm>
            <a:off x="6400800" y="1600200"/>
            <a:ext cx="365760" cy="365760"/>
          </a:xfrm>
          <a:prstGeom prst="rect">
            <a:avLst/>
          </a:prstGeom>
        </p:spPr>
      </p:pic>
      <p:sp>
        <p:nvSpPr>
          <p:cNvPr id="20" name="Text 16"/>
          <p:cNvSpPr/>
          <p:nvPr/>
        </p:nvSpPr>
        <p:spPr>
          <a:xfrm>
            <a:off x="6903720" y="1417320"/>
            <a:ext cx="4572000" cy="731520"/>
          </a:xfrm>
          <a:prstGeom prst="rect">
            <a:avLst/>
          </a:prstGeom>
          <a:noFill/>
          <a:ln/>
        </p:spPr>
        <p:txBody>
          <a:bodyPr wrap="square" lIns="0" tIns="0" rIns="0" bIns="0"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Future improvements</a:t>
            </a:r>
            <a:endParaRPr lang="en-US" sz="1800" dirty="0"/>
          </a:p>
        </p:txBody>
      </p:sp>
      <p:sp>
        <p:nvSpPr>
          <p:cNvPr id="21" name="Shape 17"/>
          <p:cNvSpPr/>
          <p:nvPr/>
        </p:nvSpPr>
        <p:spPr>
          <a:xfrm>
            <a:off x="6400800" y="2423160"/>
            <a:ext cx="411480" cy="411480"/>
          </a:xfrm>
          <a:prstGeom prst="ellipse">
            <a:avLst/>
          </a:prstGeom>
          <a:solidFill>
            <a:srgbClr val="00A8E8"/>
          </a:solidFill>
          <a:ln w="12700">
            <a:solidFill>
              <a:srgbClr val="00A8E8"/>
            </a:solidFill>
            <a:prstDash val="solid"/>
          </a:ln>
        </p:spPr>
      </p:sp>
      <p:pic>
        <p:nvPicPr>
          <p:cNvPr id="22" name="Image 2" descr="preencoded.png"/>
          <p:cNvPicPr>
            <a:picLocks noChangeAspect="1"/>
          </p:cNvPicPr>
          <p:nvPr/>
        </p:nvPicPr>
        <p:blipFill>
          <a:blip r:embed="rId5"/>
          <a:stretch>
            <a:fillRect/>
          </a:stretch>
        </p:blipFill>
        <p:spPr>
          <a:xfrm>
            <a:off x="6492240" y="2514600"/>
            <a:ext cx="228600" cy="228600"/>
          </a:xfrm>
          <a:prstGeom prst="rect">
            <a:avLst/>
          </a:prstGeom>
        </p:spPr>
      </p:pic>
      <p:sp>
        <p:nvSpPr>
          <p:cNvPr id="23" name="Text 18"/>
          <p:cNvSpPr/>
          <p:nvPr/>
        </p:nvSpPr>
        <p:spPr>
          <a:xfrm>
            <a:off x="6949440" y="2423160"/>
            <a:ext cx="4572000" cy="411480"/>
          </a:xfrm>
          <a:prstGeom prst="rect">
            <a:avLst/>
          </a:prstGeom>
          <a:noFill/>
          <a:ln/>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Real-time monitoring</a:t>
            </a:r>
            <a:endParaRPr lang="en-US" sz="1300" dirty="0"/>
          </a:p>
        </p:txBody>
      </p:sp>
      <p:sp>
        <p:nvSpPr>
          <p:cNvPr id="24" name="Shape 19"/>
          <p:cNvSpPr/>
          <p:nvPr/>
        </p:nvSpPr>
        <p:spPr>
          <a:xfrm>
            <a:off x="6400800" y="3136392"/>
            <a:ext cx="411480" cy="411480"/>
          </a:xfrm>
          <a:prstGeom prst="ellipse">
            <a:avLst/>
          </a:prstGeom>
          <a:solidFill>
            <a:srgbClr val="00A8E8"/>
          </a:solidFill>
          <a:ln w="12700">
            <a:solidFill>
              <a:srgbClr val="00A8E8"/>
            </a:solidFill>
            <a:prstDash val="solid"/>
          </a:ln>
        </p:spPr>
      </p:sp>
      <p:pic>
        <p:nvPicPr>
          <p:cNvPr id="25" name="Image 3" descr="preencoded.png"/>
          <p:cNvPicPr>
            <a:picLocks noChangeAspect="1"/>
          </p:cNvPicPr>
          <p:nvPr/>
        </p:nvPicPr>
        <p:blipFill>
          <a:blip r:embed="rId6"/>
          <a:stretch>
            <a:fillRect/>
          </a:stretch>
        </p:blipFill>
        <p:spPr>
          <a:xfrm>
            <a:off x="6492240" y="3227832"/>
            <a:ext cx="228600" cy="228600"/>
          </a:xfrm>
          <a:prstGeom prst="rect">
            <a:avLst/>
          </a:prstGeom>
        </p:spPr>
      </p:pic>
      <p:sp>
        <p:nvSpPr>
          <p:cNvPr id="26" name="Text 20"/>
          <p:cNvSpPr/>
          <p:nvPr/>
        </p:nvSpPr>
        <p:spPr>
          <a:xfrm>
            <a:off x="6949440" y="3136392"/>
            <a:ext cx="4572000" cy="411480"/>
          </a:xfrm>
          <a:prstGeom prst="rect">
            <a:avLst/>
          </a:prstGeom>
          <a:noFill/>
          <a:ln/>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Email alerts</a:t>
            </a:r>
            <a:endParaRPr lang="en-US" sz="1300" dirty="0"/>
          </a:p>
        </p:txBody>
      </p:sp>
      <p:sp>
        <p:nvSpPr>
          <p:cNvPr id="27" name="Shape 21"/>
          <p:cNvSpPr/>
          <p:nvPr/>
        </p:nvSpPr>
        <p:spPr>
          <a:xfrm>
            <a:off x="6400800" y="3849624"/>
            <a:ext cx="411480" cy="411480"/>
          </a:xfrm>
          <a:prstGeom prst="ellipse">
            <a:avLst/>
          </a:prstGeom>
          <a:solidFill>
            <a:srgbClr val="00A8E8"/>
          </a:solidFill>
          <a:ln w="12700">
            <a:solidFill>
              <a:srgbClr val="00A8E8"/>
            </a:solidFill>
            <a:prstDash val="solid"/>
          </a:ln>
        </p:spPr>
      </p:sp>
      <p:pic>
        <p:nvPicPr>
          <p:cNvPr id="28" name="Image 4" descr="preencoded.png"/>
          <p:cNvPicPr>
            <a:picLocks noChangeAspect="1"/>
          </p:cNvPicPr>
          <p:nvPr/>
        </p:nvPicPr>
        <p:blipFill>
          <a:blip r:embed="rId7"/>
          <a:stretch>
            <a:fillRect/>
          </a:stretch>
        </p:blipFill>
        <p:spPr>
          <a:xfrm>
            <a:off x="6492240" y="3941064"/>
            <a:ext cx="228600" cy="228600"/>
          </a:xfrm>
          <a:prstGeom prst="rect">
            <a:avLst/>
          </a:prstGeom>
        </p:spPr>
      </p:pic>
      <p:sp>
        <p:nvSpPr>
          <p:cNvPr id="29" name="Text 22"/>
          <p:cNvSpPr/>
          <p:nvPr/>
        </p:nvSpPr>
        <p:spPr>
          <a:xfrm>
            <a:off x="6949440" y="3849624"/>
            <a:ext cx="4572000" cy="411480"/>
          </a:xfrm>
          <a:prstGeom prst="rect">
            <a:avLst/>
          </a:prstGeom>
          <a:noFill/>
          <a:ln/>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GUI interface</a:t>
            </a:r>
            <a:endParaRPr lang="en-US" sz="1300" dirty="0"/>
          </a:p>
        </p:txBody>
      </p:sp>
      <p:sp>
        <p:nvSpPr>
          <p:cNvPr id="30" name="Shape 23"/>
          <p:cNvSpPr/>
          <p:nvPr/>
        </p:nvSpPr>
        <p:spPr>
          <a:xfrm>
            <a:off x="6400800" y="4562856"/>
            <a:ext cx="411480" cy="411480"/>
          </a:xfrm>
          <a:prstGeom prst="ellipse">
            <a:avLst/>
          </a:prstGeom>
          <a:solidFill>
            <a:srgbClr val="00A8E8"/>
          </a:solidFill>
          <a:ln w="12700">
            <a:solidFill>
              <a:srgbClr val="00A8E8"/>
            </a:solidFill>
            <a:prstDash val="solid"/>
          </a:ln>
        </p:spPr>
      </p:sp>
      <p:pic>
        <p:nvPicPr>
          <p:cNvPr id="31" name="Image 5" descr="preencoded.png"/>
          <p:cNvPicPr>
            <a:picLocks noChangeAspect="1"/>
          </p:cNvPicPr>
          <p:nvPr/>
        </p:nvPicPr>
        <p:blipFill>
          <a:blip r:embed="rId8"/>
          <a:stretch>
            <a:fillRect/>
          </a:stretch>
        </p:blipFill>
        <p:spPr>
          <a:xfrm>
            <a:off x="6492240" y="4654296"/>
            <a:ext cx="228600" cy="228600"/>
          </a:xfrm>
          <a:prstGeom prst="rect">
            <a:avLst/>
          </a:prstGeom>
        </p:spPr>
      </p:pic>
      <p:sp>
        <p:nvSpPr>
          <p:cNvPr id="32" name="Text 24"/>
          <p:cNvSpPr/>
          <p:nvPr/>
        </p:nvSpPr>
        <p:spPr>
          <a:xfrm>
            <a:off x="6949440" y="4562856"/>
            <a:ext cx="4572000" cy="411480"/>
          </a:xfrm>
          <a:prstGeom prst="rect">
            <a:avLst/>
          </a:prstGeom>
          <a:noFill/>
          <a:ln/>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Network traffic monitoring</a:t>
            </a:r>
            <a:endParaRPr lang="en-US" sz="1300" dirty="0"/>
          </a:p>
        </p:txBody>
      </p:sp>
      <p:sp>
        <p:nvSpPr>
          <p:cNvPr id="33" name="Shape 25"/>
          <p:cNvSpPr/>
          <p:nvPr/>
        </p:nvSpPr>
        <p:spPr>
          <a:xfrm>
            <a:off x="6400800" y="5276088"/>
            <a:ext cx="411480" cy="411480"/>
          </a:xfrm>
          <a:prstGeom prst="ellipse">
            <a:avLst/>
          </a:prstGeom>
          <a:solidFill>
            <a:srgbClr val="00A8E8"/>
          </a:solidFill>
          <a:ln w="12700">
            <a:solidFill>
              <a:srgbClr val="00A8E8"/>
            </a:solidFill>
            <a:prstDash val="solid"/>
          </a:ln>
        </p:spPr>
      </p:sp>
      <p:pic>
        <p:nvPicPr>
          <p:cNvPr id="34" name="Image 6" descr="preencoded.png"/>
          <p:cNvPicPr>
            <a:picLocks noChangeAspect="1"/>
          </p:cNvPicPr>
          <p:nvPr/>
        </p:nvPicPr>
        <p:blipFill>
          <a:blip r:embed="rId9"/>
          <a:stretch>
            <a:fillRect/>
          </a:stretch>
        </p:blipFill>
        <p:spPr>
          <a:xfrm>
            <a:off x="6492240" y="5367528"/>
            <a:ext cx="228600" cy="228600"/>
          </a:xfrm>
          <a:prstGeom prst="rect">
            <a:avLst/>
          </a:prstGeom>
        </p:spPr>
      </p:pic>
      <p:sp>
        <p:nvSpPr>
          <p:cNvPr id="35" name="Text 26"/>
          <p:cNvSpPr/>
          <p:nvPr/>
        </p:nvSpPr>
        <p:spPr>
          <a:xfrm>
            <a:off x="6949440" y="5276088"/>
            <a:ext cx="4572000" cy="411480"/>
          </a:xfrm>
          <a:prstGeom prst="rect">
            <a:avLst/>
          </a:prstGeom>
          <a:noFill/>
          <a:ln/>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Automatic response actions</a:t>
            </a:r>
            <a:endParaRPr lang="en-US" sz="1300" dirty="0"/>
          </a:p>
        </p:txBody>
      </p:sp>
      <p:sp>
        <p:nvSpPr>
          <p:cNvPr id="36" name="Shape 27"/>
          <p:cNvSpPr/>
          <p:nvPr/>
        </p:nvSpPr>
        <p:spPr>
          <a:xfrm>
            <a:off x="0" y="6537960"/>
            <a:ext cx="12191695" cy="320040"/>
          </a:xfrm>
          <a:prstGeom prst="rect">
            <a:avLst/>
          </a:prstGeom>
          <a:solidFill>
            <a:srgbClr val="0F1E3D"/>
          </a:solidFill>
          <a:ln w="12700">
            <a:solidFill>
              <a:srgbClr val="0F1E3D"/>
            </a:solidFill>
            <a:prstDash val="solid"/>
          </a:ln>
        </p:spPr>
      </p:sp>
      <p:sp>
        <p:nvSpPr>
          <p:cNvPr id="37" name="Text 28"/>
          <p:cNvSpPr/>
          <p:nvPr/>
        </p:nvSpPr>
        <p:spPr>
          <a:xfrm>
            <a:off x="457200" y="6547104"/>
            <a:ext cx="7315200" cy="30175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Information Security Final Project  |  Farid &amp; Sami</a:t>
            </a:r>
            <a:endParaRPr lang="en-US" sz="900" dirty="0"/>
          </a:p>
        </p:txBody>
      </p:sp>
      <p:sp>
        <p:nvSpPr>
          <p:cNvPr id="38" name="Text 29"/>
          <p:cNvSpPr/>
          <p:nvPr/>
        </p:nvSpPr>
        <p:spPr>
          <a:xfrm>
            <a:off x="10820095" y="6547104"/>
            <a:ext cx="914400" cy="30175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E3D"/>
        </a:solidFill>
        <a:effectLst/>
      </p:bgPr>
    </p:bg>
    <p:spTree>
      <p:nvGrpSpPr>
        <p:cNvPr id="1" name=""/>
        <p:cNvGrpSpPr/>
        <p:nvPr/>
      </p:nvGrpSpPr>
      <p:grpSpPr>
        <a:xfrm>
          <a:off x="0" y="0"/>
          <a:ext cx="0" cy="0"/>
          <a:chOff x="0" y="0"/>
          <a:chExt cx="0" cy="0"/>
        </a:xfrm>
      </p:grpSpPr>
      <p:sp>
        <p:nvSpPr>
          <p:cNvPr id="2" name="Shape 0"/>
          <p:cNvSpPr/>
          <p:nvPr/>
        </p:nvSpPr>
        <p:spPr>
          <a:xfrm>
            <a:off x="182880" y="182880"/>
            <a:ext cx="36576" cy="36576"/>
          </a:xfrm>
          <a:prstGeom prst="ellipse">
            <a:avLst/>
          </a:prstGeom>
          <a:solidFill>
            <a:srgbClr val="00A8E8">
              <a:alpha val="30000"/>
            </a:srgbClr>
          </a:solidFill>
          <a:ln w="12700">
            <a:solidFill>
              <a:srgbClr val="00A8E8">
                <a:alpha val="30000"/>
              </a:srgbClr>
            </a:solidFill>
            <a:prstDash val="solid"/>
          </a:ln>
        </p:spPr>
      </p:sp>
      <p:sp>
        <p:nvSpPr>
          <p:cNvPr id="3" name="Shape 1"/>
          <p:cNvSpPr/>
          <p:nvPr/>
        </p:nvSpPr>
        <p:spPr>
          <a:xfrm>
            <a:off x="1371600" y="182880"/>
            <a:ext cx="36576" cy="36576"/>
          </a:xfrm>
          <a:prstGeom prst="ellipse">
            <a:avLst/>
          </a:prstGeom>
          <a:solidFill>
            <a:srgbClr val="00A8E8">
              <a:alpha val="30000"/>
            </a:srgbClr>
          </a:solidFill>
          <a:ln w="12700">
            <a:solidFill>
              <a:srgbClr val="00A8E8">
                <a:alpha val="30000"/>
              </a:srgbClr>
            </a:solidFill>
            <a:prstDash val="solid"/>
          </a:ln>
        </p:spPr>
      </p:sp>
      <p:sp>
        <p:nvSpPr>
          <p:cNvPr id="4" name="Shape 2"/>
          <p:cNvSpPr/>
          <p:nvPr/>
        </p:nvSpPr>
        <p:spPr>
          <a:xfrm>
            <a:off x="2560320" y="182880"/>
            <a:ext cx="36576" cy="36576"/>
          </a:xfrm>
          <a:prstGeom prst="ellipse">
            <a:avLst/>
          </a:prstGeom>
          <a:solidFill>
            <a:srgbClr val="00A8E8">
              <a:alpha val="30000"/>
            </a:srgbClr>
          </a:solidFill>
          <a:ln w="12700">
            <a:solidFill>
              <a:srgbClr val="00A8E8">
                <a:alpha val="30000"/>
              </a:srgbClr>
            </a:solidFill>
            <a:prstDash val="solid"/>
          </a:ln>
        </p:spPr>
      </p:sp>
      <p:sp>
        <p:nvSpPr>
          <p:cNvPr id="5" name="Shape 3"/>
          <p:cNvSpPr/>
          <p:nvPr/>
        </p:nvSpPr>
        <p:spPr>
          <a:xfrm>
            <a:off x="3749040" y="182880"/>
            <a:ext cx="36576" cy="36576"/>
          </a:xfrm>
          <a:prstGeom prst="ellipse">
            <a:avLst/>
          </a:prstGeom>
          <a:solidFill>
            <a:srgbClr val="00A8E8">
              <a:alpha val="30000"/>
            </a:srgbClr>
          </a:solidFill>
          <a:ln w="12700">
            <a:solidFill>
              <a:srgbClr val="00A8E8">
                <a:alpha val="30000"/>
              </a:srgbClr>
            </a:solidFill>
            <a:prstDash val="solid"/>
          </a:ln>
        </p:spPr>
      </p:sp>
      <p:sp>
        <p:nvSpPr>
          <p:cNvPr id="6" name="Shape 4"/>
          <p:cNvSpPr/>
          <p:nvPr/>
        </p:nvSpPr>
        <p:spPr>
          <a:xfrm>
            <a:off x="4937760" y="182880"/>
            <a:ext cx="36576" cy="36576"/>
          </a:xfrm>
          <a:prstGeom prst="ellipse">
            <a:avLst/>
          </a:prstGeom>
          <a:solidFill>
            <a:srgbClr val="00A8E8">
              <a:alpha val="30000"/>
            </a:srgbClr>
          </a:solidFill>
          <a:ln w="12700">
            <a:solidFill>
              <a:srgbClr val="00A8E8">
                <a:alpha val="30000"/>
              </a:srgbClr>
            </a:solidFill>
            <a:prstDash val="solid"/>
          </a:ln>
        </p:spPr>
      </p:sp>
      <p:sp>
        <p:nvSpPr>
          <p:cNvPr id="7" name="Shape 5"/>
          <p:cNvSpPr/>
          <p:nvPr/>
        </p:nvSpPr>
        <p:spPr>
          <a:xfrm>
            <a:off x="6126480" y="182880"/>
            <a:ext cx="36576" cy="36576"/>
          </a:xfrm>
          <a:prstGeom prst="ellipse">
            <a:avLst/>
          </a:prstGeom>
          <a:solidFill>
            <a:srgbClr val="00A8E8">
              <a:alpha val="30000"/>
            </a:srgbClr>
          </a:solidFill>
          <a:ln w="12700">
            <a:solidFill>
              <a:srgbClr val="00A8E8">
                <a:alpha val="30000"/>
              </a:srgbClr>
            </a:solidFill>
            <a:prstDash val="solid"/>
          </a:ln>
        </p:spPr>
      </p:sp>
      <p:sp>
        <p:nvSpPr>
          <p:cNvPr id="8" name="Shape 6"/>
          <p:cNvSpPr/>
          <p:nvPr/>
        </p:nvSpPr>
        <p:spPr>
          <a:xfrm>
            <a:off x="7315200" y="182880"/>
            <a:ext cx="36576" cy="36576"/>
          </a:xfrm>
          <a:prstGeom prst="ellipse">
            <a:avLst/>
          </a:prstGeom>
          <a:solidFill>
            <a:srgbClr val="00A8E8">
              <a:alpha val="30000"/>
            </a:srgbClr>
          </a:solidFill>
          <a:ln w="12700">
            <a:solidFill>
              <a:srgbClr val="00A8E8">
                <a:alpha val="30000"/>
              </a:srgbClr>
            </a:solidFill>
            <a:prstDash val="solid"/>
          </a:ln>
        </p:spPr>
      </p:sp>
      <p:sp>
        <p:nvSpPr>
          <p:cNvPr id="9" name="Shape 7"/>
          <p:cNvSpPr/>
          <p:nvPr/>
        </p:nvSpPr>
        <p:spPr>
          <a:xfrm>
            <a:off x="8503920" y="182880"/>
            <a:ext cx="36576" cy="36576"/>
          </a:xfrm>
          <a:prstGeom prst="ellipse">
            <a:avLst/>
          </a:prstGeom>
          <a:solidFill>
            <a:srgbClr val="00A8E8">
              <a:alpha val="30000"/>
            </a:srgbClr>
          </a:solidFill>
          <a:ln w="12700">
            <a:solidFill>
              <a:srgbClr val="00A8E8">
                <a:alpha val="30000"/>
              </a:srgbClr>
            </a:solidFill>
            <a:prstDash val="solid"/>
          </a:ln>
        </p:spPr>
      </p:sp>
      <p:sp>
        <p:nvSpPr>
          <p:cNvPr id="10" name="Shape 8"/>
          <p:cNvSpPr/>
          <p:nvPr/>
        </p:nvSpPr>
        <p:spPr>
          <a:xfrm>
            <a:off x="9692640" y="182880"/>
            <a:ext cx="36576" cy="36576"/>
          </a:xfrm>
          <a:prstGeom prst="ellipse">
            <a:avLst/>
          </a:prstGeom>
          <a:solidFill>
            <a:srgbClr val="00A8E8">
              <a:alpha val="30000"/>
            </a:srgbClr>
          </a:solidFill>
          <a:ln w="12700">
            <a:solidFill>
              <a:srgbClr val="00A8E8">
                <a:alpha val="30000"/>
              </a:srgbClr>
            </a:solidFill>
            <a:prstDash val="solid"/>
          </a:ln>
        </p:spPr>
      </p:sp>
      <p:sp>
        <p:nvSpPr>
          <p:cNvPr id="11" name="Shape 9"/>
          <p:cNvSpPr/>
          <p:nvPr/>
        </p:nvSpPr>
        <p:spPr>
          <a:xfrm>
            <a:off x="10881360" y="182880"/>
            <a:ext cx="36576" cy="36576"/>
          </a:xfrm>
          <a:prstGeom prst="ellipse">
            <a:avLst/>
          </a:prstGeom>
          <a:solidFill>
            <a:srgbClr val="00A8E8">
              <a:alpha val="30000"/>
            </a:srgbClr>
          </a:solidFill>
          <a:ln w="12700">
            <a:solidFill>
              <a:srgbClr val="00A8E8">
                <a:alpha val="30000"/>
              </a:srgbClr>
            </a:solidFill>
            <a:prstDash val="solid"/>
          </a:ln>
        </p:spPr>
      </p:sp>
      <p:sp>
        <p:nvSpPr>
          <p:cNvPr id="12" name="Shape 10"/>
          <p:cNvSpPr/>
          <p:nvPr/>
        </p:nvSpPr>
        <p:spPr>
          <a:xfrm>
            <a:off x="182880" y="548640"/>
            <a:ext cx="36576" cy="36576"/>
          </a:xfrm>
          <a:prstGeom prst="ellipse">
            <a:avLst/>
          </a:prstGeom>
          <a:solidFill>
            <a:srgbClr val="00A8E8">
              <a:alpha val="30000"/>
            </a:srgbClr>
          </a:solidFill>
          <a:ln w="12700">
            <a:solidFill>
              <a:srgbClr val="00A8E8">
                <a:alpha val="30000"/>
              </a:srgbClr>
            </a:solidFill>
            <a:prstDash val="solid"/>
          </a:ln>
        </p:spPr>
      </p:sp>
      <p:sp>
        <p:nvSpPr>
          <p:cNvPr id="13" name="Shape 11"/>
          <p:cNvSpPr/>
          <p:nvPr/>
        </p:nvSpPr>
        <p:spPr>
          <a:xfrm>
            <a:off x="1371600" y="548640"/>
            <a:ext cx="36576" cy="36576"/>
          </a:xfrm>
          <a:prstGeom prst="ellipse">
            <a:avLst/>
          </a:prstGeom>
          <a:solidFill>
            <a:srgbClr val="00A8E8">
              <a:alpha val="30000"/>
            </a:srgbClr>
          </a:solidFill>
          <a:ln w="12700">
            <a:solidFill>
              <a:srgbClr val="00A8E8">
                <a:alpha val="30000"/>
              </a:srgbClr>
            </a:solidFill>
            <a:prstDash val="solid"/>
          </a:ln>
        </p:spPr>
      </p:sp>
      <p:sp>
        <p:nvSpPr>
          <p:cNvPr id="14" name="Shape 12"/>
          <p:cNvSpPr/>
          <p:nvPr/>
        </p:nvSpPr>
        <p:spPr>
          <a:xfrm>
            <a:off x="2560320" y="548640"/>
            <a:ext cx="36576" cy="36576"/>
          </a:xfrm>
          <a:prstGeom prst="ellipse">
            <a:avLst/>
          </a:prstGeom>
          <a:solidFill>
            <a:srgbClr val="00A8E8">
              <a:alpha val="30000"/>
            </a:srgbClr>
          </a:solidFill>
          <a:ln w="12700">
            <a:solidFill>
              <a:srgbClr val="00A8E8">
                <a:alpha val="30000"/>
              </a:srgbClr>
            </a:solidFill>
            <a:prstDash val="solid"/>
          </a:ln>
        </p:spPr>
      </p:sp>
      <p:sp>
        <p:nvSpPr>
          <p:cNvPr id="15" name="Shape 13"/>
          <p:cNvSpPr/>
          <p:nvPr/>
        </p:nvSpPr>
        <p:spPr>
          <a:xfrm>
            <a:off x="3749040" y="548640"/>
            <a:ext cx="36576" cy="36576"/>
          </a:xfrm>
          <a:prstGeom prst="ellipse">
            <a:avLst/>
          </a:prstGeom>
          <a:solidFill>
            <a:srgbClr val="00A8E8">
              <a:alpha val="30000"/>
            </a:srgbClr>
          </a:solidFill>
          <a:ln w="12700">
            <a:solidFill>
              <a:srgbClr val="00A8E8">
                <a:alpha val="30000"/>
              </a:srgbClr>
            </a:solidFill>
            <a:prstDash val="solid"/>
          </a:ln>
        </p:spPr>
      </p:sp>
      <p:sp>
        <p:nvSpPr>
          <p:cNvPr id="16" name="Shape 14"/>
          <p:cNvSpPr/>
          <p:nvPr/>
        </p:nvSpPr>
        <p:spPr>
          <a:xfrm>
            <a:off x="4937760" y="548640"/>
            <a:ext cx="36576" cy="36576"/>
          </a:xfrm>
          <a:prstGeom prst="ellipse">
            <a:avLst/>
          </a:prstGeom>
          <a:solidFill>
            <a:srgbClr val="00A8E8">
              <a:alpha val="30000"/>
            </a:srgbClr>
          </a:solidFill>
          <a:ln w="12700">
            <a:solidFill>
              <a:srgbClr val="00A8E8">
                <a:alpha val="30000"/>
              </a:srgbClr>
            </a:solidFill>
            <a:prstDash val="solid"/>
          </a:ln>
        </p:spPr>
      </p:sp>
      <p:sp>
        <p:nvSpPr>
          <p:cNvPr id="17" name="Shape 15"/>
          <p:cNvSpPr/>
          <p:nvPr/>
        </p:nvSpPr>
        <p:spPr>
          <a:xfrm>
            <a:off x="6126480" y="548640"/>
            <a:ext cx="36576" cy="36576"/>
          </a:xfrm>
          <a:prstGeom prst="ellipse">
            <a:avLst/>
          </a:prstGeom>
          <a:solidFill>
            <a:srgbClr val="00A8E8">
              <a:alpha val="30000"/>
            </a:srgbClr>
          </a:solidFill>
          <a:ln w="12700">
            <a:solidFill>
              <a:srgbClr val="00A8E8">
                <a:alpha val="30000"/>
              </a:srgbClr>
            </a:solidFill>
            <a:prstDash val="solid"/>
          </a:ln>
        </p:spPr>
      </p:sp>
      <p:sp>
        <p:nvSpPr>
          <p:cNvPr id="18" name="Shape 16"/>
          <p:cNvSpPr/>
          <p:nvPr/>
        </p:nvSpPr>
        <p:spPr>
          <a:xfrm>
            <a:off x="7315200" y="548640"/>
            <a:ext cx="36576" cy="36576"/>
          </a:xfrm>
          <a:prstGeom prst="ellipse">
            <a:avLst/>
          </a:prstGeom>
          <a:solidFill>
            <a:srgbClr val="00A8E8">
              <a:alpha val="30000"/>
            </a:srgbClr>
          </a:solidFill>
          <a:ln w="12700">
            <a:solidFill>
              <a:srgbClr val="00A8E8">
                <a:alpha val="30000"/>
              </a:srgbClr>
            </a:solidFill>
            <a:prstDash val="solid"/>
          </a:ln>
        </p:spPr>
      </p:sp>
      <p:sp>
        <p:nvSpPr>
          <p:cNvPr id="19" name="Shape 17"/>
          <p:cNvSpPr/>
          <p:nvPr/>
        </p:nvSpPr>
        <p:spPr>
          <a:xfrm>
            <a:off x="8503920" y="548640"/>
            <a:ext cx="36576" cy="36576"/>
          </a:xfrm>
          <a:prstGeom prst="ellipse">
            <a:avLst/>
          </a:prstGeom>
          <a:solidFill>
            <a:srgbClr val="00A8E8">
              <a:alpha val="30000"/>
            </a:srgbClr>
          </a:solidFill>
          <a:ln w="12700">
            <a:solidFill>
              <a:srgbClr val="00A8E8">
                <a:alpha val="30000"/>
              </a:srgbClr>
            </a:solidFill>
            <a:prstDash val="solid"/>
          </a:ln>
        </p:spPr>
      </p:sp>
      <p:sp>
        <p:nvSpPr>
          <p:cNvPr id="20" name="Shape 18"/>
          <p:cNvSpPr/>
          <p:nvPr/>
        </p:nvSpPr>
        <p:spPr>
          <a:xfrm>
            <a:off x="9692640" y="548640"/>
            <a:ext cx="36576" cy="36576"/>
          </a:xfrm>
          <a:prstGeom prst="ellipse">
            <a:avLst/>
          </a:prstGeom>
          <a:solidFill>
            <a:srgbClr val="00A8E8">
              <a:alpha val="30000"/>
            </a:srgbClr>
          </a:solidFill>
          <a:ln w="12700">
            <a:solidFill>
              <a:srgbClr val="00A8E8">
                <a:alpha val="30000"/>
              </a:srgbClr>
            </a:solidFill>
            <a:prstDash val="solid"/>
          </a:ln>
        </p:spPr>
      </p:sp>
      <p:sp>
        <p:nvSpPr>
          <p:cNvPr id="21" name="Shape 19"/>
          <p:cNvSpPr/>
          <p:nvPr/>
        </p:nvSpPr>
        <p:spPr>
          <a:xfrm>
            <a:off x="10881360" y="548640"/>
            <a:ext cx="36576" cy="36576"/>
          </a:xfrm>
          <a:prstGeom prst="ellipse">
            <a:avLst/>
          </a:prstGeom>
          <a:solidFill>
            <a:srgbClr val="00A8E8">
              <a:alpha val="30000"/>
            </a:srgbClr>
          </a:solidFill>
          <a:ln w="12700">
            <a:solidFill>
              <a:srgbClr val="00A8E8">
                <a:alpha val="30000"/>
              </a:srgbClr>
            </a:solidFill>
            <a:prstDash val="solid"/>
          </a:ln>
        </p:spPr>
      </p:sp>
      <p:sp>
        <p:nvSpPr>
          <p:cNvPr id="22" name="Shape 20"/>
          <p:cNvSpPr/>
          <p:nvPr/>
        </p:nvSpPr>
        <p:spPr>
          <a:xfrm>
            <a:off x="182880" y="914400"/>
            <a:ext cx="36576" cy="36576"/>
          </a:xfrm>
          <a:prstGeom prst="ellipse">
            <a:avLst/>
          </a:prstGeom>
          <a:solidFill>
            <a:srgbClr val="00A8E8">
              <a:alpha val="30000"/>
            </a:srgbClr>
          </a:solidFill>
          <a:ln w="12700">
            <a:solidFill>
              <a:srgbClr val="00A8E8">
                <a:alpha val="30000"/>
              </a:srgbClr>
            </a:solidFill>
            <a:prstDash val="solid"/>
          </a:ln>
        </p:spPr>
      </p:sp>
      <p:sp>
        <p:nvSpPr>
          <p:cNvPr id="23" name="Shape 21"/>
          <p:cNvSpPr/>
          <p:nvPr/>
        </p:nvSpPr>
        <p:spPr>
          <a:xfrm>
            <a:off x="1371600" y="914400"/>
            <a:ext cx="36576" cy="36576"/>
          </a:xfrm>
          <a:prstGeom prst="ellipse">
            <a:avLst/>
          </a:prstGeom>
          <a:solidFill>
            <a:srgbClr val="00A8E8">
              <a:alpha val="30000"/>
            </a:srgbClr>
          </a:solidFill>
          <a:ln w="12700">
            <a:solidFill>
              <a:srgbClr val="00A8E8">
                <a:alpha val="30000"/>
              </a:srgbClr>
            </a:solidFill>
            <a:prstDash val="solid"/>
          </a:ln>
        </p:spPr>
      </p:sp>
      <p:sp>
        <p:nvSpPr>
          <p:cNvPr id="24" name="Shape 22"/>
          <p:cNvSpPr/>
          <p:nvPr/>
        </p:nvSpPr>
        <p:spPr>
          <a:xfrm>
            <a:off x="2560320" y="914400"/>
            <a:ext cx="36576" cy="36576"/>
          </a:xfrm>
          <a:prstGeom prst="ellipse">
            <a:avLst/>
          </a:prstGeom>
          <a:solidFill>
            <a:srgbClr val="00A8E8">
              <a:alpha val="30000"/>
            </a:srgbClr>
          </a:solidFill>
          <a:ln w="12700">
            <a:solidFill>
              <a:srgbClr val="00A8E8">
                <a:alpha val="30000"/>
              </a:srgbClr>
            </a:solidFill>
            <a:prstDash val="solid"/>
          </a:ln>
        </p:spPr>
      </p:sp>
      <p:sp>
        <p:nvSpPr>
          <p:cNvPr id="25" name="Shape 23"/>
          <p:cNvSpPr/>
          <p:nvPr/>
        </p:nvSpPr>
        <p:spPr>
          <a:xfrm>
            <a:off x="3749040" y="914400"/>
            <a:ext cx="36576" cy="36576"/>
          </a:xfrm>
          <a:prstGeom prst="ellipse">
            <a:avLst/>
          </a:prstGeom>
          <a:solidFill>
            <a:srgbClr val="00A8E8">
              <a:alpha val="30000"/>
            </a:srgbClr>
          </a:solidFill>
          <a:ln w="12700">
            <a:solidFill>
              <a:srgbClr val="00A8E8">
                <a:alpha val="30000"/>
              </a:srgbClr>
            </a:solidFill>
            <a:prstDash val="solid"/>
          </a:ln>
        </p:spPr>
      </p:sp>
      <p:sp>
        <p:nvSpPr>
          <p:cNvPr id="26" name="Shape 24"/>
          <p:cNvSpPr/>
          <p:nvPr/>
        </p:nvSpPr>
        <p:spPr>
          <a:xfrm>
            <a:off x="4937760" y="914400"/>
            <a:ext cx="36576" cy="36576"/>
          </a:xfrm>
          <a:prstGeom prst="ellipse">
            <a:avLst/>
          </a:prstGeom>
          <a:solidFill>
            <a:srgbClr val="00A8E8">
              <a:alpha val="30000"/>
            </a:srgbClr>
          </a:solidFill>
          <a:ln w="12700">
            <a:solidFill>
              <a:srgbClr val="00A8E8">
                <a:alpha val="30000"/>
              </a:srgbClr>
            </a:solidFill>
            <a:prstDash val="solid"/>
          </a:ln>
        </p:spPr>
      </p:sp>
      <p:sp>
        <p:nvSpPr>
          <p:cNvPr id="27" name="Shape 25"/>
          <p:cNvSpPr/>
          <p:nvPr/>
        </p:nvSpPr>
        <p:spPr>
          <a:xfrm>
            <a:off x="6126480" y="914400"/>
            <a:ext cx="36576" cy="36576"/>
          </a:xfrm>
          <a:prstGeom prst="ellipse">
            <a:avLst/>
          </a:prstGeom>
          <a:solidFill>
            <a:srgbClr val="00A8E8">
              <a:alpha val="30000"/>
            </a:srgbClr>
          </a:solidFill>
          <a:ln w="12700">
            <a:solidFill>
              <a:srgbClr val="00A8E8">
                <a:alpha val="30000"/>
              </a:srgbClr>
            </a:solidFill>
            <a:prstDash val="solid"/>
          </a:ln>
        </p:spPr>
      </p:sp>
      <p:sp>
        <p:nvSpPr>
          <p:cNvPr id="28" name="Shape 26"/>
          <p:cNvSpPr/>
          <p:nvPr/>
        </p:nvSpPr>
        <p:spPr>
          <a:xfrm>
            <a:off x="7315200" y="914400"/>
            <a:ext cx="36576" cy="36576"/>
          </a:xfrm>
          <a:prstGeom prst="ellipse">
            <a:avLst/>
          </a:prstGeom>
          <a:solidFill>
            <a:srgbClr val="00A8E8">
              <a:alpha val="30000"/>
            </a:srgbClr>
          </a:solidFill>
          <a:ln w="12700">
            <a:solidFill>
              <a:srgbClr val="00A8E8">
                <a:alpha val="30000"/>
              </a:srgbClr>
            </a:solidFill>
            <a:prstDash val="solid"/>
          </a:ln>
        </p:spPr>
      </p:sp>
      <p:sp>
        <p:nvSpPr>
          <p:cNvPr id="29" name="Shape 27"/>
          <p:cNvSpPr/>
          <p:nvPr/>
        </p:nvSpPr>
        <p:spPr>
          <a:xfrm>
            <a:off x="8503920" y="914400"/>
            <a:ext cx="36576" cy="36576"/>
          </a:xfrm>
          <a:prstGeom prst="ellipse">
            <a:avLst/>
          </a:prstGeom>
          <a:solidFill>
            <a:srgbClr val="00A8E8">
              <a:alpha val="30000"/>
            </a:srgbClr>
          </a:solidFill>
          <a:ln w="12700">
            <a:solidFill>
              <a:srgbClr val="00A8E8">
                <a:alpha val="30000"/>
              </a:srgbClr>
            </a:solidFill>
            <a:prstDash val="solid"/>
          </a:ln>
        </p:spPr>
      </p:sp>
      <p:sp>
        <p:nvSpPr>
          <p:cNvPr id="30" name="Shape 28"/>
          <p:cNvSpPr/>
          <p:nvPr/>
        </p:nvSpPr>
        <p:spPr>
          <a:xfrm>
            <a:off x="9692640" y="914400"/>
            <a:ext cx="36576" cy="36576"/>
          </a:xfrm>
          <a:prstGeom prst="ellipse">
            <a:avLst/>
          </a:prstGeom>
          <a:solidFill>
            <a:srgbClr val="00A8E8">
              <a:alpha val="30000"/>
            </a:srgbClr>
          </a:solidFill>
          <a:ln w="12700">
            <a:solidFill>
              <a:srgbClr val="00A8E8">
                <a:alpha val="30000"/>
              </a:srgbClr>
            </a:solidFill>
            <a:prstDash val="solid"/>
          </a:ln>
        </p:spPr>
      </p:sp>
      <p:sp>
        <p:nvSpPr>
          <p:cNvPr id="31" name="Shape 29"/>
          <p:cNvSpPr/>
          <p:nvPr/>
        </p:nvSpPr>
        <p:spPr>
          <a:xfrm>
            <a:off x="10881360" y="914400"/>
            <a:ext cx="36576" cy="36576"/>
          </a:xfrm>
          <a:prstGeom prst="ellipse">
            <a:avLst/>
          </a:prstGeom>
          <a:solidFill>
            <a:srgbClr val="00A8E8">
              <a:alpha val="30000"/>
            </a:srgbClr>
          </a:solidFill>
          <a:ln w="12700">
            <a:solidFill>
              <a:srgbClr val="00A8E8">
                <a:alpha val="30000"/>
              </a:srgbClr>
            </a:solidFill>
            <a:prstDash val="solid"/>
          </a:ln>
        </p:spPr>
      </p:sp>
      <p:sp>
        <p:nvSpPr>
          <p:cNvPr id="32" name="Shape 30"/>
          <p:cNvSpPr/>
          <p:nvPr/>
        </p:nvSpPr>
        <p:spPr>
          <a:xfrm>
            <a:off x="548640" y="1280160"/>
            <a:ext cx="109728" cy="457200"/>
          </a:xfrm>
          <a:prstGeom prst="rect">
            <a:avLst/>
          </a:prstGeom>
          <a:solidFill>
            <a:srgbClr val="00A8E8"/>
          </a:solidFill>
          <a:ln w="12700">
            <a:solidFill>
              <a:srgbClr val="00A8E8"/>
            </a:solidFill>
            <a:prstDash val="solid"/>
          </a:ln>
        </p:spPr>
      </p:sp>
      <p:sp>
        <p:nvSpPr>
          <p:cNvPr id="33" name="Text 31"/>
          <p:cNvSpPr/>
          <p:nvPr/>
        </p:nvSpPr>
        <p:spPr>
          <a:xfrm>
            <a:off x="777240" y="1188720"/>
            <a:ext cx="10972800" cy="640080"/>
          </a:xfrm>
          <a:prstGeom prst="rect">
            <a:avLst/>
          </a:prstGeom>
          <a:noFill/>
          <a:ln/>
        </p:spPr>
        <p:txBody>
          <a:bodyPr wrap="square" lIns="0" tIns="0" rIns="0" bIns="0"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34" name="Text 32"/>
          <p:cNvSpPr/>
          <p:nvPr/>
        </p:nvSpPr>
        <p:spPr>
          <a:xfrm>
            <a:off x="777240" y="1783080"/>
            <a:ext cx="10972800" cy="365760"/>
          </a:xfrm>
          <a:prstGeom prst="rect">
            <a:avLst/>
          </a:prstGeom>
          <a:noFill/>
          <a:ln/>
        </p:spPr>
        <p:txBody>
          <a:bodyPr wrap="square" lIns="0" tIns="0" rIns="0" bIns="0" rtlCol="0" anchor="ctr"/>
          <a:lstStyle/>
          <a:p>
            <a:pPr marL="0" indent="0" algn="l">
              <a:buNone/>
            </a:pPr>
            <a:r>
              <a:rPr lang="en-US" sz="1400" i="1" dirty="0">
                <a:solidFill>
                  <a:srgbClr val="CADCFC"/>
                </a:solidFill>
                <a:latin typeface="Calibri" pitchFamily="34" charset="0"/>
                <a:ea typeface="Calibri" pitchFamily="34" charset="-122"/>
                <a:cs typeface="Calibri" pitchFamily="34" charset="-120"/>
              </a:rPr>
              <a:t>Our project demonstrates important Information Security concepts:</a:t>
            </a:r>
            <a:endParaRPr lang="en-US" sz="1400" dirty="0"/>
          </a:p>
        </p:txBody>
      </p:sp>
      <p:sp>
        <p:nvSpPr>
          <p:cNvPr id="35" name="Shape 33"/>
          <p:cNvSpPr/>
          <p:nvPr/>
        </p:nvSpPr>
        <p:spPr>
          <a:xfrm>
            <a:off x="548640" y="2377440"/>
            <a:ext cx="3520440" cy="868680"/>
          </a:xfrm>
          <a:prstGeom prst="rect">
            <a:avLst/>
          </a:prstGeom>
          <a:solidFill>
            <a:srgbClr val="1E2761"/>
          </a:solidFill>
          <a:ln w="12700">
            <a:solidFill>
              <a:srgbClr val="1E2761"/>
            </a:solidFill>
            <a:prstDash val="solid"/>
          </a:ln>
        </p:spPr>
      </p:sp>
      <p:sp>
        <p:nvSpPr>
          <p:cNvPr id="36" name="Shape 34"/>
          <p:cNvSpPr/>
          <p:nvPr/>
        </p:nvSpPr>
        <p:spPr>
          <a:xfrm>
            <a:off x="548640" y="2377440"/>
            <a:ext cx="91440" cy="868680"/>
          </a:xfrm>
          <a:prstGeom prst="rect">
            <a:avLst/>
          </a:prstGeom>
          <a:solidFill>
            <a:srgbClr val="00A8E8"/>
          </a:solidFill>
          <a:ln w="12700">
            <a:solidFill>
              <a:srgbClr val="00A8E8"/>
            </a:solidFill>
            <a:prstDash val="solid"/>
          </a:ln>
        </p:spPr>
      </p:sp>
      <p:sp>
        <p:nvSpPr>
          <p:cNvPr id="37" name="Shape 35"/>
          <p:cNvSpPr/>
          <p:nvPr/>
        </p:nvSpPr>
        <p:spPr>
          <a:xfrm>
            <a:off x="868680" y="2578608"/>
            <a:ext cx="457200" cy="457200"/>
          </a:xfrm>
          <a:prstGeom prst="ellipse">
            <a:avLst/>
          </a:prstGeom>
          <a:solidFill>
            <a:srgbClr val="00A8E8"/>
          </a:solidFill>
          <a:ln w="12700">
            <a:solidFill>
              <a:srgbClr val="00A8E8"/>
            </a:solidFill>
            <a:prstDash val="solid"/>
          </a:ln>
        </p:spPr>
      </p:sp>
      <p:pic>
        <p:nvPicPr>
          <p:cNvPr id="38" name="Image 0" descr="preencoded.png"/>
          <p:cNvPicPr>
            <a:picLocks noChangeAspect="1"/>
          </p:cNvPicPr>
          <p:nvPr/>
        </p:nvPicPr>
        <p:blipFill>
          <a:blip r:embed="rId3"/>
          <a:stretch>
            <a:fillRect/>
          </a:stretch>
        </p:blipFill>
        <p:spPr>
          <a:xfrm>
            <a:off x="969264" y="2679192"/>
            <a:ext cx="256032" cy="256032"/>
          </a:xfrm>
          <a:prstGeom prst="rect">
            <a:avLst/>
          </a:prstGeom>
        </p:spPr>
      </p:pic>
      <p:sp>
        <p:nvSpPr>
          <p:cNvPr id="39" name="Text 36"/>
          <p:cNvSpPr/>
          <p:nvPr/>
        </p:nvSpPr>
        <p:spPr>
          <a:xfrm>
            <a:off x="1463040" y="2377440"/>
            <a:ext cx="2560320" cy="8686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Intrusion detection</a:t>
            </a:r>
            <a:endParaRPr lang="en-US" sz="1300" dirty="0"/>
          </a:p>
        </p:txBody>
      </p:sp>
      <p:sp>
        <p:nvSpPr>
          <p:cNvPr id="40" name="Shape 37"/>
          <p:cNvSpPr/>
          <p:nvPr/>
        </p:nvSpPr>
        <p:spPr>
          <a:xfrm>
            <a:off x="4343400" y="2377440"/>
            <a:ext cx="3520440" cy="868680"/>
          </a:xfrm>
          <a:prstGeom prst="rect">
            <a:avLst/>
          </a:prstGeom>
          <a:solidFill>
            <a:srgbClr val="1E2761"/>
          </a:solidFill>
          <a:ln w="12700">
            <a:solidFill>
              <a:srgbClr val="1E2761"/>
            </a:solidFill>
            <a:prstDash val="solid"/>
          </a:ln>
        </p:spPr>
      </p:sp>
      <p:sp>
        <p:nvSpPr>
          <p:cNvPr id="41" name="Shape 38"/>
          <p:cNvSpPr/>
          <p:nvPr/>
        </p:nvSpPr>
        <p:spPr>
          <a:xfrm>
            <a:off x="4343400" y="2377440"/>
            <a:ext cx="91440" cy="868680"/>
          </a:xfrm>
          <a:prstGeom prst="rect">
            <a:avLst/>
          </a:prstGeom>
          <a:solidFill>
            <a:srgbClr val="00A8E8"/>
          </a:solidFill>
          <a:ln w="12700">
            <a:solidFill>
              <a:srgbClr val="00A8E8"/>
            </a:solidFill>
            <a:prstDash val="solid"/>
          </a:ln>
        </p:spPr>
      </p:sp>
      <p:sp>
        <p:nvSpPr>
          <p:cNvPr id="42" name="Shape 39"/>
          <p:cNvSpPr/>
          <p:nvPr/>
        </p:nvSpPr>
        <p:spPr>
          <a:xfrm>
            <a:off x="4663440" y="2578608"/>
            <a:ext cx="457200" cy="457200"/>
          </a:xfrm>
          <a:prstGeom prst="ellipse">
            <a:avLst/>
          </a:prstGeom>
          <a:solidFill>
            <a:srgbClr val="00A8E8"/>
          </a:solidFill>
          <a:ln w="12700">
            <a:solidFill>
              <a:srgbClr val="00A8E8"/>
            </a:solidFill>
            <a:prstDash val="solid"/>
          </a:ln>
        </p:spPr>
      </p:sp>
      <p:pic>
        <p:nvPicPr>
          <p:cNvPr id="43" name="Image 1" descr="preencoded.png"/>
          <p:cNvPicPr>
            <a:picLocks noChangeAspect="1"/>
          </p:cNvPicPr>
          <p:nvPr/>
        </p:nvPicPr>
        <p:blipFill>
          <a:blip r:embed="rId4"/>
          <a:stretch>
            <a:fillRect/>
          </a:stretch>
        </p:blipFill>
        <p:spPr>
          <a:xfrm>
            <a:off x="4764024" y="2679192"/>
            <a:ext cx="256032" cy="256032"/>
          </a:xfrm>
          <a:prstGeom prst="rect">
            <a:avLst/>
          </a:prstGeom>
        </p:spPr>
      </p:pic>
      <p:sp>
        <p:nvSpPr>
          <p:cNvPr id="44" name="Text 40"/>
          <p:cNvSpPr/>
          <p:nvPr/>
        </p:nvSpPr>
        <p:spPr>
          <a:xfrm>
            <a:off x="5257800" y="2377440"/>
            <a:ext cx="2560320" cy="8686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Authentication log analysis</a:t>
            </a:r>
            <a:endParaRPr lang="en-US" sz="1300" dirty="0"/>
          </a:p>
        </p:txBody>
      </p:sp>
      <p:sp>
        <p:nvSpPr>
          <p:cNvPr id="45" name="Shape 41"/>
          <p:cNvSpPr/>
          <p:nvPr/>
        </p:nvSpPr>
        <p:spPr>
          <a:xfrm>
            <a:off x="8138160" y="2377440"/>
            <a:ext cx="3520440" cy="868680"/>
          </a:xfrm>
          <a:prstGeom prst="rect">
            <a:avLst/>
          </a:prstGeom>
          <a:solidFill>
            <a:srgbClr val="1E2761"/>
          </a:solidFill>
          <a:ln w="12700">
            <a:solidFill>
              <a:srgbClr val="1E2761"/>
            </a:solidFill>
            <a:prstDash val="solid"/>
          </a:ln>
        </p:spPr>
      </p:sp>
      <p:sp>
        <p:nvSpPr>
          <p:cNvPr id="46" name="Shape 42"/>
          <p:cNvSpPr/>
          <p:nvPr/>
        </p:nvSpPr>
        <p:spPr>
          <a:xfrm>
            <a:off x="8138160" y="2377440"/>
            <a:ext cx="91440" cy="868680"/>
          </a:xfrm>
          <a:prstGeom prst="rect">
            <a:avLst/>
          </a:prstGeom>
          <a:solidFill>
            <a:srgbClr val="00A8E8"/>
          </a:solidFill>
          <a:ln w="12700">
            <a:solidFill>
              <a:srgbClr val="00A8E8"/>
            </a:solidFill>
            <a:prstDash val="solid"/>
          </a:ln>
        </p:spPr>
      </p:sp>
      <p:sp>
        <p:nvSpPr>
          <p:cNvPr id="47" name="Shape 43"/>
          <p:cNvSpPr/>
          <p:nvPr/>
        </p:nvSpPr>
        <p:spPr>
          <a:xfrm>
            <a:off x="8458200" y="2578608"/>
            <a:ext cx="457200" cy="457200"/>
          </a:xfrm>
          <a:prstGeom prst="ellipse">
            <a:avLst/>
          </a:prstGeom>
          <a:solidFill>
            <a:srgbClr val="00A8E8"/>
          </a:solidFill>
          <a:ln w="12700">
            <a:solidFill>
              <a:srgbClr val="00A8E8"/>
            </a:solidFill>
            <a:prstDash val="solid"/>
          </a:ln>
        </p:spPr>
      </p:sp>
      <p:pic>
        <p:nvPicPr>
          <p:cNvPr id="48" name="Image 2" descr="preencoded.png"/>
          <p:cNvPicPr>
            <a:picLocks noChangeAspect="1"/>
          </p:cNvPicPr>
          <p:nvPr/>
        </p:nvPicPr>
        <p:blipFill>
          <a:blip r:embed="rId5"/>
          <a:stretch>
            <a:fillRect/>
          </a:stretch>
        </p:blipFill>
        <p:spPr>
          <a:xfrm>
            <a:off x="8558784" y="2679192"/>
            <a:ext cx="256032" cy="256032"/>
          </a:xfrm>
          <a:prstGeom prst="rect">
            <a:avLst/>
          </a:prstGeom>
        </p:spPr>
      </p:pic>
      <p:sp>
        <p:nvSpPr>
          <p:cNvPr id="49" name="Text 44"/>
          <p:cNvSpPr/>
          <p:nvPr/>
        </p:nvSpPr>
        <p:spPr>
          <a:xfrm>
            <a:off x="9052560" y="2377440"/>
            <a:ext cx="2560320" cy="8686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Process monitoring</a:t>
            </a:r>
            <a:endParaRPr lang="en-US" sz="1300" dirty="0"/>
          </a:p>
        </p:txBody>
      </p:sp>
      <p:sp>
        <p:nvSpPr>
          <p:cNvPr id="50" name="Shape 45"/>
          <p:cNvSpPr/>
          <p:nvPr/>
        </p:nvSpPr>
        <p:spPr>
          <a:xfrm>
            <a:off x="548640" y="3383280"/>
            <a:ext cx="3520440" cy="868680"/>
          </a:xfrm>
          <a:prstGeom prst="rect">
            <a:avLst/>
          </a:prstGeom>
          <a:solidFill>
            <a:srgbClr val="1E2761"/>
          </a:solidFill>
          <a:ln w="12700">
            <a:solidFill>
              <a:srgbClr val="1E2761"/>
            </a:solidFill>
            <a:prstDash val="solid"/>
          </a:ln>
        </p:spPr>
      </p:sp>
      <p:sp>
        <p:nvSpPr>
          <p:cNvPr id="51" name="Shape 46"/>
          <p:cNvSpPr/>
          <p:nvPr/>
        </p:nvSpPr>
        <p:spPr>
          <a:xfrm>
            <a:off x="548640" y="3383280"/>
            <a:ext cx="91440" cy="868680"/>
          </a:xfrm>
          <a:prstGeom prst="rect">
            <a:avLst/>
          </a:prstGeom>
          <a:solidFill>
            <a:srgbClr val="00A8E8"/>
          </a:solidFill>
          <a:ln w="12700">
            <a:solidFill>
              <a:srgbClr val="00A8E8"/>
            </a:solidFill>
            <a:prstDash val="solid"/>
          </a:ln>
        </p:spPr>
      </p:sp>
      <p:sp>
        <p:nvSpPr>
          <p:cNvPr id="52" name="Shape 47"/>
          <p:cNvSpPr/>
          <p:nvPr/>
        </p:nvSpPr>
        <p:spPr>
          <a:xfrm>
            <a:off x="868680" y="3584448"/>
            <a:ext cx="457200" cy="457200"/>
          </a:xfrm>
          <a:prstGeom prst="ellipse">
            <a:avLst/>
          </a:prstGeom>
          <a:solidFill>
            <a:srgbClr val="00A8E8"/>
          </a:solidFill>
          <a:ln w="12700">
            <a:solidFill>
              <a:srgbClr val="00A8E8"/>
            </a:solidFill>
            <a:prstDash val="solid"/>
          </a:ln>
        </p:spPr>
      </p:sp>
      <p:pic>
        <p:nvPicPr>
          <p:cNvPr id="53" name="Image 3" descr="preencoded.png"/>
          <p:cNvPicPr>
            <a:picLocks noChangeAspect="1"/>
          </p:cNvPicPr>
          <p:nvPr/>
        </p:nvPicPr>
        <p:blipFill>
          <a:blip r:embed="rId6"/>
          <a:stretch>
            <a:fillRect/>
          </a:stretch>
        </p:blipFill>
        <p:spPr>
          <a:xfrm>
            <a:off x="969264" y="3685032"/>
            <a:ext cx="256032" cy="256032"/>
          </a:xfrm>
          <a:prstGeom prst="rect">
            <a:avLst/>
          </a:prstGeom>
        </p:spPr>
      </p:pic>
      <p:sp>
        <p:nvSpPr>
          <p:cNvPr id="54" name="Text 48"/>
          <p:cNvSpPr/>
          <p:nvPr/>
        </p:nvSpPr>
        <p:spPr>
          <a:xfrm>
            <a:off x="1463040" y="3383280"/>
            <a:ext cx="2560320" cy="8686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SHA-256 hashing</a:t>
            </a:r>
            <a:endParaRPr lang="en-US" sz="1300" dirty="0"/>
          </a:p>
        </p:txBody>
      </p:sp>
      <p:sp>
        <p:nvSpPr>
          <p:cNvPr id="55" name="Shape 49"/>
          <p:cNvSpPr/>
          <p:nvPr/>
        </p:nvSpPr>
        <p:spPr>
          <a:xfrm>
            <a:off x="4343400" y="3383280"/>
            <a:ext cx="3520440" cy="868680"/>
          </a:xfrm>
          <a:prstGeom prst="rect">
            <a:avLst/>
          </a:prstGeom>
          <a:solidFill>
            <a:srgbClr val="1E2761"/>
          </a:solidFill>
          <a:ln w="12700">
            <a:solidFill>
              <a:srgbClr val="1E2761"/>
            </a:solidFill>
            <a:prstDash val="solid"/>
          </a:ln>
        </p:spPr>
      </p:sp>
      <p:sp>
        <p:nvSpPr>
          <p:cNvPr id="56" name="Shape 50"/>
          <p:cNvSpPr/>
          <p:nvPr/>
        </p:nvSpPr>
        <p:spPr>
          <a:xfrm>
            <a:off x="4343400" y="3383280"/>
            <a:ext cx="91440" cy="868680"/>
          </a:xfrm>
          <a:prstGeom prst="rect">
            <a:avLst/>
          </a:prstGeom>
          <a:solidFill>
            <a:srgbClr val="00A8E8"/>
          </a:solidFill>
          <a:ln w="12700">
            <a:solidFill>
              <a:srgbClr val="00A8E8"/>
            </a:solidFill>
            <a:prstDash val="solid"/>
          </a:ln>
        </p:spPr>
      </p:sp>
      <p:sp>
        <p:nvSpPr>
          <p:cNvPr id="57" name="Shape 51"/>
          <p:cNvSpPr/>
          <p:nvPr/>
        </p:nvSpPr>
        <p:spPr>
          <a:xfrm>
            <a:off x="4663440" y="3584448"/>
            <a:ext cx="457200" cy="457200"/>
          </a:xfrm>
          <a:prstGeom prst="ellipse">
            <a:avLst/>
          </a:prstGeom>
          <a:solidFill>
            <a:srgbClr val="00A8E8"/>
          </a:solidFill>
          <a:ln w="12700">
            <a:solidFill>
              <a:srgbClr val="00A8E8"/>
            </a:solidFill>
            <a:prstDash val="solid"/>
          </a:ln>
        </p:spPr>
      </p:sp>
      <p:pic>
        <p:nvPicPr>
          <p:cNvPr id="58" name="Image 4" descr="preencoded.png"/>
          <p:cNvPicPr>
            <a:picLocks noChangeAspect="1"/>
          </p:cNvPicPr>
          <p:nvPr/>
        </p:nvPicPr>
        <p:blipFill>
          <a:blip r:embed="rId7"/>
          <a:stretch>
            <a:fillRect/>
          </a:stretch>
        </p:blipFill>
        <p:spPr>
          <a:xfrm>
            <a:off x="4764024" y="3685032"/>
            <a:ext cx="256032" cy="256032"/>
          </a:xfrm>
          <a:prstGeom prst="rect">
            <a:avLst/>
          </a:prstGeom>
        </p:spPr>
      </p:pic>
      <p:sp>
        <p:nvSpPr>
          <p:cNvPr id="59" name="Text 52"/>
          <p:cNvSpPr/>
          <p:nvPr/>
        </p:nvSpPr>
        <p:spPr>
          <a:xfrm>
            <a:off x="5257800" y="3383280"/>
            <a:ext cx="2560320" cy="8686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File integrity verification</a:t>
            </a:r>
            <a:endParaRPr lang="en-US" sz="1300" dirty="0"/>
          </a:p>
        </p:txBody>
      </p:sp>
      <p:sp>
        <p:nvSpPr>
          <p:cNvPr id="60" name="Shape 53"/>
          <p:cNvSpPr/>
          <p:nvPr/>
        </p:nvSpPr>
        <p:spPr>
          <a:xfrm>
            <a:off x="8138160" y="3383280"/>
            <a:ext cx="3520440" cy="868680"/>
          </a:xfrm>
          <a:prstGeom prst="rect">
            <a:avLst/>
          </a:prstGeom>
          <a:solidFill>
            <a:srgbClr val="1E2761"/>
          </a:solidFill>
          <a:ln w="12700">
            <a:solidFill>
              <a:srgbClr val="1E2761"/>
            </a:solidFill>
            <a:prstDash val="solid"/>
          </a:ln>
        </p:spPr>
      </p:sp>
      <p:sp>
        <p:nvSpPr>
          <p:cNvPr id="61" name="Shape 54"/>
          <p:cNvSpPr/>
          <p:nvPr/>
        </p:nvSpPr>
        <p:spPr>
          <a:xfrm>
            <a:off x="8138160" y="3383280"/>
            <a:ext cx="91440" cy="868680"/>
          </a:xfrm>
          <a:prstGeom prst="rect">
            <a:avLst/>
          </a:prstGeom>
          <a:solidFill>
            <a:srgbClr val="00A8E8"/>
          </a:solidFill>
          <a:ln w="12700">
            <a:solidFill>
              <a:srgbClr val="00A8E8"/>
            </a:solidFill>
            <a:prstDash val="solid"/>
          </a:ln>
        </p:spPr>
      </p:sp>
      <p:sp>
        <p:nvSpPr>
          <p:cNvPr id="62" name="Shape 55"/>
          <p:cNvSpPr/>
          <p:nvPr/>
        </p:nvSpPr>
        <p:spPr>
          <a:xfrm>
            <a:off x="8458200" y="3584448"/>
            <a:ext cx="457200" cy="457200"/>
          </a:xfrm>
          <a:prstGeom prst="ellipse">
            <a:avLst/>
          </a:prstGeom>
          <a:solidFill>
            <a:srgbClr val="00A8E8"/>
          </a:solidFill>
          <a:ln w="12700">
            <a:solidFill>
              <a:srgbClr val="00A8E8"/>
            </a:solidFill>
            <a:prstDash val="solid"/>
          </a:ln>
        </p:spPr>
      </p:sp>
      <p:pic>
        <p:nvPicPr>
          <p:cNvPr id="63" name="Image 5" descr="preencoded.png"/>
          <p:cNvPicPr>
            <a:picLocks noChangeAspect="1"/>
          </p:cNvPicPr>
          <p:nvPr/>
        </p:nvPicPr>
        <p:blipFill>
          <a:blip r:embed="rId8"/>
          <a:stretch>
            <a:fillRect/>
          </a:stretch>
        </p:blipFill>
        <p:spPr>
          <a:xfrm>
            <a:off x="8558784" y="3685032"/>
            <a:ext cx="256032" cy="256032"/>
          </a:xfrm>
          <a:prstGeom prst="rect">
            <a:avLst/>
          </a:prstGeom>
        </p:spPr>
      </p:pic>
      <p:sp>
        <p:nvSpPr>
          <p:cNvPr id="64" name="Text 56"/>
          <p:cNvSpPr/>
          <p:nvPr/>
        </p:nvSpPr>
        <p:spPr>
          <a:xfrm>
            <a:off x="9052560" y="3383280"/>
            <a:ext cx="2560320" cy="8686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Security logging</a:t>
            </a:r>
            <a:endParaRPr lang="en-US" sz="1300" dirty="0"/>
          </a:p>
        </p:txBody>
      </p:sp>
      <p:sp>
        <p:nvSpPr>
          <p:cNvPr id="65" name="Shape 57"/>
          <p:cNvSpPr/>
          <p:nvPr/>
        </p:nvSpPr>
        <p:spPr>
          <a:xfrm>
            <a:off x="548640" y="4937760"/>
            <a:ext cx="11064240" cy="1325880"/>
          </a:xfrm>
          <a:prstGeom prst="rect">
            <a:avLst/>
          </a:prstGeom>
          <a:solidFill>
            <a:srgbClr val="00A8E8"/>
          </a:solidFill>
          <a:ln w="12700">
            <a:solidFill>
              <a:srgbClr val="00A8E8"/>
            </a:solidFill>
            <a:prstDash val="solid"/>
          </a:ln>
        </p:spPr>
      </p:sp>
      <p:sp>
        <p:nvSpPr>
          <p:cNvPr id="67" name="Text 58"/>
          <p:cNvSpPr/>
          <p:nvPr/>
        </p:nvSpPr>
        <p:spPr>
          <a:xfrm>
            <a:off x="658368" y="4937760"/>
            <a:ext cx="10863072" cy="1325880"/>
          </a:xfrm>
          <a:prstGeom prst="rect">
            <a:avLst/>
          </a:prstGeom>
          <a:noFill/>
          <a:ln/>
        </p:spPr>
        <p:txBody>
          <a:bodyPr wrap="square" lIns="0" tIns="0" rIns="0" bIns="0" rtlCol="0" anchor="ctr"/>
          <a:lstStyle/>
          <a:p>
            <a:pPr marL="0" indent="0" algn="ctr">
              <a:buNone/>
            </a:pPr>
            <a:r>
              <a:rPr lang="en-US" sz="3200" b="1" dirty="0">
                <a:solidFill>
                  <a:srgbClr val="0F1E3D"/>
                </a:solidFill>
                <a:latin typeface="Calibri" pitchFamily="34" charset="0"/>
                <a:ea typeface="Calibri" pitchFamily="34" charset="-122"/>
                <a:cs typeface="Calibri" pitchFamily="34" charset="-120"/>
              </a:rPr>
              <a:t>Thank you</a:t>
            </a:r>
            <a:endParaRPr lang="en-US" sz="3200" dirty="0"/>
          </a:p>
        </p:txBody>
      </p:sp>
      <p:sp>
        <p:nvSpPr>
          <p:cNvPr id="68" name="Shape 59"/>
          <p:cNvSpPr/>
          <p:nvPr/>
        </p:nvSpPr>
        <p:spPr>
          <a:xfrm>
            <a:off x="0" y="6537960"/>
            <a:ext cx="12191695" cy="320040"/>
          </a:xfrm>
          <a:prstGeom prst="rect">
            <a:avLst/>
          </a:prstGeom>
          <a:solidFill>
            <a:srgbClr val="0F1E3D"/>
          </a:solidFill>
          <a:ln w="12700">
            <a:solidFill>
              <a:srgbClr val="0F1E3D"/>
            </a:solidFill>
            <a:prstDash val="solid"/>
          </a:ln>
        </p:spPr>
      </p:sp>
      <p:sp>
        <p:nvSpPr>
          <p:cNvPr id="69" name="Text 60"/>
          <p:cNvSpPr/>
          <p:nvPr/>
        </p:nvSpPr>
        <p:spPr>
          <a:xfrm>
            <a:off x="457200" y="6547104"/>
            <a:ext cx="7315200" cy="30175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Information Security Final Project  |  Farid &amp; Sami</a:t>
            </a:r>
            <a:endParaRPr lang="en-US" sz="900" dirty="0"/>
          </a:p>
        </p:txBody>
      </p:sp>
      <p:sp>
        <p:nvSpPr>
          <p:cNvPr id="70" name="Text 61"/>
          <p:cNvSpPr/>
          <p:nvPr/>
        </p:nvSpPr>
        <p:spPr>
          <a:xfrm>
            <a:off x="10820095" y="6547104"/>
            <a:ext cx="914400" cy="30175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3251</Words>
  <Application>Microsoft Macintosh PowerPoint</Application>
  <PresentationFormat>Widescreen</PresentationFormat>
  <Paragraphs>266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 Final Project</dc:title>
  <dc:subject>PptxGenJS Presentation</dc:subject>
  <dc:creator>Farid and Sami</dc:creator>
  <cp:lastModifiedBy>Sami Jabery</cp:lastModifiedBy>
  <cp:revision>2</cp:revision>
  <dcterms:created xsi:type="dcterms:W3CDTF">2026-05-15T07:16:19Z</dcterms:created>
  <dcterms:modified xsi:type="dcterms:W3CDTF">2026-05-15T07:52:28Z</dcterms:modified>
</cp:coreProperties>
</file>